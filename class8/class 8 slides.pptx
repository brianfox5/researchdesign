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35"/>
  </p:normalViewPr>
  <p:slideViewPr>
    <p:cSldViewPr snapToGrid="0">
      <p:cViewPr>
        <p:scale>
          <a:sx n="60" d="100"/>
          <a:sy n="60" d="100"/>
        </p:scale>
        <p:origin x="2792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B09EA-CCFC-9CAC-AFAC-6F42676DF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75D2B-96C6-599C-56AE-B6BD9208F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C3901-42ED-297B-82C7-E18EC876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490CF-AC16-5B46-8C3D-336BFA07490B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A03C7-6BD9-6A19-D3A4-205B4DF0B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F59B4-BDF6-4B58-2DDF-218383F2B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308F9-3DC2-374E-AA19-0B2EB526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8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3B7E2-4922-B344-FFDA-639D7F71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505B8-8D2F-52E8-36E0-D64FC7E37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9376A-6D71-7E49-C352-AB24A83A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490CF-AC16-5B46-8C3D-336BFA07490B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67FCE-7ACC-752A-3EBB-87FCF743E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89703-BE19-0887-F6C1-F18239A53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308F9-3DC2-374E-AA19-0B2EB526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8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14912-D9A8-3EC0-11CF-3922640BD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B1288-E8BB-FF68-3DDA-2F8686CA0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8DF6B-E0FD-2E26-4295-914173E90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490CF-AC16-5B46-8C3D-336BFA07490B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53728-1F6D-30A3-FD90-2F19E084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4F5A0-260E-DFFA-C9F0-773525EC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308F9-3DC2-374E-AA19-0B2EB526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07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E5E86-B2DF-8F0C-1384-89544290B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D919C-F741-CB34-8E4F-ABE1B6ECF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948DD-05D0-4284-E185-8A148B815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E3843-0FF4-7D00-41C3-94C94DDA2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490CF-AC16-5B46-8C3D-336BFA07490B}" type="datetimeFigureOut">
              <a:rPr lang="en-US" smtClean="0"/>
              <a:t>3/12/24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772EA-3F3C-9DC7-4717-E69B9339A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92904-CA2A-1796-7B8A-A27C9944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308F9-3DC2-374E-AA19-0B2EB526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55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DE507-E21E-0310-92F9-9EDC73CFC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D399E-46B4-037F-1185-10E9AEB53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F480D-15B1-1E03-7940-F4B805FD7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D85182-92A7-85B8-FA66-72EC79B0FB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7D0799-9C56-88C1-E789-09E98DCA15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8E41F4-FF89-BF50-E0A6-C22E4D26A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490CF-AC16-5B46-8C3D-336BFA07490B}" type="datetimeFigureOut">
              <a:rPr lang="en-US" smtClean="0"/>
              <a:t>3/12/24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2C9191-90A4-F367-2118-C33471D6E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48370C-8FC0-561F-9E5E-CC24266E8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308F9-3DC2-374E-AA19-0B2EB526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8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DCA97-DC00-CF60-5ADA-ED1E7683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349E3-9FD6-C121-3B82-CD89079F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490CF-AC16-5B46-8C3D-336BFA07490B}" type="datetimeFigureOut">
              <a:rPr lang="en-US" smtClean="0"/>
              <a:t>3/12/24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EF30F-6799-D674-2AA0-8859E00D2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A6262-3A92-EC24-16E4-CA7343FEF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308F9-3DC2-374E-AA19-0B2EB526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85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23F77-D235-6BE2-651F-C5DB95C79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490CF-AC16-5B46-8C3D-336BFA07490B}" type="datetimeFigureOut">
              <a:rPr lang="en-US" smtClean="0"/>
              <a:t>3/12/24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04955-FC42-BD7B-BF9B-1B6C2C6FD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F598D-666A-BB10-9369-5AD8186C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308F9-3DC2-374E-AA19-0B2EB526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8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B9D94-6E4A-13F5-48AC-4DC4F82B8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4052A-7114-9418-C6DC-60D2D4CA7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02CC9-5B3F-7045-D338-99AEB93F3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16242-39D7-572A-F15A-E4B767A95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490CF-AC16-5B46-8C3D-336BFA07490B}" type="datetimeFigureOut">
              <a:rPr lang="en-US" smtClean="0"/>
              <a:t>3/12/24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3481A-D239-A5C7-6F31-9A1FA971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CF8A3-9872-F049-1ABF-5D9A86FE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308F9-3DC2-374E-AA19-0B2EB526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1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E0E0D-4082-6C30-6795-A4EF8A556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F6518-2127-FF44-4B2E-803705F8EB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AA786-11DD-6965-D633-2B0EE145C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5D406-3C0D-725F-9BF2-9C00EFD09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490CF-AC16-5B46-8C3D-336BFA07490B}" type="datetimeFigureOut">
              <a:rPr lang="en-US" smtClean="0"/>
              <a:t>3/12/24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F8EC6-26A9-7810-29C8-9BF553E8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EA335-B1C7-9186-01EF-3FA6C726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308F9-3DC2-374E-AA19-0B2EB526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8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3DDFB-1C6D-72AB-F2BB-9903CDA6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1B82F5-59D9-2B4B-1EFF-FBBE4A16D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96C1E-56BE-0160-DC43-74AEDFCD9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490CF-AC16-5B46-8C3D-336BFA07490B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A656D-FBC2-5C25-863B-D614A855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BAC4B-9EC6-04BC-CDBE-48A370B5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308F9-3DC2-374E-AA19-0B2EB526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85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C76226-E145-3645-5DFC-3D0909DB01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183FE6-13B0-A728-75D9-4FF6276DF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79B33-B3BE-4CB0-BA11-1BD4A504A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490CF-AC16-5B46-8C3D-336BFA07490B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DD8B6-B6FB-F7A6-F36A-31E5BCD8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1F4BE-E11A-FD38-F640-763D8BEB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308F9-3DC2-374E-AA19-0B2EB526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58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B53C9B-4B98-8F73-317E-9C3AF0C19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DEED0-105C-C4D6-9269-EC5AD0461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9550A-4399-FF0E-6367-9AFA7C735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490CF-AC16-5B46-8C3D-336BFA07490B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D622B-B1FB-23CC-C266-14B5896DA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12304-06CB-594B-BC90-31ED32B49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308F9-3DC2-374E-AA19-0B2EB526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42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9A5487-2329-3B28-F872-FA1D3DEB1895}"/>
              </a:ext>
            </a:extLst>
          </p:cNvPr>
          <p:cNvSpPr/>
          <p:nvPr/>
        </p:nvSpPr>
        <p:spPr>
          <a:xfrm>
            <a:off x="7658832" y="725634"/>
            <a:ext cx="2067339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Spherical errors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0255F7-E53A-68A9-68ED-6A24E55D06CB}"/>
              </a:ext>
            </a:extLst>
          </p:cNvPr>
          <p:cNvSpPr/>
          <p:nvPr/>
        </p:nvSpPr>
        <p:spPr>
          <a:xfrm>
            <a:off x="7658832" y="2781261"/>
            <a:ext cx="2067339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Non-spherical errors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CDD53F1-3FB6-6386-189B-0F4F12C9868F}"/>
              </a:ext>
            </a:extLst>
          </p:cNvPr>
          <p:cNvCxnSpPr>
            <a:endCxn id="5" idx="1"/>
          </p:cNvCxnSpPr>
          <p:nvPr/>
        </p:nvCxnSpPr>
        <p:spPr>
          <a:xfrm>
            <a:off x="6177516" y="3189767"/>
            <a:ext cx="1481316" cy="8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E5BB36-5D52-A961-2E9F-586CB5A4D54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692502" y="3616148"/>
            <a:ext cx="0" cy="775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FFAEFE6-DDC0-EF04-4A7A-A57AC90114FD}"/>
              </a:ext>
            </a:extLst>
          </p:cNvPr>
          <p:cNvSpPr/>
          <p:nvPr/>
        </p:nvSpPr>
        <p:spPr>
          <a:xfrm>
            <a:off x="7658832" y="4388318"/>
            <a:ext cx="2067339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Non-spherical errors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3CBA8B-DB21-6474-19E4-1DAFE3317E33}"/>
              </a:ext>
            </a:extLst>
          </p:cNvPr>
          <p:cNvSpPr/>
          <p:nvPr/>
        </p:nvSpPr>
        <p:spPr>
          <a:xfrm>
            <a:off x="398490" y="725633"/>
            <a:ext cx="2067339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Linear model specification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7A9BDC-E924-258E-E6BC-A8E4B07E81D3}"/>
              </a:ext>
            </a:extLst>
          </p:cNvPr>
          <p:cNvSpPr/>
          <p:nvPr/>
        </p:nvSpPr>
        <p:spPr>
          <a:xfrm>
            <a:off x="2994991" y="725632"/>
            <a:ext cx="2067339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Full Rank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BFEA1B-58E1-F805-34BB-B1324B7EA70B}"/>
              </a:ext>
            </a:extLst>
          </p:cNvPr>
          <p:cNvSpPr/>
          <p:nvPr/>
        </p:nvSpPr>
        <p:spPr>
          <a:xfrm>
            <a:off x="5326911" y="725632"/>
            <a:ext cx="2067339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Full Rank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8D34EA-13A4-08CA-B339-3F522DDE6CA9}"/>
              </a:ext>
            </a:extLst>
          </p:cNvPr>
          <p:cNvSpPr txBox="1"/>
          <p:nvPr/>
        </p:nvSpPr>
        <p:spPr>
          <a:xfrm>
            <a:off x="212651" y="116958"/>
            <a:ext cx="1386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Assumption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A42DC9-8FDF-5DFE-45DB-F7B8056EF83D}"/>
              </a:ext>
            </a:extLst>
          </p:cNvPr>
          <p:cNvSpPr txBox="1"/>
          <p:nvPr/>
        </p:nvSpPr>
        <p:spPr>
          <a:xfrm>
            <a:off x="100777" y="1799863"/>
            <a:ext cx="1549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Manifestation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116976-AE8A-3599-F937-DFD9944955B7}"/>
              </a:ext>
            </a:extLst>
          </p:cNvPr>
          <p:cNvSpPr txBox="1"/>
          <p:nvPr/>
        </p:nvSpPr>
        <p:spPr>
          <a:xfrm>
            <a:off x="100777" y="2829372"/>
            <a:ext cx="1549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Manifestation</a:t>
            </a:r>
          </a:p>
        </p:txBody>
      </p:sp>
    </p:spTree>
    <p:extLst>
      <p:ext uri="{BB962C8B-B14F-4D97-AF65-F5344CB8AC3E}">
        <p14:creationId xmlns:p14="http://schemas.microsoft.com/office/powerpoint/2010/main" val="3969593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3677F3-CAF1-8ABE-E9B0-6BD4B7F33CFC}"/>
              </a:ext>
            </a:extLst>
          </p:cNvPr>
          <p:cNvSpPr/>
          <p:nvPr/>
        </p:nvSpPr>
        <p:spPr>
          <a:xfrm>
            <a:off x="723014" y="1523076"/>
            <a:ext cx="3358963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Classical linear regression / ordinary least squares (OLS)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007AB-F715-C4DD-43FA-5C829E1116A4}"/>
              </a:ext>
            </a:extLst>
          </p:cNvPr>
          <p:cNvSpPr/>
          <p:nvPr/>
        </p:nvSpPr>
        <p:spPr>
          <a:xfrm>
            <a:off x="5388703" y="3429000"/>
            <a:ext cx="2067339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Classical normal linear regression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89FBFE-D686-4ADF-B762-3E044CB579C0}"/>
              </a:ext>
            </a:extLst>
          </p:cNvPr>
          <p:cNvSpPr/>
          <p:nvPr/>
        </p:nvSpPr>
        <p:spPr>
          <a:xfrm>
            <a:off x="723014" y="3504276"/>
            <a:ext cx="3358963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Generalized least squares (GLS)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DFEA3F-9C8E-FCCD-A4DF-35ACD7A97A45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>
            <a:off x="4081977" y="1940520"/>
            <a:ext cx="2340396" cy="1488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C47F95B-7DBB-7166-B216-94EE218581C6}"/>
              </a:ext>
            </a:extLst>
          </p:cNvPr>
          <p:cNvSpPr txBox="1"/>
          <p:nvPr/>
        </p:nvSpPr>
        <p:spPr>
          <a:xfrm>
            <a:off x="4781128" y="1865244"/>
            <a:ext cx="19032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Normally </a:t>
            </a:r>
          </a:p>
          <a:p>
            <a:pPr algn="ctr"/>
            <a:r>
              <a:rPr lang="en-US" dirty="0"/>
              <a:t>distributed errors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4188E0-6FFE-BD1D-A27F-90683E52831A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2402496" y="2357963"/>
            <a:ext cx="0" cy="1146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3577396-E071-EA33-3BBB-FE096B46ADBA}"/>
              </a:ext>
            </a:extLst>
          </p:cNvPr>
          <p:cNvSpPr/>
          <p:nvPr/>
        </p:nvSpPr>
        <p:spPr>
          <a:xfrm>
            <a:off x="9700204" y="1508781"/>
            <a:ext cx="2713308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Maximum likelihood estimators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951FB74-CBCD-E355-4AF2-524A8422EF67}"/>
              </a:ext>
            </a:extLst>
          </p:cNvPr>
          <p:cNvCxnSpPr>
            <a:cxnSpLocks/>
            <a:stCxn id="22" idx="1"/>
            <a:endCxn id="6" idx="0"/>
          </p:cNvCxnSpPr>
          <p:nvPr/>
        </p:nvCxnSpPr>
        <p:spPr>
          <a:xfrm flipH="1">
            <a:off x="6422373" y="1926225"/>
            <a:ext cx="3277831" cy="1502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02C73888-6ADF-AEB0-0370-A73028911247}"/>
              </a:ext>
            </a:extLst>
          </p:cNvPr>
          <p:cNvSpPr/>
          <p:nvPr/>
        </p:nvSpPr>
        <p:spPr>
          <a:xfrm>
            <a:off x="9998918" y="3429000"/>
            <a:ext cx="2115880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Structural equation modeling (SEM)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A9F3B0-2A2A-6A89-B2AA-94B22335835A}"/>
              </a:ext>
            </a:extLst>
          </p:cNvPr>
          <p:cNvSpPr/>
          <p:nvPr/>
        </p:nvSpPr>
        <p:spPr>
          <a:xfrm>
            <a:off x="7704828" y="3429000"/>
            <a:ext cx="2115880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Generalized linear models (logit, </a:t>
            </a:r>
            <a:r>
              <a:rPr lang="en-US" dirty="0" err="1"/>
              <a:t>Poission</a:t>
            </a:r>
            <a:r>
              <a:rPr lang="en-US" dirty="0"/>
              <a:t>, negative binomial)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EDFB675-EEED-6516-2923-DEC33E927636}"/>
              </a:ext>
            </a:extLst>
          </p:cNvPr>
          <p:cNvCxnSpPr>
            <a:cxnSpLocks/>
            <a:stCxn id="22" idx="2"/>
            <a:endCxn id="30" idx="0"/>
          </p:cNvCxnSpPr>
          <p:nvPr/>
        </p:nvCxnSpPr>
        <p:spPr>
          <a:xfrm flipH="1">
            <a:off x="8762768" y="2343668"/>
            <a:ext cx="2294090" cy="1085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16C05A-910C-42E4-86FE-DAE3F62B1A23}"/>
              </a:ext>
            </a:extLst>
          </p:cNvPr>
          <p:cNvCxnSpPr>
            <a:cxnSpLocks/>
            <a:stCxn id="22" idx="2"/>
            <a:endCxn id="29" idx="0"/>
          </p:cNvCxnSpPr>
          <p:nvPr/>
        </p:nvCxnSpPr>
        <p:spPr>
          <a:xfrm>
            <a:off x="11056858" y="2343668"/>
            <a:ext cx="0" cy="1085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4C67B6E-91CF-5E31-C18C-A5EE3F682F26}"/>
              </a:ext>
            </a:extLst>
          </p:cNvPr>
          <p:cNvSpPr/>
          <p:nvPr/>
        </p:nvSpPr>
        <p:spPr>
          <a:xfrm>
            <a:off x="12413254" y="3431860"/>
            <a:ext cx="2115880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Mixed models / HLM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4C22B4A-E817-BC67-0836-DF6E4BC5883F}"/>
              </a:ext>
            </a:extLst>
          </p:cNvPr>
          <p:cNvCxnSpPr>
            <a:cxnSpLocks/>
            <a:stCxn id="22" idx="2"/>
            <a:endCxn id="37" idx="0"/>
          </p:cNvCxnSpPr>
          <p:nvPr/>
        </p:nvCxnSpPr>
        <p:spPr>
          <a:xfrm>
            <a:off x="11056858" y="2343668"/>
            <a:ext cx="2414336" cy="1088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5049496-A0E7-6DF7-3D5A-818957320345}"/>
              </a:ext>
            </a:extLst>
          </p:cNvPr>
          <p:cNvSpPr txBox="1"/>
          <p:nvPr/>
        </p:nvSpPr>
        <p:spPr>
          <a:xfrm>
            <a:off x="506185" y="2707393"/>
            <a:ext cx="1775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Various</a:t>
            </a:r>
          </a:p>
          <a:p>
            <a:pPr algn="ctr"/>
            <a:r>
              <a:rPr lang="en-US" dirty="0"/>
              <a:t>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15741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3159A7-A8F5-6A56-AAF0-5109FDAA0170}"/>
              </a:ext>
            </a:extLst>
          </p:cNvPr>
          <p:cNvSpPr/>
          <p:nvPr/>
        </p:nvSpPr>
        <p:spPr>
          <a:xfrm>
            <a:off x="-2360428" y="1523076"/>
            <a:ext cx="3358963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Classical linear regression / ordinary least squares (OLS)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EC1363-7AF0-396D-E53A-730BEECC0E7B}"/>
              </a:ext>
            </a:extLst>
          </p:cNvPr>
          <p:cNvSpPr txBox="1"/>
          <p:nvPr/>
        </p:nvSpPr>
        <p:spPr>
          <a:xfrm>
            <a:off x="1135631" y="326638"/>
            <a:ext cx="344998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Assumptions: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Model is linear in y; B = A(X)*Y</a:t>
            </a:r>
          </a:p>
          <a:p>
            <a:pPr marL="342900" indent="-342900">
              <a:buAutoNum type="arabicPeriod"/>
            </a:pPr>
            <a:r>
              <a:rPr lang="en-US" dirty="0"/>
              <a:t>X is full rank </a:t>
            </a:r>
          </a:p>
          <a:p>
            <a:pPr marL="342900" indent="-342900">
              <a:buAutoNum type="arabicPeriod"/>
            </a:pPr>
            <a:r>
              <a:rPr lang="en-US" dirty="0"/>
              <a:t>E(e)=0</a:t>
            </a:r>
          </a:p>
          <a:p>
            <a:pPr marL="342900" indent="-342900">
              <a:buAutoNum type="arabicPeriod"/>
            </a:pPr>
            <a:r>
              <a:rPr lang="en-US" dirty="0"/>
              <a:t>E(</a:t>
            </a:r>
            <a:r>
              <a:rPr lang="en-US" dirty="0" err="1"/>
              <a:t>e|X</a:t>
            </a:r>
            <a:r>
              <a:rPr lang="en-US" dirty="0"/>
              <a:t>) = 0 (strict exogeneity)</a:t>
            </a:r>
          </a:p>
          <a:p>
            <a:pPr marL="342900" indent="-342900">
              <a:buAutoNum type="arabicPeriod"/>
            </a:pPr>
            <a:r>
              <a:rPr lang="en-US" dirty="0"/>
              <a:t>E(</a:t>
            </a:r>
            <a:r>
              <a:rPr lang="en-US" dirty="0" err="1"/>
              <a:t>ee</a:t>
            </a:r>
            <a:r>
              <a:rPr lang="en-US" dirty="0"/>
              <a:t>’) = sigma^2*I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5A696B-0276-7D07-2230-4441370EA50A}"/>
              </a:ext>
            </a:extLst>
          </p:cNvPr>
          <p:cNvSpPr txBox="1"/>
          <p:nvPr/>
        </p:nvSpPr>
        <p:spPr>
          <a:xfrm>
            <a:off x="1287566" y="3254322"/>
            <a:ext cx="344998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Assumptions: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Model is linear in y; B = A(X)*Y</a:t>
            </a:r>
          </a:p>
          <a:p>
            <a:pPr marL="342900" indent="-342900">
              <a:buAutoNum type="arabicPeriod"/>
            </a:pPr>
            <a:r>
              <a:rPr lang="en-US" dirty="0"/>
              <a:t>X is full rank </a:t>
            </a:r>
          </a:p>
          <a:p>
            <a:pPr marL="342900" indent="-342900">
              <a:buAutoNum type="arabicPeriod"/>
            </a:pPr>
            <a:r>
              <a:rPr lang="en-US" dirty="0"/>
              <a:t>E(e)=0</a:t>
            </a:r>
          </a:p>
          <a:p>
            <a:pPr marL="342900" indent="-342900">
              <a:buAutoNum type="arabicPeriod"/>
            </a:pPr>
            <a:r>
              <a:rPr lang="en-US" dirty="0"/>
              <a:t>E(</a:t>
            </a:r>
            <a:r>
              <a:rPr lang="en-US" dirty="0" err="1"/>
              <a:t>e|X</a:t>
            </a:r>
            <a:r>
              <a:rPr lang="en-US" dirty="0"/>
              <a:t>) = 0</a:t>
            </a:r>
          </a:p>
          <a:p>
            <a:pPr marL="342900" indent="-342900">
              <a:buAutoNum type="arabicPeriod"/>
            </a:pPr>
            <a:r>
              <a:rPr lang="en-US" dirty="0"/>
              <a:t>E(</a:t>
            </a:r>
            <a:r>
              <a:rPr lang="en-US" dirty="0" err="1"/>
              <a:t>ee</a:t>
            </a:r>
            <a:r>
              <a:rPr lang="en-US" dirty="0"/>
              <a:t>’) = sigma^2*W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7BB87-699C-603E-EF50-ED5048ED136B}"/>
              </a:ext>
            </a:extLst>
          </p:cNvPr>
          <p:cNvSpPr/>
          <p:nvPr/>
        </p:nvSpPr>
        <p:spPr>
          <a:xfrm>
            <a:off x="-2360428" y="3504276"/>
            <a:ext cx="3358963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Generalized least squares (GLS)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1E9B8D-0935-56F1-479F-FB90280EA517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-680946" y="2357963"/>
            <a:ext cx="0" cy="1146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BCC689-8084-1046-42B5-00A42C43A5DF}"/>
              </a:ext>
            </a:extLst>
          </p:cNvPr>
          <p:cNvSpPr txBox="1"/>
          <p:nvPr/>
        </p:nvSpPr>
        <p:spPr>
          <a:xfrm>
            <a:off x="5202305" y="326638"/>
            <a:ext cx="434926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true: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OLS is the BLUE (gauss-</a:t>
            </a:r>
            <a:r>
              <a:rPr lang="en-US" dirty="0" err="1"/>
              <a:t>markov</a:t>
            </a:r>
            <a:r>
              <a:rPr lang="en-US" dirty="0"/>
              <a:t>)</a:t>
            </a:r>
          </a:p>
          <a:p>
            <a:pPr marL="342900" indent="-342900">
              <a:buAutoNum type="arabicPeriod"/>
            </a:pPr>
            <a:r>
              <a:rPr lang="en-US" dirty="0"/>
              <a:t>Actually OLS is the BUE (Hansen 2021)</a:t>
            </a:r>
          </a:p>
          <a:p>
            <a:pPr marL="342900" indent="-342900">
              <a:buAutoNum type="arabicPeriod"/>
            </a:pPr>
            <a:r>
              <a:rPr lang="en-US" dirty="0"/>
              <a:t>OLS is </a:t>
            </a:r>
            <a:r>
              <a:rPr lang="en-US" dirty="0" err="1"/>
              <a:t>consistentx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FDE704-9CAB-EE3B-02C0-9FF9B7CF6BB8}"/>
              </a:ext>
            </a:extLst>
          </p:cNvPr>
          <p:cNvSpPr txBox="1"/>
          <p:nvPr/>
        </p:nvSpPr>
        <p:spPr>
          <a:xfrm>
            <a:off x="5026580" y="3154876"/>
            <a:ext cx="39489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true: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GLS is the BLUE (Aitken’s theorem)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72FEF1-7AC0-082C-55A4-96DACAB0E90E}"/>
              </a:ext>
            </a:extLst>
          </p:cNvPr>
          <p:cNvSpPr txBox="1"/>
          <p:nvPr/>
        </p:nvSpPr>
        <p:spPr>
          <a:xfrm>
            <a:off x="9551573" y="0"/>
            <a:ext cx="466518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assumptions imply for mean structure /</a:t>
            </a:r>
          </a:p>
          <a:p>
            <a:r>
              <a:rPr lang="en-US" dirty="0"/>
              <a:t>Variables in the model: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Model has right functional form, </a:t>
            </a:r>
            <a:br>
              <a:rPr lang="en-US" dirty="0"/>
            </a:br>
            <a:r>
              <a:rPr lang="en-US" dirty="0"/>
              <a:t>no dependence on Y</a:t>
            </a:r>
          </a:p>
          <a:p>
            <a:pPr marL="342900" indent="-342900">
              <a:buAutoNum type="arabicPeriod"/>
            </a:pPr>
            <a:r>
              <a:rPr lang="en-US" dirty="0"/>
              <a:t>No ‘dummy variable traps’</a:t>
            </a:r>
          </a:p>
          <a:p>
            <a:pPr marL="342900" indent="-342900">
              <a:buAutoNum type="arabicPeriod"/>
            </a:pPr>
            <a:r>
              <a:rPr lang="en-US" dirty="0"/>
              <a:t>Intercept required to absorb errors</a:t>
            </a:r>
          </a:p>
          <a:p>
            <a:pPr marL="342900" indent="-342900">
              <a:buAutoNum type="arabicPeriod"/>
            </a:pPr>
            <a:r>
              <a:rPr lang="en-US" dirty="0"/>
              <a:t>No omitted variables</a:t>
            </a:r>
          </a:p>
          <a:p>
            <a:pPr marL="342900" indent="-342900">
              <a:buAutoNum type="arabicPeriod"/>
            </a:pPr>
            <a:r>
              <a:rPr lang="en-US" dirty="0"/>
              <a:t>No serial dependence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CDA989-BA5B-D6FB-66A9-88E04BE727A8}"/>
              </a:ext>
            </a:extLst>
          </p:cNvPr>
          <p:cNvSpPr txBox="1"/>
          <p:nvPr/>
        </p:nvSpPr>
        <p:spPr>
          <a:xfrm>
            <a:off x="14216761" y="0"/>
            <a:ext cx="427924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Implications for variance  structure:</a:t>
            </a:r>
          </a:p>
          <a:p>
            <a:endParaRPr lang="en-US" dirty="0"/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Nothing really</a:t>
            </a:r>
          </a:p>
          <a:p>
            <a:pPr marL="342900" indent="-342900">
              <a:buAutoNum type="arabicPeriod"/>
            </a:pPr>
            <a:r>
              <a:rPr lang="en-US" dirty="0"/>
              <a:t>Ill-</a:t>
            </a:r>
            <a:r>
              <a:rPr lang="en-US" dirty="0" err="1"/>
              <a:t>condititioning</a:t>
            </a:r>
            <a:r>
              <a:rPr lang="en-US" dirty="0"/>
              <a:t> can inflate estimates</a:t>
            </a:r>
          </a:p>
          <a:p>
            <a:pPr marL="342900" indent="-342900">
              <a:buAutoNum type="arabicPeriod"/>
            </a:pPr>
            <a:r>
              <a:rPr lang="en-US" dirty="0"/>
              <a:t>Nothing really</a:t>
            </a:r>
          </a:p>
          <a:p>
            <a:pPr marL="342900" indent="-342900">
              <a:buAutoNum type="arabicPeriod"/>
            </a:pPr>
            <a:r>
              <a:rPr lang="en-US" dirty="0"/>
              <a:t>Nothing really</a:t>
            </a:r>
          </a:p>
          <a:p>
            <a:pPr marL="342900" indent="-342900">
              <a:buAutoNum type="arabicPeriod"/>
            </a:pPr>
            <a:r>
              <a:rPr lang="en-US" dirty="0"/>
              <a:t>Two implications:</a:t>
            </a:r>
          </a:p>
          <a:p>
            <a:pPr marL="800100" lvl="1" indent="-342900">
              <a:buAutoNum type="arabicPeriod"/>
            </a:pPr>
            <a:r>
              <a:rPr lang="en-US" dirty="0"/>
              <a:t>No </a:t>
            </a:r>
            <a:r>
              <a:rPr lang="en-US" dirty="0" err="1"/>
              <a:t>heteroskedacitiy</a:t>
            </a:r>
            <a:endParaRPr lang="en-US" dirty="0"/>
          </a:p>
          <a:p>
            <a:pPr marL="800100" lvl="1" indent="-342900">
              <a:buAutoNum type="arabicPeriod"/>
            </a:pPr>
            <a:r>
              <a:rPr lang="en-US" dirty="0"/>
              <a:t>No serial correlation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969666-7BB9-476F-FABF-089AFE85308A}"/>
              </a:ext>
            </a:extLst>
          </p:cNvPr>
          <p:cNvSpPr/>
          <p:nvPr/>
        </p:nvSpPr>
        <p:spPr>
          <a:xfrm>
            <a:off x="-6388471" y="3478867"/>
            <a:ext cx="3358963" cy="834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OLS with </a:t>
            </a:r>
          </a:p>
          <a:p>
            <a:pPr algn="ctr"/>
            <a:r>
              <a:rPr lang="en-US" dirty="0"/>
              <a:t>“robust” standard errors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A74EB6-7B4F-520E-5AF4-B38B94DA60A9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 flipH="1">
            <a:off x="-4708989" y="2357963"/>
            <a:ext cx="4028043" cy="1120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894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3132</TotalTime>
  <Words>272</Words>
  <Application>Microsoft Macintosh PowerPoint</Application>
  <PresentationFormat>Widescreen</PresentationFormat>
  <Paragraphs>64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Fox, Brian</dc:creator>
  <cp:lastModifiedBy>Fox, Brian</cp:lastModifiedBy>
  <cp:revision>4</cp:revision>
  <dcterms:created xsi:type="dcterms:W3CDTF">2024-03-12T12:57:36Z</dcterms:created>
  <dcterms:modified xsi:type="dcterms:W3CDTF">2024-03-14T17:10:05Z</dcterms:modified>
</cp:coreProperties>
</file>