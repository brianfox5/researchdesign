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919" r:id="rId2"/>
  </p:sldIdLst>
  <p:sldSz cx="9144000" cy="6858000" type="screen4x3"/>
  <p:notesSz cx="7315200" cy="96012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4D5E8A-9F95-4984-ADA0-7D0FC3DEC305}">
          <p14:sldIdLst>
            <p14:sldId id="9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750" userDrawn="1">
          <p15:clr>
            <a:srgbClr val="A4A3A4"/>
          </p15:clr>
        </p15:guide>
        <p15:guide id="3" pos="113" userDrawn="1">
          <p15:clr>
            <a:srgbClr val="A4A3A4"/>
          </p15:clr>
        </p15:guide>
        <p15:guide id="4" pos="56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ian Fox" initials="B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78BF"/>
    <a:srgbClr val="01072B"/>
    <a:srgbClr val="F7B2A7"/>
    <a:srgbClr val="BFC8FD"/>
    <a:srgbClr val="000B24"/>
    <a:srgbClr val="D6DADC"/>
    <a:srgbClr val="000F30"/>
    <a:srgbClr val="000E2F"/>
    <a:srgbClr val="1B2E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66" autoAdjust="0"/>
    <p:restoredTop sz="93741" autoAdjust="0"/>
  </p:normalViewPr>
  <p:slideViewPr>
    <p:cSldViewPr>
      <p:cViewPr varScale="1">
        <p:scale>
          <a:sx n="120" d="100"/>
          <a:sy n="120" d="100"/>
        </p:scale>
        <p:origin x="1592" y="176"/>
      </p:cViewPr>
      <p:guideLst>
        <p:guide orient="horz" pos="2750"/>
        <p:guide pos="113"/>
        <p:guide pos="56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3756" y="5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90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1922B18C-0895-40C2-A98C-6A22ECA7D214}" type="datetimeFigureOut">
              <a:rPr lang="en-US" smtClean="0"/>
              <a:t>2/13/24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90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7BF0A9E8-20EE-4FFE-BF50-7F2EA0FC1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7CEB82EE-7859-43C3-BD1F-7B4F0DAB0F46}" type="datetimeFigureOut">
              <a:rPr lang="en-US" smtClean="0"/>
              <a:t>2/13/24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0475" y="722313"/>
            <a:ext cx="4794250" cy="3595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6" rIns="91430" bIns="45716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5ED5DB85-51F6-4F8B-9C9B-239CB5AE9C4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119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5DB85-51F6-4F8B-9C9B-239CB5AE9C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60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9144000" cy="1340768"/>
          </a:xfrm>
          <a:prstGeom prst="rect">
            <a:avLst/>
          </a:prstGeom>
          <a:solidFill>
            <a:srgbClr val="1B2E67">
              <a:alpha val="7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511859" y="2141909"/>
            <a:ext cx="3981504" cy="984885"/>
          </a:xfrm>
          <a:prstGeom prst="rect">
            <a:avLst/>
          </a:prstGeom>
        </p:spPr>
        <p:txBody>
          <a:bodyPr lIns="0"/>
          <a:lstStyle>
            <a:lvl1pPr>
              <a:defRPr sz="3200" b="1" baseline="0">
                <a:solidFill>
                  <a:srgbClr val="0078BF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8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511859" y="3425346"/>
            <a:ext cx="3981504" cy="21544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600" indent="0">
              <a:buFontTx/>
              <a:buNone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5508104" y="2163553"/>
            <a:ext cx="0" cy="3605048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0"/>
          <p:cNvSpPr>
            <a:spLocks noGrp="1"/>
          </p:cNvSpPr>
          <p:nvPr>
            <p:ph type="body" sz="quarter" idx="10"/>
          </p:nvPr>
        </p:nvSpPr>
        <p:spPr>
          <a:xfrm>
            <a:off x="512515" y="5515894"/>
            <a:ext cx="3981450" cy="215444"/>
          </a:xfrm>
          <a:prstGeom prst="rect">
            <a:avLst/>
          </a:prstGeom>
        </p:spPr>
        <p:txBody>
          <a:bodyPr/>
          <a:lstStyle>
            <a:lvl1pPr marL="3600" indent="0">
              <a:buFontTx/>
              <a:buNone/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0" y="1"/>
            <a:ext cx="9144000" cy="1340767"/>
          </a:xfrm>
          <a:prstGeom prst="rect">
            <a:avLst/>
          </a:prstGeom>
          <a:solidFill>
            <a:srgbClr val="0078B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0" y="6597351"/>
            <a:ext cx="9144000" cy="262247"/>
          </a:xfrm>
          <a:prstGeom prst="rect">
            <a:avLst/>
          </a:prstGeom>
          <a:solidFill>
            <a:srgbClr val="D6DADC"/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83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590976"/>
            <a:ext cx="9144000" cy="267023"/>
          </a:xfrm>
          <a:prstGeom prst="rect">
            <a:avLst/>
          </a:prstGeom>
          <a:solidFill>
            <a:srgbClr val="D6DADC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34860" y="289804"/>
            <a:ext cx="77495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rgbClr val="0078BF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</a:t>
            </a:r>
          </a:p>
        </p:txBody>
      </p:sp>
      <p:sp>
        <p:nvSpPr>
          <p:cNvPr id="8" name="Slide Number"/>
          <p:cNvSpPr txBox="1">
            <a:spLocks/>
          </p:cNvSpPr>
          <p:nvPr userDrawn="1"/>
        </p:nvSpPr>
        <p:spPr>
          <a:xfrm>
            <a:off x="8721120" y="6660138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 lvl="0"/>
              <a:t>‹#›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SlideLogoSeparator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8608985" y="6633206"/>
            <a:ext cx="40076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algn="r" defTabSz="895350"/>
            <a:r>
              <a:rPr lang="en-US" sz="120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|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 hasCustomPrompt="1"/>
          </p:nvPr>
        </p:nvSpPr>
        <p:spPr>
          <a:xfrm>
            <a:off x="134860" y="66140"/>
            <a:ext cx="7749508" cy="215444"/>
          </a:xfrm>
          <a:prstGeom prst="rect">
            <a:avLst/>
          </a:prstGeom>
        </p:spPr>
        <p:txBody>
          <a:bodyPr lIns="0" tIns="0" rIns="0" bIns="0" anchor="ctr"/>
          <a:lstStyle>
            <a:lvl1pPr marL="3600" indent="0">
              <a:buFontTx/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TRACKER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7989173" y="66140"/>
            <a:ext cx="0" cy="105843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McK 1. On-page tracker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134860" y="6647543"/>
            <a:ext cx="2685030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Brian</a:t>
            </a:r>
            <a:r>
              <a:rPr lang="en-US" sz="100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Fox | Bentley University | November 2023</a:t>
            </a:r>
            <a:endParaRPr lang="en-US" sz="1000" noProof="1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292" name="Text Placeholder 12291"/>
          <p:cNvSpPr>
            <a:spLocks noGrp="1"/>
          </p:cNvSpPr>
          <p:nvPr>
            <p:ph type="body" sz="quarter" idx="14" hasCustomPrompt="1"/>
          </p:nvPr>
        </p:nvSpPr>
        <p:spPr>
          <a:xfrm>
            <a:off x="134860" y="1012401"/>
            <a:ext cx="7245452" cy="215444"/>
          </a:xfrm>
        </p:spPr>
        <p:txBody>
          <a:bodyPr tIns="0" rIns="0" bIns="0"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03" name="Text Placeholder 12291"/>
          <p:cNvSpPr>
            <a:spLocks noGrp="1"/>
          </p:cNvSpPr>
          <p:nvPr>
            <p:ph type="body" sz="quarter" idx="15" hasCustomPrompt="1"/>
          </p:nvPr>
        </p:nvSpPr>
        <p:spPr>
          <a:xfrm>
            <a:off x="134860" y="6359812"/>
            <a:ext cx="7245452" cy="153888"/>
          </a:xfrm>
        </p:spPr>
        <p:txBody>
          <a:bodyPr tIns="0" rIns="0" bIns="0"/>
          <a:lstStyle>
            <a:lvl1pPr>
              <a:defRPr sz="10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source</a:t>
            </a:r>
          </a:p>
        </p:txBody>
      </p:sp>
      <p:sp>
        <p:nvSpPr>
          <p:cNvPr id="15" name="McK 1. On-page tracker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4227387" y="6647543"/>
            <a:ext cx="68929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OT Seminar</a:t>
            </a:r>
          </a:p>
        </p:txBody>
      </p:sp>
      <p:sp>
        <p:nvSpPr>
          <p:cNvPr id="18" name="McK 1. On-page tracker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813840" y="6660138"/>
            <a:ext cx="1718420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 Discussion</a:t>
            </a:r>
            <a:r>
              <a:rPr lang="en-US" sz="100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Purposes Only</a:t>
            </a:r>
            <a:endParaRPr lang="en-US" sz="1000" noProof="1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7" name="Picture 16">
            <a:hlinkClick r:id="" action="ppaction://noaction"/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209" y="0"/>
            <a:ext cx="919651" cy="124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4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2E6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430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8394320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/>
          <p:cNvSpPr>
            <a:spLocks noGrp="1"/>
          </p:cNvSpPr>
          <p:nvPr>
            <p:ph type="body" idx="1"/>
          </p:nvPr>
        </p:nvSpPr>
        <p:spPr>
          <a:xfrm>
            <a:off x="134860" y="908720"/>
            <a:ext cx="4042792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6271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000" b="1" kern="1200">
          <a:solidFill>
            <a:schemeClr val="accent6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Wingdings" pitchFamily="2" charset="2"/>
        <a:buNone/>
        <a:tabLst/>
        <a:defRPr sz="1400" b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0" indent="-194400" algn="l" defTabSz="914400" rtl="0" eaLnBrk="1" latinLnBrk="0" hangingPunct="1">
        <a:spcBef>
          <a:spcPts val="0"/>
        </a:spcBef>
        <a:buFont typeface="Wingdings" pitchFamily="2" charset="2"/>
        <a:buChar char="§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457200" indent="-154800" algn="l" defTabSz="914400" rtl="0" eaLnBrk="1" latinLnBrk="0" hangingPunct="1">
        <a:spcBef>
          <a:spcPts val="0"/>
        </a:spcBef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615600" indent="-129600" algn="l" defTabSz="914400" rtl="0" eaLnBrk="1" latinLnBrk="0" hangingPunct="1">
        <a:spcBef>
          <a:spcPts val="0"/>
        </a:spcBef>
        <a:buSzPct val="60000"/>
        <a:buFont typeface="Arial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748800" indent="-129600" algn="l" defTabSz="914400" rtl="0" eaLnBrk="1" latinLnBrk="0" hangingPunct="1">
        <a:spcBef>
          <a:spcPts val="0"/>
        </a:spcBef>
        <a:buSzPct val="60000"/>
        <a:buFont typeface="Arial" pitchFamily="34" charset="0"/>
        <a:buChar char="»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8A40202-6132-E1EE-D630-53DF9C9A70DC}"/>
              </a:ext>
            </a:extLst>
          </p:cNvPr>
          <p:cNvSpPr/>
          <p:nvPr/>
        </p:nvSpPr>
        <p:spPr>
          <a:xfrm>
            <a:off x="2855517" y="1340768"/>
            <a:ext cx="5683635" cy="664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11350C2-32D5-361B-A9C7-FD42F2306783}"/>
              </a:ext>
            </a:extLst>
          </p:cNvPr>
          <p:cNvSpPr/>
          <p:nvPr/>
        </p:nvSpPr>
        <p:spPr>
          <a:xfrm>
            <a:off x="7549" y="4642904"/>
            <a:ext cx="8608607" cy="15389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52423C-32EF-095C-447D-89F4502EBA86}"/>
              </a:ext>
            </a:extLst>
          </p:cNvPr>
          <p:cNvSpPr/>
          <p:nvPr/>
        </p:nvSpPr>
        <p:spPr>
          <a:xfrm>
            <a:off x="2632810" y="2371798"/>
            <a:ext cx="6084168" cy="8644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  <a:p>
            <a:pPr algn="ctr"/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897665D2-A0E1-2F48-BACA-665A4EB8E2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249914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130884C-52EA-2144-8636-8C1720DC2A6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Helvetica" pitchFamily="2" charset="0"/>
              <a:ea typeface="+mj-ea"/>
              <a:sym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CBD9C-129E-4D40-996D-65FE8F9D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60" y="289804"/>
            <a:ext cx="7749507" cy="307777"/>
          </a:xfrm>
        </p:spPr>
        <p:txBody>
          <a:bodyPr/>
          <a:lstStyle/>
          <a:p>
            <a:r>
              <a:rPr lang="en-US" dirty="0"/>
              <a:t>Theory and </a:t>
            </a:r>
            <a:r>
              <a:rPr lang="en-US" dirty="0" err="1"/>
              <a:t>phenemona</a:t>
            </a:r>
            <a:r>
              <a:rPr lang="en-US" dirty="0"/>
              <a:t> nomological network interweaving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2AE0B-D18C-AA47-B083-CE9382A5243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NOMOLOGICAL NETWORKS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C18FB-1555-CC4B-B945-E60BFC9E1B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Project 0020.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349C6A-6C6C-4B43-B95D-AB78F7BDEB3D}"/>
              </a:ext>
            </a:extLst>
          </p:cNvPr>
          <p:cNvCxnSpPr/>
          <p:nvPr/>
        </p:nvCxnSpPr>
        <p:spPr>
          <a:xfrm>
            <a:off x="107950" y="1340768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BD7491-3177-3C45-865F-2C55DC24FBA8}"/>
              </a:ext>
            </a:extLst>
          </p:cNvPr>
          <p:cNvCxnSpPr/>
          <p:nvPr/>
        </p:nvCxnSpPr>
        <p:spPr>
          <a:xfrm>
            <a:off x="107255" y="6237312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7C4DD2-F702-F5EE-8552-CBAEED100C38}"/>
              </a:ext>
            </a:extLst>
          </p:cNvPr>
          <p:cNvSpPr/>
          <p:nvPr/>
        </p:nvSpPr>
        <p:spPr>
          <a:xfrm>
            <a:off x="3024648" y="2546906"/>
            <a:ext cx="2088232" cy="5257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Asset specificity, uncertainty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34F64F-95E7-B640-46F4-B38AC7D91D38}"/>
              </a:ext>
            </a:extLst>
          </p:cNvPr>
          <p:cNvSpPr/>
          <p:nvPr/>
        </p:nvSpPr>
        <p:spPr>
          <a:xfrm>
            <a:off x="241546" y="4914198"/>
            <a:ext cx="2088232" cy="5183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R&amp;D sharing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406192-DAE2-6935-CC77-DDE7F571C12A}"/>
              </a:ext>
            </a:extLst>
          </p:cNvPr>
          <p:cNvSpPr/>
          <p:nvPr/>
        </p:nvSpPr>
        <p:spPr>
          <a:xfrm>
            <a:off x="6125072" y="2546906"/>
            <a:ext cx="2340386" cy="5257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Employment of hierarchical governance forms</a:t>
            </a:r>
            <a:endParaRPr lang="en-US" sz="1400" i="1" dirty="0">
              <a:solidFill>
                <a:schemeClr val="tx1">
                  <a:lumMod val="65000"/>
                  <a:lumOff val="35000"/>
                </a:schemeClr>
              </a:solidFill>
              <a:latin typeface="Helvetica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D5BE1-F523-5411-C1C2-C2A960AE6AB3}"/>
              </a:ext>
            </a:extLst>
          </p:cNvPr>
          <p:cNvSpPr/>
          <p:nvPr/>
        </p:nvSpPr>
        <p:spPr>
          <a:xfrm>
            <a:off x="6125072" y="4927264"/>
            <a:ext cx="2340386" cy="5113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Alliance governance mode</a:t>
            </a:r>
          </a:p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(equity, non-equity)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92DD79-1853-FCB9-DB83-B273E0892623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5112880" y="2809798"/>
            <a:ext cx="101219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F2D5630-D70B-05D2-45FD-230FAB8AAFBE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2329778" y="5173391"/>
            <a:ext cx="3795294" cy="956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9517260-3431-E121-1AB7-61023C87D2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4D855-10CD-DFF1-3B4E-5D172D337638}"/>
              </a:ext>
            </a:extLst>
          </p:cNvPr>
          <p:cNvSpPr txBox="1"/>
          <p:nvPr/>
        </p:nvSpPr>
        <p:spPr>
          <a:xfrm>
            <a:off x="7392021" y="3272579"/>
            <a:ext cx="1710405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000" dirty="0">
                <a:latin typeface="Helvetica" pitchFamily="2" charset="0"/>
              </a:rPr>
              <a:t>Transactions costs economics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757CAF-B904-FF00-4005-7D672FC50E69}"/>
              </a:ext>
            </a:extLst>
          </p:cNvPr>
          <p:cNvSpPr txBox="1"/>
          <p:nvPr/>
        </p:nvSpPr>
        <p:spPr>
          <a:xfrm>
            <a:off x="2904844" y="3439938"/>
            <a:ext cx="65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endParaRPr lang="en-US" sz="1400" dirty="0">
              <a:latin typeface="Helvetica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8285A0-5FAA-E24F-BF91-DDE8E15F24E4}"/>
              </a:ext>
            </a:extLst>
          </p:cNvPr>
          <p:cNvSpPr txBox="1"/>
          <p:nvPr/>
        </p:nvSpPr>
        <p:spPr>
          <a:xfrm>
            <a:off x="4221740" y="4474886"/>
            <a:ext cx="1078821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000" dirty="0">
                <a:latin typeface="Helvetica" pitchFamily="2" charset="0"/>
              </a:rPr>
              <a:t>Alliance structuring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F918B8-E32F-614C-C68D-B4E658B0877A}"/>
              </a:ext>
            </a:extLst>
          </p:cNvPr>
          <p:cNvSpPr/>
          <p:nvPr/>
        </p:nvSpPr>
        <p:spPr>
          <a:xfrm>
            <a:off x="7548" y="3334683"/>
            <a:ext cx="5926327" cy="8644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  <a:p>
            <a:pPr algn="ctr"/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5F45B4-CB00-84B9-47AB-8974FA2C9132}"/>
              </a:ext>
            </a:extLst>
          </p:cNvPr>
          <p:cNvSpPr/>
          <p:nvPr/>
        </p:nvSpPr>
        <p:spPr>
          <a:xfrm>
            <a:off x="241546" y="3509791"/>
            <a:ext cx="2088232" cy="5257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Tacit knowledge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03726B-ADF3-AF2D-AEA7-A6C7EB8250E8}"/>
              </a:ext>
            </a:extLst>
          </p:cNvPr>
          <p:cNvSpPr/>
          <p:nvPr/>
        </p:nvSpPr>
        <p:spPr>
          <a:xfrm>
            <a:off x="3341970" y="3509791"/>
            <a:ext cx="2340386" cy="5257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Use of absorptive capacity enhancing vehicles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71190C0-9034-80B4-BE5F-F7CCC3D0BAAA}"/>
              </a:ext>
            </a:extLst>
          </p:cNvPr>
          <p:cNvCxnSpPr>
            <a:cxnSpLocks/>
            <a:stCxn id="27" idx="3"/>
            <a:endCxn id="30" idx="1"/>
          </p:cNvCxnSpPr>
          <p:nvPr/>
        </p:nvCxnSpPr>
        <p:spPr>
          <a:xfrm>
            <a:off x="2329778" y="3772683"/>
            <a:ext cx="101219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7E4FCEE-208C-BEBD-BF3D-5C2D2A67A286}"/>
              </a:ext>
            </a:extLst>
          </p:cNvPr>
          <p:cNvSpPr txBox="1"/>
          <p:nvPr/>
        </p:nvSpPr>
        <p:spPr>
          <a:xfrm>
            <a:off x="1804235" y="4259833"/>
            <a:ext cx="1303242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000" dirty="0">
                <a:latin typeface="Helvetica" pitchFamily="2" charset="0"/>
              </a:rPr>
              <a:t>Knowledge based view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2750D0-6B7F-A7AB-C487-361F30721B41}"/>
              </a:ext>
            </a:extLst>
          </p:cNvPr>
          <p:cNvSpPr/>
          <p:nvPr/>
        </p:nvSpPr>
        <p:spPr>
          <a:xfrm>
            <a:off x="3353741" y="5581052"/>
            <a:ext cx="2088232" cy="5183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Knowledge spillovers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1A32165-48EA-6920-AE6B-0D49F6620C1A}"/>
              </a:ext>
            </a:extLst>
          </p:cNvPr>
          <p:cNvCxnSpPr>
            <a:cxnSpLocks/>
            <a:stCxn id="37" idx="3"/>
            <a:endCxn id="20" idx="1"/>
          </p:cNvCxnSpPr>
          <p:nvPr/>
        </p:nvCxnSpPr>
        <p:spPr>
          <a:xfrm flipV="1">
            <a:off x="5441973" y="5182959"/>
            <a:ext cx="683099" cy="65728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A50DBB1-F65D-E6E0-B242-92818F52A38F}"/>
              </a:ext>
            </a:extLst>
          </p:cNvPr>
          <p:cNvSpPr/>
          <p:nvPr/>
        </p:nvSpPr>
        <p:spPr>
          <a:xfrm>
            <a:off x="6125072" y="1411870"/>
            <a:ext cx="2340386" cy="5113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Firm creation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D71B1E6-063E-46AC-2176-BD76A909B1EB}"/>
              </a:ext>
            </a:extLst>
          </p:cNvPr>
          <p:cNvSpPr/>
          <p:nvPr/>
        </p:nvSpPr>
        <p:spPr>
          <a:xfrm>
            <a:off x="3024648" y="1437662"/>
            <a:ext cx="2088232" cy="5113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Upfront investment in specialized equipment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D981020-BC63-8192-5EB9-C91B56B2D4AC}"/>
              </a:ext>
            </a:extLst>
          </p:cNvPr>
          <p:cNvCxnSpPr>
            <a:cxnSpLocks/>
          </p:cNvCxnSpPr>
          <p:nvPr/>
        </p:nvCxnSpPr>
        <p:spPr>
          <a:xfrm>
            <a:off x="5112880" y="1717346"/>
            <a:ext cx="101219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95617E9-2063-AD1C-1358-268D0DC6FA43}"/>
              </a:ext>
            </a:extLst>
          </p:cNvPr>
          <p:cNvCxnSpPr>
            <a:stCxn id="19" idx="0"/>
            <a:endCxn id="44" idx="2"/>
          </p:cNvCxnSpPr>
          <p:nvPr/>
        </p:nvCxnSpPr>
        <p:spPr>
          <a:xfrm flipV="1">
            <a:off x="7295265" y="1923260"/>
            <a:ext cx="0" cy="62364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D593685-9F74-25A8-442F-D5841C29FF01}"/>
              </a:ext>
            </a:extLst>
          </p:cNvPr>
          <p:cNvCxnSpPr>
            <a:cxnSpLocks/>
            <a:stCxn id="15" idx="0"/>
            <a:endCxn id="45" idx="2"/>
          </p:cNvCxnSpPr>
          <p:nvPr/>
        </p:nvCxnSpPr>
        <p:spPr>
          <a:xfrm flipV="1">
            <a:off x="4068764" y="1949052"/>
            <a:ext cx="0" cy="59785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A616006-F5FB-52A2-CA99-CD6718B407DE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7295265" y="3090752"/>
            <a:ext cx="0" cy="183651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E091093-F773-CC5B-661E-DE75590151A1}"/>
              </a:ext>
            </a:extLst>
          </p:cNvPr>
          <p:cNvCxnSpPr>
            <a:cxnSpLocks/>
            <a:stCxn id="30" idx="3"/>
            <a:endCxn id="20" idx="0"/>
          </p:cNvCxnSpPr>
          <p:nvPr/>
        </p:nvCxnSpPr>
        <p:spPr>
          <a:xfrm>
            <a:off x="5682356" y="3772683"/>
            <a:ext cx="1612909" cy="115458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04C2480-0B52-9C8C-1E1A-BE51E11D2634}"/>
              </a:ext>
            </a:extLst>
          </p:cNvPr>
          <p:cNvCxnSpPr>
            <a:cxnSpLocks/>
            <a:stCxn id="27" idx="2"/>
            <a:endCxn id="18" idx="0"/>
          </p:cNvCxnSpPr>
          <p:nvPr/>
        </p:nvCxnSpPr>
        <p:spPr>
          <a:xfrm>
            <a:off x="1285662" y="4035575"/>
            <a:ext cx="0" cy="87862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92563A9-E451-87B5-FBBF-D6EECE17654E}"/>
              </a:ext>
            </a:extLst>
          </p:cNvPr>
          <p:cNvSpPr txBox="1"/>
          <p:nvPr/>
        </p:nvSpPr>
        <p:spPr>
          <a:xfrm>
            <a:off x="4842131" y="2074738"/>
            <a:ext cx="831959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000" dirty="0">
                <a:latin typeface="Helvetica" pitchFamily="2" charset="0"/>
              </a:rPr>
              <a:t>Firm existence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8C8D243-CAE3-3956-B41A-A434A7C7301C}"/>
              </a:ext>
            </a:extLst>
          </p:cNvPr>
          <p:cNvCxnSpPr>
            <a:cxnSpLocks/>
          </p:cNvCxnSpPr>
          <p:nvPr/>
        </p:nvCxnSpPr>
        <p:spPr>
          <a:xfrm>
            <a:off x="3107477" y="3090752"/>
            <a:ext cx="384403" cy="24903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8EA13C97-4B4E-5747-8A1F-6C8916B655A6}"/>
              </a:ext>
            </a:extLst>
          </p:cNvPr>
          <p:cNvSpPr txBox="1"/>
          <p:nvPr/>
        </p:nvSpPr>
        <p:spPr>
          <a:xfrm>
            <a:off x="3775341" y="4988292"/>
            <a:ext cx="75342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000" dirty="0">
                <a:latin typeface="Helvetica" pitchFamily="2" charset="0"/>
              </a:rPr>
              <a:t>+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6BB6A84-7210-F91B-F6DC-F009AE6D1BAC}"/>
              </a:ext>
            </a:extLst>
          </p:cNvPr>
          <p:cNvSpPr txBox="1"/>
          <p:nvPr/>
        </p:nvSpPr>
        <p:spPr>
          <a:xfrm>
            <a:off x="5851825" y="5559557"/>
            <a:ext cx="160335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00" dirty="0">
                <a:latin typeface="Helvetica" pitchFamily="2" charset="0"/>
              </a:rPr>
              <a:t>+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2233455-711B-D9F6-2E0D-0991FEF33C7F}"/>
              </a:ext>
            </a:extLst>
          </p:cNvPr>
          <p:cNvSpPr txBox="1"/>
          <p:nvPr/>
        </p:nvSpPr>
        <p:spPr>
          <a:xfrm>
            <a:off x="2680792" y="2204864"/>
            <a:ext cx="1211870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FF0000"/>
                </a:solidFill>
                <a:latin typeface="Helvetica" pitchFamily="2" charset="0"/>
              </a:rPr>
              <a:t>Context: opportunism</a:t>
            </a:r>
          </a:p>
        </p:txBody>
      </p:sp>
    </p:spTree>
    <p:extLst>
      <p:ext uri="{BB962C8B-B14F-4D97-AF65-F5344CB8AC3E}">
        <p14:creationId xmlns:p14="http://schemas.microsoft.com/office/powerpoint/2010/main" val="16770095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2008"/>
  <p:tag name="USESECONDARYMONITOR" val="True"/>
  <p:tag name="ANSWERNOWSTYLE" val="-1"/>
  <p:tag name="RESPCOUNTERFORMAT" val="0"/>
  <p:tag name="NUMRESPONSES" val="1"/>
  <p:tag name="CHARTVALUEFORMAT" val="0%"/>
  <p:tag name="AUTOUPDATEALIASES" val="True"/>
  <p:tag name="RACEANIMATIONSPEED" val="3"/>
  <p:tag name="MAXRESPONDERS" val="5"/>
  <p:tag name="BUBBLEGROUPING" val="3"/>
  <p:tag name="CUSTOMCELLBACKCOLOR1" val="-657956"/>
  <p:tag name="USESCHEMECOLORS" val="True"/>
  <p:tag name="GRIDOPACITY" val="90"/>
  <p:tag name="GRIDPOSITION" val="1"/>
  <p:tag name="CHARTLABELS" val="1"/>
  <p:tag name="INCLUDEPPT" val="True"/>
  <p:tag name="REALTIMEBACKUP" val="False"/>
  <p:tag name="CHARTSCALE" val="True"/>
  <p:tag name="FIBINCLUDEOTHER" val="True"/>
  <p:tag name="PRRESPONSE3" val="8"/>
  <p:tag name="PRRESPONSE7" val="4"/>
  <p:tag name="SHOWFLASHWARNING" val="True"/>
  <p:tag name="SAVECSVWITHSESSION" val="True"/>
  <p:tag name="COUNTDOWNSTYLE" val="-1"/>
  <p:tag name="INPUTSOURCE" val="1"/>
  <p:tag name="AUTOADVANCE" val="False"/>
  <p:tag name="RACEENDPOINTS" val="100"/>
  <p:tag name="TEAMSINLEADERBOARD" val="5"/>
  <p:tag name="DEFAULTNUMTEAMS" val="5"/>
  <p:tag name="CUSTOMCELLBACKCOLOR3" val="-268652"/>
  <p:tag name="DISPLAYDEVICEID" val="True"/>
  <p:tag name="GRIDFONTSIZE" val="12"/>
  <p:tag name="INCLUDENONRESPONDERS" val="False"/>
  <p:tag name="INCORRECTPOINTVALUE" val="0"/>
  <p:tag name="ADVANCEDSETTINGSVIEW" val="False"/>
  <p:tag name="PRRESPONSE1" val="10"/>
  <p:tag name="PRRESPONSE6" val="5"/>
  <p:tag name="ALWAYSOPENPOLL" val="False"/>
  <p:tag name="SHOWBARVISIBLE" val="True"/>
  <p:tag name="ANSWERNOWTEXT" val="Answer Now"/>
  <p:tag name="ALLOWDUPLICATES" val="False"/>
  <p:tag name="ROTATIONINTERVAL" val="2"/>
  <p:tag name="PARTICIPANTSINLEADERBOARD" val="5"/>
  <p:tag name="CUSTOMGRIDBACKCOLOR" val="-2830136"/>
  <p:tag name="DISPLAYNAME" val="True"/>
  <p:tag name="GRIDSIZE" val="{Width=800, Height=600}"/>
  <p:tag name="MULTIRESPDIVISOR" val="1"/>
  <p:tag name="ZEROBASED" val="False"/>
  <p:tag name="FIBDISPLAYKEYWORDS" val="True"/>
  <p:tag name="PRRESPONSE8" val="3"/>
  <p:tag name="BULLETTYPE" val="3"/>
  <p:tag name="BACKUPSESSIONS" val="True"/>
  <p:tag name="RACERSMAXDISPLAYED" val="5"/>
  <p:tag name="BUBBLEVALUEFORMAT" val="0.0"/>
  <p:tag name="DISPLAYDEVICENUMBER" val="True"/>
  <p:tag name="CHARTCOLORS" val="0"/>
  <p:tag name="REALTIMEBACKUPPATH" val="(None)"/>
  <p:tag name="PRRESPONSE2" val="9"/>
  <p:tag name="PRRESPONSE10" val="1"/>
  <p:tag name="CSVFORMAT" val="0"/>
  <p:tag name="BACKUPMAINTENANCE" val="7"/>
  <p:tag name="BUBBLENAMEVISIBLE" val="True"/>
  <p:tag name="CUSTOMCELLBACKCOLOR4" val="-8355712"/>
  <p:tag name="RESETCHARTS" val="True"/>
  <p:tag name="FIBDISPLAYRESULTS" val="True"/>
  <p:tag name="PRRESPONSE9" val="2"/>
  <p:tag name="RESPCOUNTERSTYLE" val="-1"/>
  <p:tag name="STDCHART" val="1"/>
  <p:tag name="CUSTOMCELLBACKCOLOR2" val="-13395457"/>
  <p:tag name="ALLOWUSERFEEDBACK" val="True"/>
  <p:tag name="PRRESPONSE4" val="7"/>
  <p:tag name="EXPANDSHOWBAR" val="True"/>
  <p:tag name="SKIPREMAININGRACESLIDES" val="True"/>
  <p:tag name="AUTOSIZEGRID" val="True"/>
  <p:tag name="FIBNUMRESULTS" val="5"/>
  <p:tag name="RESPTABLESTYLE" val="-1"/>
  <p:tag name="CUSTOMCELLFORECOLOR" val="-16777216"/>
  <p:tag name="AUTOADJUSTPARTRANGE" val="True"/>
  <p:tag name="COUNTDOWNSECONDS" val="10"/>
  <p:tag name="POLLINGCYCLE" val="2"/>
  <p:tag name="POWERPOINTVERSION" val="14.0"/>
  <p:tag name="CORRECTPOINTVALUE" val="1"/>
  <p:tag name="BUBBLESIZEVISIBLE" val="True"/>
  <p:tag name="REVIEWONLY" val="False"/>
  <p:tag name="GRIDROTATIONINTERVAL" val="2"/>
  <p:tag name="PRRESPONSE5" val="6"/>
  <p:tag name="DELIMITERS" val="3.1"/>
  <p:tag name="TASKPANEKEY" val="1ae76107-f3e0-4c9e-9a2f-35213e7a9b49"/>
  <p:tag name="TPFULLVERSION" val="4.5.1.2243"/>
  <p:tag name="INCLUDESESSION" val="True"/>
  <p:tag name="ISPRING_RESOURCE_PATHS_HASH_PRESENTER" val="36eeff7948365877e17741f6da38fc33960cf9d"/>
  <p:tag name="THINKCELLPRESENTATIONDONOTDELETE" val="&lt;?xml version=&quot;1.0&quot; encoding=&quot;UTF-16&quot; standalone=&quot;yes&quot;?&gt;&#10;&lt;root reqver=&quot;21047&quot;&gt;&lt;version val=&quot;2325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bNumberIsYear val=&quot;0&quot;/&gt;&lt;m_strFormatTime&gt;%d-%1-%Y&lt;/m_strFormatTime&gt;&lt;/m_precDefaultDate&gt;&lt;m_precDefaultYear&gt;&lt;m_bNumberIsYear val=&quot;0&quot;/&gt;&lt;m_strFormatTime&gt;%Y&lt;/m_strFormatTime&gt;&lt;/m_precDefaultYear&gt;&lt;m_precDefaultQuarter&gt;&lt;m_bNumberIsYear val=&quot;0&quot;/&gt;&lt;m_strFormatTime&gt;Q%5&lt;/m_strFormatTime&gt;&lt;/m_precDefaultQuarter&gt;&lt;m_precDefaultMonth&gt;&lt;m_bNumberIsYear val=&quot;0&quot;/&gt;&lt;m_strFormatTime&gt;%#m&lt;/m_strFormatTime&gt;&lt;/m_precDefaultMonth&gt;&lt;m_precDefaultWeek&gt;&lt;m_bNumberIsYear val=&quot;0&quot;/&gt;&lt;m_strFormatTime&gt;%4&lt;/m_strFormatTime&gt;&lt;/m_precDefaultWeek&gt;&lt;m_precDefaultDay&gt;&lt;m_bNumberIsYear val=&quot;0&quot;/&gt;&lt;m_strFormatTime&gt;%d&lt;/m_strFormatTime&gt;&lt;/m_precDefaultDay&gt;&lt;m_mruColor&gt;&lt;m_vecMRU length=&quot;3&quot;&gt;&lt;elem m_fUsage=&quot;4.85364711931390060000E+000&quot;&gt;&lt;m_msothmcolidx val=&quot;0&quot;/&gt;&lt;m_rgb r=&quot;76&quot; g=&quot;a3&quot; b=&quot;32&quot;/&gt;&lt;m_ppcolschidx tagver0=&quot;23004&quot; tagname0=&quot;m_ppcolschidxUNRECOGNIZED&quot; val=&quot;0&quot;/&gt;&lt;m_nBrightness val=&quot;0&quot;/&gt;&lt;/elem&gt;&lt;elem m_fUsage=&quot;2.19618459900000000000E+000&quot;&gt;&lt;m_msothmcolidx val=&quot;0&quot;/&gt;&lt;m_rgb r=&quot;db&quot; g=&quot;e7&quot; b=&quot;b6&quot;/&gt;&lt;m_ppcolschidx tagver0=&quot;23004&quot; tagname0=&quot;m_ppcolschidxUNRECOGNIZED&quot; val=&quot;0&quot;/&gt;&lt;m_nBrightness val=&quot;0&quot;/&gt;&lt;/elem&gt;&lt;elem m_fUsage=&quot;1.28245011171944330000E+000&quot;&gt;&lt;m_msothmcolidx val=&quot;0&quot;/&gt;&lt;m_rgb r=&quot;49&quot; g=&quot;a2&quot; b=&quot;33&quot;/&gt;&lt;m_ppcolschidx tagver0=&quot;23004&quot; tagname0=&quot;m_ppcolschidxUNRECOGNIZED&quot; val=&quot;0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ISNEWSLIDENUMBER" val="True"/>
  <p:tag name="PREVIOUSNAME" val="C:\Users\Christopher Leifeld\Documents\09 - Dissertation\04 Diss\08 Conferences\EURAM\20160603_EURAM Presentation_v1.pptx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og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57VsHTENLD_X6HLEgpxw"/>
</p:tagLst>
</file>

<file path=ppt/theme/theme1.xml><?xml version="1.0" encoding="utf-8"?>
<a:theme xmlns:a="http://schemas.openxmlformats.org/drawingml/2006/main" name="Blank Template (Microsoft)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40000"/>
            <a:lumOff val="60000"/>
          </a:schemeClr>
        </a:solidFill>
        <a:ln w="6350">
          <a:solidFill>
            <a:schemeClr val="accent6">
              <a:lumMod val="40000"/>
              <a:lumOff val="60000"/>
            </a:schemeClr>
          </a:solidFill>
        </a:ln>
      </a:spPr>
      <a:bodyPr lIns="36000" tIns="0" rIns="36000" bIns="0" rtlCol="0" anchor="ctr"/>
      <a:lstStyle>
        <a:defPPr algn="ctr">
          <a:defRPr sz="1400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sz="1400" dirty="0" smtClean="0">
            <a:latin typeface="Helvetica" pitchFamily="2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24711</TotalTime>
  <Words>68</Words>
  <Application>Microsoft Macintosh PowerPoint</Application>
  <PresentationFormat>On-screen Show (4:3)</PresentationFormat>
  <Paragraphs>24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Wingdings</vt:lpstr>
      <vt:lpstr>Blank Template (Microsoft)</vt:lpstr>
      <vt:lpstr>think-cell Slide</vt:lpstr>
      <vt:lpstr>Theory and phenemona nomological network interweaving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Leifeld</dc:creator>
  <cp:lastModifiedBy>Fox, Brian</cp:lastModifiedBy>
  <cp:revision>1768</cp:revision>
  <cp:lastPrinted>2017-04-19T21:34:28Z</cp:lastPrinted>
  <dcterms:created xsi:type="dcterms:W3CDTF">2015-01-27T14:28:57Z</dcterms:created>
  <dcterms:modified xsi:type="dcterms:W3CDTF">2024-02-13T16:45:25Z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2010EditCount">
    <vt:lpwstr>1</vt:lpwstr>
  </property>
  <property fmtid="{D5CDD505-2E9C-101B-9397-08002B2CF9AE}" pid="3" name="Office2003EditCount">
    <vt:lpwstr>0</vt:lpwstr>
  </property>
  <property fmtid="{D5CDD505-2E9C-101B-9397-08002B2CF9AE}" pid="4" name="LastEditedOfficeVersion">
    <vt:lpwstr>Office2010</vt:lpwstr>
  </property>
  <property fmtid="{D5CDD505-2E9C-101B-9397-08002B2CF9AE}" pid="5" name="Office2010WasSaved">
    <vt:lpwstr>1</vt:lpwstr>
  </property>
</Properties>
</file>