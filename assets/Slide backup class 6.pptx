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969" r:id="rId2"/>
  </p:sldIdLst>
  <p:sldSz cx="9144000" cy="6858000" type="screen4x3"/>
  <p:notesSz cx="7315200" cy="9601200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04D5E8A-9F95-4984-ADA0-7D0FC3DEC305}">
          <p14:sldIdLst>
            <p14:sldId id="9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750" userDrawn="1">
          <p15:clr>
            <a:srgbClr val="A4A3A4"/>
          </p15:clr>
        </p15:guide>
        <p15:guide id="3" pos="113" userDrawn="1">
          <p15:clr>
            <a:srgbClr val="A4A3A4"/>
          </p15:clr>
        </p15:guide>
        <p15:guide id="4" pos="56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ian Fox" initials="B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78BF"/>
    <a:srgbClr val="01072B"/>
    <a:srgbClr val="F7B2A7"/>
    <a:srgbClr val="BFC8FD"/>
    <a:srgbClr val="000B24"/>
    <a:srgbClr val="D6DADC"/>
    <a:srgbClr val="000F30"/>
    <a:srgbClr val="000E2F"/>
    <a:srgbClr val="1B2E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82" autoAdjust="0"/>
    <p:restoredTop sz="93690" autoAdjust="0"/>
  </p:normalViewPr>
  <p:slideViewPr>
    <p:cSldViewPr>
      <p:cViewPr>
        <p:scale>
          <a:sx n="139" d="100"/>
          <a:sy n="139" d="100"/>
        </p:scale>
        <p:origin x="752" y="-264"/>
      </p:cViewPr>
      <p:guideLst>
        <p:guide orient="horz" pos="2750"/>
        <p:guide pos="113"/>
        <p:guide pos="56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85" d="100"/>
          <a:sy n="85" d="100"/>
        </p:scale>
        <p:origin x="3756" y="52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tags" Target="tags/tag1.xml"/><Relationship Id="rId10" Type="http://schemas.openxmlformats.org/officeDocument/2006/relationships/tableStyles" Target="tableStyles.xml"/><Relationship Id="rId4" Type="http://schemas.openxmlformats.org/officeDocument/2006/relationships/handoutMaster" Target="handoutMasters/handout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0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90" y="0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r">
              <a:defRPr sz="1200"/>
            </a:lvl1pPr>
          </a:lstStyle>
          <a:p>
            <a:fld id="{1922B18C-0895-40C2-A98C-6A22ECA7D214}" type="datetimeFigureOut">
              <a:rPr lang="en-US" smtClean="0"/>
              <a:t>3/5/24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119475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90" y="9119475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r">
              <a:defRPr sz="1200"/>
            </a:lvl1pPr>
          </a:lstStyle>
          <a:p>
            <a:fld id="{7BF0A9E8-20EE-4FFE-BF50-7F2EA0FC1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1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0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90" y="0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r">
              <a:defRPr sz="1200"/>
            </a:lvl1pPr>
          </a:lstStyle>
          <a:p>
            <a:fld id="{7CEB82EE-7859-43C3-BD1F-7B4F0DAB0F46}" type="datetimeFigureOut">
              <a:rPr lang="en-US" smtClean="0"/>
              <a:t>3/5/24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60475" y="722313"/>
            <a:ext cx="4794250" cy="3595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0" tIns="45716" rIns="91430" bIns="45716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4" y="9119475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90" y="9119475"/>
            <a:ext cx="3169920" cy="480061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r">
              <a:defRPr sz="1200"/>
            </a:lvl1pPr>
          </a:lstStyle>
          <a:p>
            <a:fld id="{5ED5DB85-51F6-4F8B-9C9B-239CB5AE9C4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11191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0" y="0"/>
            <a:ext cx="9144000" cy="1340768"/>
          </a:xfrm>
          <a:prstGeom prst="rect">
            <a:avLst/>
          </a:prstGeom>
          <a:solidFill>
            <a:srgbClr val="1B2E67">
              <a:alpha val="70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511859" y="2141909"/>
            <a:ext cx="3981504" cy="984885"/>
          </a:xfrm>
          <a:prstGeom prst="rect">
            <a:avLst/>
          </a:prstGeom>
        </p:spPr>
        <p:txBody>
          <a:bodyPr lIns="0"/>
          <a:lstStyle>
            <a:lvl1pPr>
              <a:defRPr sz="3200" b="1" baseline="0">
                <a:solidFill>
                  <a:srgbClr val="0078BF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sp>
        <p:nvSpPr>
          <p:cNvPr id="8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511859" y="3425346"/>
            <a:ext cx="3981504" cy="21544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600" indent="0">
              <a:buFontTx/>
              <a:buNone/>
              <a:defRPr sz="14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</a:lstStyle>
          <a:p>
            <a:pPr lvl="0"/>
            <a:r>
              <a:rPr lang="en-US" noProof="0" dirty="0"/>
              <a:t>Click to edit Master subtitle style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5508104" y="2163553"/>
            <a:ext cx="0" cy="3605048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0"/>
          <p:cNvSpPr>
            <a:spLocks noGrp="1"/>
          </p:cNvSpPr>
          <p:nvPr>
            <p:ph type="body" sz="quarter" idx="10"/>
          </p:nvPr>
        </p:nvSpPr>
        <p:spPr>
          <a:xfrm>
            <a:off x="512515" y="5515894"/>
            <a:ext cx="3981450" cy="215444"/>
          </a:xfrm>
          <a:prstGeom prst="rect">
            <a:avLst/>
          </a:prstGeom>
        </p:spPr>
        <p:txBody>
          <a:bodyPr/>
          <a:lstStyle>
            <a:lvl1pPr marL="3600" indent="0">
              <a:buFontTx/>
              <a:buNone/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0" y="1"/>
            <a:ext cx="9144000" cy="1340767"/>
          </a:xfrm>
          <a:prstGeom prst="rect">
            <a:avLst/>
          </a:prstGeom>
          <a:solidFill>
            <a:srgbClr val="0078B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/>
          <p:cNvSpPr/>
          <p:nvPr userDrawn="1"/>
        </p:nvSpPr>
        <p:spPr>
          <a:xfrm>
            <a:off x="0" y="6597351"/>
            <a:ext cx="9144000" cy="262247"/>
          </a:xfrm>
          <a:prstGeom prst="rect">
            <a:avLst/>
          </a:prstGeom>
          <a:solidFill>
            <a:srgbClr val="D6DADC"/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839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0" y="6590976"/>
            <a:ext cx="9144000" cy="267023"/>
          </a:xfrm>
          <a:prstGeom prst="rect">
            <a:avLst/>
          </a:prstGeom>
          <a:solidFill>
            <a:srgbClr val="D6DADC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Title Placeholder 2"/>
          <p:cNvSpPr>
            <a:spLocks noGrp="1" noChangeArrowheads="1"/>
          </p:cNvSpPr>
          <p:nvPr>
            <p:ph type="title"/>
          </p:nvPr>
        </p:nvSpPr>
        <p:spPr bwMode="auto">
          <a:xfrm>
            <a:off x="134860" y="289804"/>
            <a:ext cx="774950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rgbClr val="0078BF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pPr lvl="0"/>
            <a:r>
              <a:rPr lang="en-US" noProof="0" dirty="0"/>
              <a:t>Click to edit Master</a:t>
            </a:r>
          </a:p>
        </p:txBody>
      </p:sp>
      <p:sp>
        <p:nvSpPr>
          <p:cNvPr id="8" name="Slide Number"/>
          <p:cNvSpPr txBox="1">
            <a:spLocks/>
          </p:cNvSpPr>
          <p:nvPr userDrawn="1"/>
        </p:nvSpPr>
        <p:spPr>
          <a:xfrm>
            <a:off x="8721120" y="6660138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>
              <a:defRPr sz="1000" baseline="0">
                <a:latin typeface="+mn-lt"/>
              </a:defRPr>
            </a:lvl1pPr>
          </a:lstStyle>
          <a:p>
            <a:pPr lvl="0"/>
            <a:fld id="{42C328C1-A84F-4A39-A664-DBA00541A8C6}" type="slidenum">
              <a:rPr lang="en-US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pPr lvl="0"/>
              <a:t>‹#›</a:t>
            </a:fld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SlideLogoSeparator"/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8608985" y="6633206"/>
            <a:ext cx="40076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noAutofit/>
          </a:bodyPr>
          <a:lstStyle/>
          <a:p>
            <a:pPr algn="r" defTabSz="895350"/>
            <a:r>
              <a:rPr lang="en-US" sz="120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|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1" hasCustomPrompt="1"/>
          </p:nvPr>
        </p:nvSpPr>
        <p:spPr>
          <a:xfrm>
            <a:off x="134860" y="66140"/>
            <a:ext cx="7749508" cy="215444"/>
          </a:xfrm>
          <a:prstGeom prst="rect">
            <a:avLst/>
          </a:prstGeom>
        </p:spPr>
        <p:txBody>
          <a:bodyPr lIns="0" tIns="0" rIns="0" bIns="0" anchor="ctr"/>
          <a:lstStyle>
            <a:lvl1pPr marL="3600" indent="0">
              <a:buFontTx/>
              <a:buNone/>
              <a:defRPr sz="1400" b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TRACKER</a:t>
            </a:r>
          </a:p>
        </p:txBody>
      </p:sp>
      <p:cxnSp>
        <p:nvCxnSpPr>
          <p:cNvPr id="21" name="Straight Connector 20"/>
          <p:cNvCxnSpPr/>
          <p:nvPr userDrawn="1"/>
        </p:nvCxnSpPr>
        <p:spPr>
          <a:xfrm>
            <a:off x="7989173" y="66140"/>
            <a:ext cx="0" cy="105843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McK 1. On-page tracker"/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134860" y="6647543"/>
            <a:ext cx="2685030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000" noProof="1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Brian</a:t>
            </a:r>
            <a:r>
              <a:rPr lang="en-US" sz="100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Fox | Bentley University | November 2023</a:t>
            </a:r>
            <a:endParaRPr lang="en-US" sz="1000" noProof="1">
              <a:solidFill>
                <a:schemeClr val="tx1">
                  <a:lumMod val="75000"/>
                  <a:lumOff val="2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292" name="Text Placeholder 12291"/>
          <p:cNvSpPr>
            <a:spLocks noGrp="1"/>
          </p:cNvSpPr>
          <p:nvPr>
            <p:ph type="body" sz="quarter" idx="14" hasCustomPrompt="1"/>
          </p:nvPr>
        </p:nvSpPr>
        <p:spPr>
          <a:xfrm>
            <a:off x="134860" y="1012401"/>
            <a:ext cx="7245452" cy="215444"/>
          </a:xfrm>
        </p:spPr>
        <p:txBody>
          <a:bodyPr tIns="0" rIns="0" bIns="0"/>
          <a:lstStyle>
            <a:lvl1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03" name="Text Placeholder 12291"/>
          <p:cNvSpPr>
            <a:spLocks noGrp="1"/>
          </p:cNvSpPr>
          <p:nvPr>
            <p:ph type="body" sz="quarter" idx="15" hasCustomPrompt="1"/>
          </p:nvPr>
        </p:nvSpPr>
        <p:spPr>
          <a:xfrm>
            <a:off x="134860" y="6359812"/>
            <a:ext cx="7245452" cy="153888"/>
          </a:xfrm>
        </p:spPr>
        <p:txBody>
          <a:bodyPr tIns="0" rIns="0" bIns="0"/>
          <a:lstStyle>
            <a:lvl1pPr>
              <a:defRPr sz="10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source</a:t>
            </a:r>
          </a:p>
        </p:txBody>
      </p:sp>
      <p:sp>
        <p:nvSpPr>
          <p:cNvPr id="15" name="McK 1. On-page tracker"/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4227387" y="6647543"/>
            <a:ext cx="689291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000" noProof="1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OT Seminar</a:t>
            </a:r>
          </a:p>
        </p:txBody>
      </p:sp>
      <p:sp>
        <p:nvSpPr>
          <p:cNvPr id="18" name="McK 1. On-page tracker"/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6813840" y="6660138"/>
            <a:ext cx="1718420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000" noProof="1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For Discussion</a:t>
            </a:r>
            <a:r>
              <a:rPr lang="en-US" sz="1000" baseline="0" noProof="1">
                <a:solidFill>
                  <a:schemeClr val="tx1">
                    <a:lumMod val="75000"/>
                    <a:lumOff val="2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Purposes Only</a:t>
            </a:r>
            <a:endParaRPr lang="en-US" sz="1000" noProof="1">
              <a:solidFill>
                <a:schemeClr val="tx1">
                  <a:lumMod val="75000"/>
                  <a:lumOff val="2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7" name="Picture 16">
            <a:hlinkClick r:id="" action="ppaction://noaction"/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209" y="0"/>
            <a:ext cx="919651" cy="124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947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82E67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34309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/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83943201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Placeholder 19"/>
          <p:cNvSpPr>
            <a:spLocks noGrp="1"/>
          </p:cNvSpPr>
          <p:nvPr>
            <p:ph type="body" idx="1"/>
          </p:nvPr>
        </p:nvSpPr>
        <p:spPr>
          <a:xfrm>
            <a:off x="134860" y="908720"/>
            <a:ext cx="4042792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86271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6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000" b="1" kern="1200">
          <a:solidFill>
            <a:schemeClr val="accent6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Wingdings" pitchFamily="2" charset="2"/>
        <a:buNone/>
        <a:tabLst/>
        <a:defRPr sz="1400" b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0" indent="-194400" algn="l" defTabSz="914400" rtl="0" eaLnBrk="1" latinLnBrk="0" hangingPunct="1">
        <a:spcBef>
          <a:spcPts val="0"/>
        </a:spcBef>
        <a:buFont typeface="Wingdings" pitchFamily="2" charset="2"/>
        <a:buChar char="§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457200" indent="-154800" algn="l" defTabSz="914400" rtl="0" eaLnBrk="1" latinLnBrk="0" hangingPunct="1">
        <a:spcBef>
          <a:spcPts val="0"/>
        </a:spcBef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615600" indent="-129600" algn="l" defTabSz="914400" rtl="0" eaLnBrk="1" latinLnBrk="0" hangingPunct="1">
        <a:spcBef>
          <a:spcPts val="0"/>
        </a:spcBef>
        <a:buSzPct val="60000"/>
        <a:buFont typeface="Arial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748800" indent="-129600" algn="l" defTabSz="914400" rtl="0" eaLnBrk="1" latinLnBrk="0" hangingPunct="1">
        <a:spcBef>
          <a:spcPts val="0"/>
        </a:spcBef>
        <a:buSzPct val="60000"/>
        <a:buFont typeface="Arial" pitchFamily="34" charset="0"/>
        <a:buChar char="»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815F4-EAB1-8C00-E676-859483B98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371D0-A1D3-4E14-A0D4-70B87B9AA69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041AB9-17BB-3B0E-C0FB-CCE54859AF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D7130F-71BC-0598-F8A6-359BAAE2BE7E}"/>
              </a:ext>
            </a:extLst>
          </p:cNvPr>
          <p:cNvSpPr/>
          <p:nvPr/>
        </p:nvSpPr>
        <p:spPr>
          <a:xfrm>
            <a:off x="116437" y="2276397"/>
            <a:ext cx="2088232" cy="307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Specific case / situation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F4ED28-767C-50BF-F9FC-E1E52676AB20}"/>
              </a:ext>
            </a:extLst>
          </p:cNvPr>
          <p:cNvSpPr/>
          <p:nvPr/>
        </p:nvSpPr>
        <p:spPr>
          <a:xfrm>
            <a:off x="2965308" y="2346347"/>
            <a:ext cx="2088232" cy="122413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Construct of interest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FDDB7A-7C78-5632-7196-60460993784D}"/>
              </a:ext>
            </a:extLst>
          </p:cNvPr>
          <p:cNvSpPr/>
          <p:nvPr/>
        </p:nvSpPr>
        <p:spPr>
          <a:xfrm>
            <a:off x="2104741" y="4118673"/>
            <a:ext cx="1159062" cy="4761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Measure 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3E3560-96F1-A560-C722-1DF04A8C047E}"/>
              </a:ext>
            </a:extLst>
          </p:cNvPr>
          <p:cNvSpPr/>
          <p:nvPr/>
        </p:nvSpPr>
        <p:spPr>
          <a:xfrm>
            <a:off x="116437" y="3294381"/>
            <a:ext cx="2088232" cy="307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Specific case / situation 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42EBF-BC17-77F0-D38F-79EDC1C8D8DC}"/>
              </a:ext>
            </a:extLst>
          </p:cNvPr>
          <p:cNvSpPr/>
          <p:nvPr/>
        </p:nvSpPr>
        <p:spPr>
          <a:xfrm>
            <a:off x="116437" y="2812768"/>
            <a:ext cx="2088232" cy="307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Specific case / situation 2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2F0DBC4-B783-663F-0B91-78E2EE9EBD63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2204669" y="2430286"/>
            <a:ext cx="760639" cy="52812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024745B-2851-8289-7A5A-72B02DD78250}"/>
              </a:ext>
            </a:extLst>
          </p:cNvPr>
          <p:cNvCxnSpPr>
            <a:cxnSpLocks/>
            <a:stCxn id="18" idx="3"/>
            <a:endCxn id="7" idx="1"/>
          </p:cNvCxnSpPr>
          <p:nvPr/>
        </p:nvCxnSpPr>
        <p:spPr>
          <a:xfrm flipV="1">
            <a:off x="2204669" y="2958415"/>
            <a:ext cx="760639" cy="824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19E34AA-C95F-3819-300D-B078724A3654}"/>
              </a:ext>
            </a:extLst>
          </p:cNvPr>
          <p:cNvCxnSpPr>
            <a:cxnSpLocks/>
            <a:stCxn id="17" idx="3"/>
            <a:endCxn id="7" idx="1"/>
          </p:cNvCxnSpPr>
          <p:nvPr/>
        </p:nvCxnSpPr>
        <p:spPr>
          <a:xfrm flipV="1">
            <a:off x="2204669" y="2958415"/>
            <a:ext cx="760639" cy="48985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22BA1C5C-5E93-70B6-9E0C-3FF91DFEB966}"/>
              </a:ext>
            </a:extLst>
          </p:cNvPr>
          <p:cNvSpPr/>
          <p:nvPr/>
        </p:nvSpPr>
        <p:spPr>
          <a:xfrm>
            <a:off x="3421813" y="4892660"/>
            <a:ext cx="1159062" cy="4761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Measure 2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0C492F0-8F8E-F9A4-F49F-214BE37CAD45}"/>
              </a:ext>
            </a:extLst>
          </p:cNvPr>
          <p:cNvSpPr/>
          <p:nvPr/>
        </p:nvSpPr>
        <p:spPr>
          <a:xfrm>
            <a:off x="4738885" y="4891676"/>
            <a:ext cx="1159062" cy="4761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Measure 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5CAC08F-E262-7CC0-4BAB-E90FFF278325}"/>
              </a:ext>
            </a:extLst>
          </p:cNvPr>
          <p:cNvSpPr/>
          <p:nvPr/>
        </p:nvSpPr>
        <p:spPr>
          <a:xfrm>
            <a:off x="6261559" y="2338416"/>
            <a:ext cx="2088232" cy="122413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Predictor of interest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ED51441-5F53-13C0-199B-C0C293B44BF6}"/>
              </a:ext>
            </a:extLst>
          </p:cNvPr>
          <p:cNvCxnSpPr>
            <a:cxnSpLocks/>
            <a:stCxn id="7" idx="3"/>
            <a:endCxn id="50" idx="1"/>
          </p:cNvCxnSpPr>
          <p:nvPr/>
        </p:nvCxnSpPr>
        <p:spPr>
          <a:xfrm flipV="1">
            <a:off x="5053540" y="2950484"/>
            <a:ext cx="1208019" cy="793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760516A2-0D95-669D-166C-184E7ADBD89A}"/>
              </a:ext>
            </a:extLst>
          </p:cNvPr>
          <p:cNvSpPr/>
          <p:nvPr/>
        </p:nvSpPr>
        <p:spPr>
          <a:xfrm>
            <a:off x="6726144" y="4867396"/>
            <a:ext cx="1159062" cy="47610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/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itchFamily="2" charset="0"/>
              </a:rPr>
              <a:t>Measure a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571BB7A-B387-5AD5-623B-348F13133B64}"/>
              </a:ext>
            </a:extLst>
          </p:cNvPr>
          <p:cNvCxnSpPr>
            <a:cxnSpLocks/>
          </p:cNvCxnSpPr>
          <p:nvPr/>
        </p:nvCxnSpPr>
        <p:spPr>
          <a:xfrm>
            <a:off x="5318416" y="5547878"/>
            <a:ext cx="2088899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8FDEA57-6703-D5D2-1D2C-85B625BEE5C9}"/>
              </a:ext>
            </a:extLst>
          </p:cNvPr>
          <p:cNvCxnSpPr>
            <a:cxnSpLocks/>
          </p:cNvCxnSpPr>
          <p:nvPr/>
        </p:nvCxnSpPr>
        <p:spPr>
          <a:xfrm>
            <a:off x="2377363" y="6051934"/>
            <a:ext cx="3202749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4D61EFB4-C4D7-F194-A42B-A6725FA317CB}"/>
              </a:ext>
            </a:extLst>
          </p:cNvPr>
          <p:cNvSpPr txBox="1"/>
          <p:nvPr/>
        </p:nvSpPr>
        <p:spPr>
          <a:xfrm>
            <a:off x="3263803" y="6153348"/>
            <a:ext cx="1522853" cy="21544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dirty="0">
                <a:solidFill>
                  <a:srgbClr val="FF0000"/>
                </a:solidFill>
                <a:latin typeface="Helvetica" pitchFamily="2" charset="0"/>
              </a:rPr>
              <a:t>Convergent validity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175D3F9-86CB-5B02-6C89-28C38E1A2B4A}"/>
              </a:ext>
            </a:extLst>
          </p:cNvPr>
          <p:cNvSpPr txBox="1"/>
          <p:nvPr/>
        </p:nvSpPr>
        <p:spPr>
          <a:xfrm>
            <a:off x="5580720" y="5629914"/>
            <a:ext cx="1583767" cy="21544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dirty="0">
                <a:solidFill>
                  <a:srgbClr val="FF0000"/>
                </a:solidFill>
                <a:latin typeface="Helvetica" pitchFamily="2" charset="0"/>
              </a:rPr>
              <a:t>Discriminant validity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E7B1D3D-4628-037B-FC5F-1F84D6E5CB42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2684272" y="3570483"/>
            <a:ext cx="1325152" cy="54819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6B81A0EA-76C9-1CE6-A07F-AD9C8D69EC58}"/>
              </a:ext>
            </a:extLst>
          </p:cNvPr>
          <p:cNvCxnSpPr>
            <a:cxnSpLocks/>
            <a:stCxn id="7" idx="2"/>
            <a:endCxn id="49" idx="0"/>
          </p:cNvCxnSpPr>
          <p:nvPr/>
        </p:nvCxnSpPr>
        <p:spPr>
          <a:xfrm>
            <a:off x="4009424" y="3570483"/>
            <a:ext cx="1308992" cy="132119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3885F709-14C7-DB75-1910-828B99C6A2EE}"/>
              </a:ext>
            </a:extLst>
          </p:cNvPr>
          <p:cNvCxnSpPr>
            <a:cxnSpLocks/>
            <a:stCxn id="7" idx="2"/>
            <a:endCxn id="48" idx="0"/>
          </p:cNvCxnSpPr>
          <p:nvPr/>
        </p:nvCxnSpPr>
        <p:spPr>
          <a:xfrm flipH="1">
            <a:off x="4001344" y="3570483"/>
            <a:ext cx="8080" cy="1322177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74A4684-2142-3380-8E61-35E01229D25C}"/>
              </a:ext>
            </a:extLst>
          </p:cNvPr>
          <p:cNvCxnSpPr>
            <a:cxnSpLocks/>
            <a:stCxn id="50" idx="2"/>
            <a:endCxn id="55" idx="0"/>
          </p:cNvCxnSpPr>
          <p:nvPr/>
        </p:nvCxnSpPr>
        <p:spPr>
          <a:xfrm>
            <a:off x="7305675" y="3562552"/>
            <a:ext cx="0" cy="1304844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827FB55-45A7-3939-1FDB-7F5B9D2C1701}"/>
              </a:ext>
            </a:extLst>
          </p:cNvPr>
          <p:cNvCxnSpPr>
            <a:cxnSpLocks/>
          </p:cNvCxnSpPr>
          <p:nvPr/>
        </p:nvCxnSpPr>
        <p:spPr>
          <a:xfrm>
            <a:off x="822480" y="1988840"/>
            <a:ext cx="3202749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019AD243-650E-4CC7-85E6-35B79AA1FCFE}"/>
              </a:ext>
            </a:extLst>
          </p:cNvPr>
          <p:cNvSpPr txBox="1"/>
          <p:nvPr/>
        </p:nvSpPr>
        <p:spPr>
          <a:xfrm>
            <a:off x="1627684" y="1677906"/>
            <a:ext cx="1712007" cy="21544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dirty="0">
                <a:solidFill>
                  <a:srgbClr val="FF0000"/>
                </a:solidFill>
                <a:latin typeface="Helvetica" pitchFamily="2" charset="0"/>
              </a:rPr>
              <a:t>Content / face validity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65375C-5648-E85F-DD22-F27E9264730C}"/>
              </a:ext>
            </a:extLst>
          </p:cNvPr>
          <p:cNvSpPr txBox="1"/>
          <p:nvPr/>
        </p:nvSpPr>
        <p:spPr>
          <a:xfrm>
            <a:off x="5335693" y="2452971"/>
            <a:ext cx="676467" cy="430887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400" dirty="0">
                <a:solidFill>
                  <a:srgbClr val="FF0000"/>
                </a:solidFill>
                <a:latin typeface="Helvetica" pitchFamily="2" charset="0"/>
              </a:rPr>
              <a:t>Criterion</a:t>
            </a:r>
          </a:p>
          <a:p>
            <a:pPr algn="l"/>
            <a:r>
              <a:rPr lang="en-US" sz="1400" dirty="0">
                <a:solidFill>
                  <a:srgbClr val="FF0000"/>
                </a:solidFill>
                <a:latin typeface="Helvetica" pitchFamily="2" charset="0"/>
              </a:rPr>
              <a:t> validity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B41117B-4FDD-AECC-5617-B3C5D38B0890}"/>
              </a:ext>
            </a:extLst>
          </p:cNvPr>
          <p:cNvSpPr txBox="1"/>
          <p:nvPr/>
        </p:nvSpPr>
        <p:spPr>
          <a:xfrm>
            <a:off x="467544" y="4375225"/>
            <a:ext cx="137078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latin typeface="Helvetica" pitchFamily="2" charset="0"/>
              </a:rPr>
              <a:t>Construct validity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65E0E7CC-F123-1780-4F6C-9EF11D3404E1}"/>
              </a:ext>
            </a:extLst>
          </p:cNvPr>
          <p:cNvCxnSpPr>
            <a:cxnSpLocks/>
          </p:cNvCxnSpPr>
          <p:nvPr/>
        </p:nvCxnSpPr>
        <p:spPr>
          <a:xfrm>
            <a:off x="1979712" y="3861048"/>
            <a:ext cx="0" cy="1482452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8077E134-9F9C-377D-D4A2-C2A4581CAA3C}"/>
              </a:ext>
            </a:extLst>
          </p:cNvPr>
          <p:cNvCxnSpPr>
            <a:cxnSpLocks/>
          </p:cNvCxnSpPr>
          <p:nvPr/>
        </p:nvCxnSpPr>
        <p:spPr>
          <a:xfrm>
            <a:off x="0" y="4725144"/>
            <a:ext cx="9144000" cy="0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35CEE4A8-D05E-9493-05C5-C0AF0F407B86}"/>
              </a:ext>
            </a:extLst>
          </p:cNvPr>
          <p:cNvSpPr txBox="1"/>
          <p:nvPr/>
        </p:nvSpPr>
        <p:spPr>
          <a:xfrm>
            <a:off x="8100392" y="4797983"/>
            <a:ext cx="888064" cy="16158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050" dirty="0">
                <a:solidFill>
                  <a:srgbClr val="00B050"/>
                </a:solidFill>
                <a:latin typeface="Helvetica" pitchFamily="2" charset="0"/>
              </a:rPr>
              <a:t>Individual level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BBB397F-0A3D-484A-BA89-15507A36005D}"/>
              </a:ext>
            </a:extLst>
          </p:cNvPr>
          <p:cNvSpPr txBox="1"/>
          <p:nvPr/>
        </p:nvSpPr>
        <p:spPr>
          <a:xfrm>
            <a:off x="8100392" y="4519190"/>
            <a:ext cx="690895" cy="161583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en-US" sz="1050" dirty="0">
                <a:solidFill>
                  <a:srgbClr val="00B050"/>
                </a:solidFill>
                <a:latin typeface="Helvetica" pitchFamily="2" charset="0"/>
              </a:rPr>
              <a:t>Group level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07FAB319-4004-1026-2E46-C37DEC26CDF5}"/>
              </a:ext>
            </a:extLst>
          </p:cNvPr>
          <p:cNvCxnSpPr>
            <a:cxnSpLocks/>
          </p:cNvCxnSpPr>
          <p:nvPr/>
        </p:nvCxnSpPr>
        <p:spPr>
          <a:xfrm>
            <a:off x="6043460" y="4154365"/>
            <a:ext cx="0" cy="114983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92669E0B-D1AF-6444-2904-B240FFE7088F}"/>
              </a:ext>
            </a:extLst>
          </p:cNvPr>
          <p:cNvSpPr txBox="1"/>
          <p:nvPr/>
        </p:nvSpPr>
        <p:spPr>
          <a:xfrm>
            <a:off x="5897947" y="4274559"/>
            <a:ext cx="1370780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latin typeface="Helvetica" pitchFamily="2" charset="0"/>
              </a:rPr>
              <a:t>Dimensional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  <a:latin typeface="Helvetica" pitchFamily="2" charset="0"/>
              </a:rPr>
              <a:t>validity</a:t>
            </a:r>
          </a:p>
        </p:txBody>
      </p:sp>
    </p:spTree>
    <p:extLst>
      <p:ext uri="{BB962C8B-B14F-4D97-AF65-F5344CB8AC3E}">
        <p14:creationId xmlns:p14="http://schemas.microsoft.com/office/powerpoint/2010/main" val="7414334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VERSION" val="2008"/>
  <p:tag name="USESECONDARYMONITOR" val="True"/>
  <p:tag name="ANSWERNOWSTYLE" val="-1"/>
  <p:tag name="RESPCOUNTERFORMAT" val="0"/>
  <p:tag name="NUMRESPONSES" val="1"/>
  <p:tag name="CHARTVALUEFORMAT" val="0%"/>
  <p:tag name="AUTOUPDATEALIASES" val="True"/>
  <p:tag name="RACEANIMATIONSPEED" val="3"/>
  <p:tag name="MAXRESPONDERS" val="5"/>
  <p:tag name="BUBBLEGROUPING" val="3"/>
  <p:tag name="CUSTOMCELLBACKCOLOR1" val="-657956"/>
  <p:tag name="USESCHEMECOLORS" val="True"/>
  <p:tag name="GRIDOPACITY" val="90"/>
  <p:tag name="GRIDPOSITION" val="1"/>
  <p:tag name="CHARTLABELS" val="1"/>
  <p:tag name="INCLUDEPPT" val="True"/>
  <p:tag name="REALTIMEBACKUP" val="False"/>
  <p:tag name="CHARTSCALE" val="True"/>
  <p:tag name="FIBINCLUDEOTHER" val="True"/>
  <p:tag name="PRRESPONSE3" val="8"/>
  <p:tag name="PRRESPONSE7" val="4"/>
  <p:tag name="SHOWFLASHWARNING" val="True"/>
  <p:tag name="SAVECSVWITHSESSION" val="True"/>
  <p:tag name="COUNTDOWNSTYLE" val="-1"/>
  <p:tag name="INPUTSOURCE" val="1"/>
  <p:tag name="AUTOADVANCE" val="False"/>
  <p:tag name="RACEENDPOINTS" val="100"/>
  <p:tag name="TEAMSINLEADERBOARD" val="5"/>
  <p:tag name="DEFAULTNUMTEAMS" val="5"/>
  <p:tag name="CUSTOMCELLBACKCOLOR3" val="-268652"/>
  <p:tag name="DISPLAYDEVICEID" val="True"/>
  <p:tag name="GRIDFONTSIZE" val="12"/>
  <p:tag name="INCLUDENONRESPONDERS" val="False"/>
  <p:tag name="INCORRECTPOINTVALUE" val="0"/>
  <p:tag name="ADVANCEDSETTINGSVIEW" val="False"/>
  <p:tag name="PRRESPONSE1" val="10"/>
  <p:tag name="PRRESPONSE6" val="5"/>
  <p:tag name="ALWAYSOPENPOLL" val="False"/>
  <p:tag name="SHOWBARVISIBLE" val="True"/>
  <p:tag name="ANSWERNOWTEXT" val="Answer Now"/>
  <p:tag name="ALLOWDUPLICATES" val="False"/>
  <p:tag name="ROTATIONINTERVAL" val="2"/>
  <p:tag name="PARTICIPANTSINLEADERBOARD" val="5"/>
  <p:tag name="CUSTOMGRIDBACKCOLOR" val="-2830136"/>
  <p:tag name="DISPLAYNAME" val="True"/>
  <p:tag name="GRIDSIZE" val="{Width=800, Height=600}"/>
  <p:tag name="MULTIRESPDIVISOR" val="1"/>
  <p:tag name="ZEROBASED" val="False"/>
  <p:tag name="FIBDISPLAYKEYWORDS" val="True"/>
  <p:tag name="PRRESPONSE8" val="3"/>
  <p:tag name="BULLETTYPE" val="3"/>
  <p:tag name="BACKUPSESSIONS" val="True"/>
  <p:tag name="RACERSMAXDISPLAYED" val="5"/>
  <p:tag name="BUBBLEVALUEFORMAT" val="0.0"/>
  <p:tag name="DISPLAYDEVICENUMBER" val="True"/>
  <p:tag name="CHARTCOLORS" val="0"/>
  <p:tag name="REALTIMEBACKUPPATH" val="(None)"/>
  <p:tag name="PRRESPONSE2" val="9"/>
  <p:tag name="PRRESPONSE10" val="1"/>
  <p:tag name="CSVFORMAT" val="0"/>
  <p:tag name="BACKUPMAINTENANCE" val="7"/>
  <p:tag name="BUBBLENAMEVISIBLE" val="True"/>
  <p:tag name="CUSTOMCELLBACKCOLOR4" val="-8355712"/>
  <p:tag name="RESETCHARTS" val="True"/>
  <p:tag name="FIBDISPLAYRESULTS" val="True"/>
  <p:tag name="PRRESPONSE9" val="2"/>
  <p:tag name="RESPCOUNTERSTYLE" val="-1"/>
  <p:tag name="STDCHART" val="1"/>
  <p:tag name="CUSTOMCELLBACKCOLOR2" val="-13395457"/>
  <p:tag name="ALLOWUSERFEEDBACK" val="True"/>
  <p:tag name="PRRESPONSE4" val="7"/>
  <p:tag name="EXPANDSHOWBAR" val="True"/>
  <p:tag name="SKIPREMAININGRACESLIDES" val="True"/>
  <p:tag name="AUTOSIZEGRID" val="True"/>
  <p:tag name="FIBNUMRESULTS" val="5"/>
  <p:tag name="RESPTABLESTYLE" val="-1"/>
  <p:tag name="CUSTOMCELLFORECOLOR" val="-16777216"/>
  <p:tag name="AUTOADJUSTPARTRANGE" val="True"/>
  <p:tag name="COUNTDOWNSECONDS" val="10"/>
  <p:tag name="POLLINGCYCLE" val="2"/>
  <p:tag name="POWERPOINTVERSION" val="14.0"/>
  <p:tag name="CORRECTPOINTVALUE" val="1"/>
  <p:tag name="BUBBLESIZEVISIBLE" val="True"/>
  <p:tag name="REVIEWONLY" val="False"/>
  <p:tag name="GRIDROTATIONINTERVAL" val="2"/>
  <p:tag name="PRRESPONSE5" val="6"/>
  <p:tag name="DELIMITERS" val="3.1"/>
  <p:tag name="TASKPANEKEY" val="1ae76107-f3e0-4c9e-9a2f-35213e7a9b49"/>
  <p:tag name="TPFULLVERSION" val="4.5.1.2243"/>
  <p:tag name="INCLUDESESSION" val="True"/>
  <p:tag name="ISPRING_RESOURCE_PATHS_HASH_PRESENTER" val="36eeff7948365877e17741f6da38fc33960cf9d"/>
  <p:tag name="THINKCELLPRESENTATIONDONOTDELETE" val="&lt;?xml version=&quot;1.0&quot; encoding=&quot;UTF-16&quot; standalone=&quot;yes&quot;?&gt;&#10;&lt;root reqver=&quot;21047&quot;&gt;&lt;version val=&quot;23256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/m_precDefaultPercent&gt;&lt;m_precDefaultDate&gt;&lt;m_bNumberIsYear val=&quot;0&quot;/&gt;&lt;m_strFormatTime&gt;%d-%1-%Y&lt;/m_strFormatTime&gt;&lt;/m_precDefaultDate&gt;&lt;m_precDefaultYear&gt;&lt;m_bNumberIsYear val=&quot;0&quot;/&gt;&lt;m_strFormatTime&gt;%Y&lt;/m_strFormatTime&gt;&lt;/m_precDefaultYear&gt;&lt;m_precDefaultQuarter&gt;&lt;m_bNumberIsYear val=&quot;0&quot;/&gt;&lt;m_strFormatTime&gt;Q%5&lt;/m_strFormatTime&gt;&lt;/m_precDefaultQuarter&gt;&lt;m_precDefaultMonth&gt;&lt;m_bNumberIsYear val=&quot;0&quot;/&gt;&lt;m_strFormatTime&gt;%#m&lt;/m_strFormatTime&gt;&lt;/m_precDefaultMonth&gt;&lt;m_precDefaultWeek&gt;&lt;m_bNumberIsYear val=&quot;0&quot;/&gt;&lt;m_strFormatTime&gt;%4&lt;/m_strFormatTime&gt;&lt;/m_precDefaultWeek&gt;&lt;m_precDefaultDay&gt;&lt;m_bNumberIsYear val=&quot;0&quot;/&gt;&lt;m_strFormatTime&gt;%d&lt;/m_strFormatTime&gt;&lt;/m_precDefaultDay&gt;&lt;m_mruColor&gt;&lt;m_vecMRU length=&quot;3&quot;&gt;&lt;elem m_fUsage=&quot;4.85364711931390060000E+000&quot;&gt;&lt;m_msothmcolidx val=&quot;0&quot;/&gt;&lt;m_rgb r=&quot;76&quot; g=&quot;a3&quot; b=&quot;32&quot;/&gt;&lt;m_ppcolschidx tagver0=&quot;23004&quot; tagname0=&quot;m_ppcolschidxUNRECOGNIZED&quot; val=&quot;0&quot;/&gt;&lt;m_nBrightness val=&quot;0&quot;/&gt;&lt;/elem&gt;&lt;elem m_fUsage=&quot;2.19618459900000000000E+000&quot;&gt;&lt;m_msothmcolidx val=&quot;0&quot;/&gt;&lt;m_rgb r=&quot;db&quot; g=&quot;e7&quot; b=&quot;b6&quot;/&gt;&lt;m_ppcolschidx tagver0=&quot;23004&quot; tagname0=&quot;m_ppcolschidxUNRECOGNIZED&quot; val=&quot;0&quot;/&gt;&lt;m_nBrightness val=&quot;0&quot;/&gt;&lt;/elem&gt;&lt;elem m_fUsage=&quot;1.28245011171944330000E+000&quot;&gt;&lt;m_msothmcolidx val=&quot;0&quot;/&gt;&lt;m_rgb r=&quot;49&quot; g=&quot;a2&quot; b=&quot;33&quot;/&gt;&lt;m_ppcolschidx tagver0=&quot;23004&quot; tagname0=&quot;m_ppcolschidxUNRECOGNIZED&quot; val=&quot;0&quot;/&gt;&lt;m_nBrightness val=&quot;0&quot;/&gt;&lt;/elem&gt;&lt;/m_vecMRU&gt;&lt;/m_mruColor&gt;&lt;m_eweekdayFirstOfWeek val=&quot;2&quot;/&gt;&lt;m_eweekdayFirstOfWorkweek val=&quot;2&quot;/&gt;&lt;m_eweekdayFirstOfWeekend val=&quot;7&quot;/&gt;&lt;/CPresentation&gt;&lt;/root&gt;"/>
  <p:tag name="ISNEWSLIDENUMBER" val="True"/>
  <p:tag name="PREVIOUSNAME" val="C:\Users\Christopher Leifeld\Documents\09 - Dissertation\04 Diss\08 Conferences\EURAM\20160603_EURAM Presentation_v1.pptx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ogo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</p:tagLst>
</file>

<file path=ppt/theme/theme1.xml><?xml version="1.0" encoding="utf-8"?>
<a:theme xmlns:a="http://schemas.openxmlformats.org/drawingml/2006/main" name="Blank Template (Microsoft)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>
            <a:lumMod val="40000"/>
            <a:lumOff val="60000"/>
          </a:schemeClr>
        </a:solidFill>
        <a:ln w="6350">
          <a:solidFill>
            <a:schemeClr val="accent6">
              <a:lumMod val="40000"/>
              <a:lumOff val="60000"/>
            </a:schemeClr>
          </a:solidFill>
        </a:ln>
      </a:spPr>
      <a:bodyPr lIns="36000" tIns="0" rIns="36000" bIns="0" rtlCol="0" anchor="ctr"/>
      <a:lstStyle>
        <a:defPPr algn="ctr">
          <a:defRPr sz="1400" dirty="0" smtClean="0">
            <a:solidFill>
              <a:schemeClr val="tx1">
                <a:lumMod val="65000"/>
                <a:lumOff val="3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none" lIns="0" tIns="0" rIns="0" bIns="0" rtlCol="0">
        <a:spAutoFit/>
      </a:bodyPr>
      <a:lstStyle>
        <a:defPPr algn="l">
          <a:defRPr sz="1400" dirty="0" smtClean="0">
            <a:latin typeface="Helvetica" pitchFamily="2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24703</TotalTime>
  <Words>48</Words>
  <Application>Microsoft Macintosh PowerPoint</Application>
  <PresentationFormat>On-screen Show (4:3)</PresentationFormat>
  <Paragraphs>19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Helvetica</vt:lpstr>
      <vt:lpstr>Wingdings</vt:lpstr>
      <vt:lpstr>Blank Template (Microsoft)</vt:lpstr>
      <vt:lpstr>think-cell Slide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Christopher Leifeld</dc:creator>
  <cp:lastModifiedBy>Fox, Brian</cp:lastModifiedBy>
  <cp:revision>1768</cp:revision>
  <cp:lastPrinted>2017-04-19T21:34:28Z</cp:lastPrinted>
  <dcterms:created xsi:type="dcterms:W3CDTF">2015-01-27T14:28:57Z</dcterms:created>
  <dcterms:modified xsi:type="dcterms:W3CDTF">2024-03-05T19:38:54Z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2010EditCount">
    <vt:lpwstr>1</vt:lpwstr>
  </property>
  <property fmtid="{D5CDD505-2E9C-101B-9397-08002B2CF9AE}" pid="3" name="Office2003EditCount">
    <vt:lpwstr>0</vt:lpwstr>
  </property>
  <property fmtid="{D5CDD505-2E9C-101B-9397-08002B2CF9AE}" pid="4" name="LastEditedOfficeVersion">
    <vt:lpwstr>Office2010</vt:lpwstr>
  </property>
  <property fmtid="{D5CDD505-2E9C-101B-9397-08002B2CF9AE}" pid="5" name="Office2010WasSaved">
    <vt:lpwstr>1</vt:lpwstr>
  </property>
</Properties>
</file>