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965" r:id="rId2"/>
    <p:sldId id="919" r:id="rId3"/>
    <p:sldId id="966" r:id="rId4"/>
    <p:sldId id="267" r:id="rId5"/>
    <p:sldId id="272" r:id="rId6"/>
    <p:sldId id="273" r:id="rId7"/>
    <p:sldId id="274" r:id="rId8"/>
  </p:sldIdLst>
  <p:sldSz cx="9144000" cy="6858000" type="screen4x3"/>
  <p:notesSz cx="7315200" cy="96012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4D5E8A-9F95-4984-ADA0-7D0FC3DEC305}">
          <p14:sldIdLst>
            <p14:sldId id="965"/>
            <p14:sldId id="919"/>
            <p14:sldId id="966"/>
            <p14:sldId id="267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3" pos="113" userDrawn="1">
          <p15:clr>
            <a:srgbClr val="A4A3A4"/>
          </p15:clr>
        </p15:guide>
        <p15:guide id="4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an Fox" initials="B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78BF"/>
    <a:srgbClr val="01072B"/>
    <a:srgbClr val="F7B2A7"/>
    <a:srgbClr val="BFC8FD"/>
    <a:srgbClr val="000B24"/>
    <a:srgbClr val="D6DADC"/>
    <a:srgbClr val="000F30"/>
    <a:srgbClr val="000E2F"/>
    <a:srgbClr val="1B2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6" autoAdjust="0"/>
    <p:restoredTop sz="93646" autoAdjust="0"/>
  </p:normalViewPr>
  <p:slideViewPr>
    <p:cSldViewPr>
      <p:cViewPr varScale="1">
        <p:scale>
          <a:sx n="113" d="100"/>
          <a:sy n="113" d="100"/>
        </p:scale>
        <p:origin x="1344" y="184"/>
      </p:cViewPr>
      <p:guideLst>
        <p:guide orient="horz" pos="2750"/>
        <p:guide pos="113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756" y="5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1922B18C-0895-40C2-A98C-6A22ECA7D21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7BF0A9E8-20EE-4FFE-BF50-7F2EA0FC1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7CEB82EE-7859-43C3-BD1F-7B4F0DAB0F46}" type="datetimeFigureOut">
              <a:rPr lang="en-US" smtClean="0"/>
              <a:t>11/17/25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722313"/>
            <a:ext cx="4794250" cy="3595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5ED5DB85-51F6-4F8B-9C9B-239CB5AE9C4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119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5DB85-51F6-4F8B-9C9B-239CB5AE9C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61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5DB85-51F6-4F8B-9C9B-239CB5AE9C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6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rgbClr val="1B2E67">
              <a:alpha val="7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511859" y="2141909"/>
            <a:ext cx="3981504" cy="984885"/>
          </a:xfrm>
          <a:prstGeom prst="rect">
            <a:avLst/>
          </a:prstGeom>
        </p:spPr>
        <p:txBody>
          <a:bodyPr lIns="0"/>
          <a:lstStyle>
            <a:lvl1pPr>
              <a:defRPr sz="3200" b="1" baseline="0">
                <a:solidFill>
                  <a:srgbClr val="0078BF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8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511859" y="3425346"/>
            <a:ext cx="3981504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600" indent="0">
              <a:buFontTx/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5508104" y="2163553"/>
            <a:ext cx="0" cy="3605048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512515" y="5515894"/>
            <a:ext cx="3981450" cy="215444"/>
          </a:xfrm>
          <a:prstGeom prst="rect">
            <a:avLst/>
          </a:prstGeom>
        </p:spPr>
        <p:txBody>
          <a:bodyPr/>
          <a:lstStyle>
            <a:lvl1pPr marL="3600" indent="0">
              <a:buFontTx/>
              <a:buNone/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0" y="1"/>
            <a:ext cx="9144000" cy="1340767"/>
          </a:xfrm>
          <a:prstGeom prst="rect">
            <a:avLst/>
          </a:prstGeom>
          <a:solidFill>
            <a:srgbClr val="0078B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0" y="6597351"/>
            <a:ext cx="9144000" cy="262247"/>
          </a:xfrm>
          <a:prstGeom prst="rect">
            <a:avLst/>
          </a:prstGeom>
          <a:solidFill>
            <a:srgbClr val="D6DADC"/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83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590976"/>
            <a:ext cx="9144000" cy="267023"/>
          </a:xfrm>
          <a:prstGeom prst="rect">
            <a:avLst/>
          </a:prstGeom>
          <a:solidFill>
            <a:srgbClr val="D6DADC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34860" y="289804"/>
            <a:ext cx="7749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rgbClr val="0078B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</a:t>
            </a:r>
          </a:p>
        </p:txBody>
      </p:sp>
      <p:sp>
        <p:nvSpPr>
          <p:cNvPr id="8" name="Slide Number"/>
          <p:cNvSpPr txBox="1">
            <a:spLocks/>
          </p:cNvSpPr>
          <p:nvPr userDrawn="1"/>
        </p:nvSpPr>
        <p:spPr>
          <a:xfrm>
            <a:off x="8721120" y="6660138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SlideLogoSeparator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8608985" y="6633206"/>
            <a:ext cx="40076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algn="r" defTabSz="895350"/>
            <a:r>
              <a:rPr lang="en-US" sz="120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|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 hasCustomPrompt="1"/>
          </p:nvPr>
        </p:nvSpPr>
        <p:spPr>
          <a:xfrm>
            <a:off x="134860" y="66140"/>
            <a:ext cx="7749508" cy="215444"/>
          </a:xfrm>
          <a:prstGeom prst="rect">
            <a:avLst/>
          </a:prstGeom>
        </p:spPr>
        <p:txBody>
          <a:bodyPr lIns="0" tIns="0" rIns="0" bIns="0" anchor="ctr"/>
          <a:lstStyle>
            <a:lvl1pPr marL="3600" indent="0">
              <a:buFontTx/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TRACKER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7989173" y="66140"/>
            <a:ext cx="0" cy="105843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McK 1. On-page tracker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34860" y="6647543"/>
            <a:ext cx="268503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Brian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Fox | Bentley University | November 2023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292" name="Text Placeholder 12291"/>
          <p:cNvSpPr>
            <a:spLocks noGrp="1"/>
          </p:cNvSpPr>
          <p:nvPr>
            <p:ph type="body" sz="quarter" idx="14" hasCustomPrompt="1"/>
          </p:nvPr>
        </p:nvSpPr>
        <p:spPr>
          <a:xfrm>
            <a:off x="134860" y="1012401"/>
            <a:ext cx="7245452" cy="215444"/>
          </a:xfrm>
        </p:spPr>
        <p:txBody>
          <a:bodyPr tIns="0" rIns="0" bIns="0"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03" name="Text Placeholder 12291"/>
          <p:cNvSpPr>
            <a:spLocks noGrp="1"/>
          </p:cNvSpPr>
          <p:nvPr>
            <p:ph type="body" sz="quarter" idx="15" hasCustomPrompt="1"/>
          </p:nvPr>
        </p:nvSpPr>
        <p:spPr>
          <a:xfrm>
            <a:off x="134860" y="6359812"/>
            <a:ext cx="7245452" cy="153888"/>
          </a:xfrm>
        </p:spPr>
        <p:txBody>
          <a:bodyPr tIns="0" rIns="0" bIns="0"/>
          <a:lstStyle>
            <a:lvl1pPr>
              <a:defRPr sz="10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source</a:t>
            </a:r>
          </a:p>
        </p:txBody>
      </p:sp>
      <p:sp>
        <p:nvSpPr>
          <p:cNvPr id="15" name="McK 1. On-page tracker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227387" y="6647543"/>
            <a:ext cx="68929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OT Seminar</a:t>
            </a:r>
          </a:p>
        </p:txBody>
      </p:sp>
      <p:sp>
        <p:nvSpPr>
          <p:cNvPr id="18" name="McK 1. On-page tracker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813840" y="6660138"/>
            <a:ext cx="171842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 Discussion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Purposes Only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7" name="Picture 16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209" y="0"/>
            <a:ext cx="919651" cy="124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4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2E6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430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1563-4657-434B-B332-C9AD0F3B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8A9E3-6209-3A43-8AD9-E82D9F96B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60" y="908720"/>
            <a:ext cx="4042792" cy="1077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D8692-2B3C-B04B-931D-7292B96B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0111-1702-E047-A1C8-69663819CF6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6491C-9C59-AD40-9439-2F742533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409B-A3F7-D84E-AE98-AD8BEBDE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5B623-7B3A-A84B-8D9E-879E368CC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2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8394320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/>
          <p:cNvSpPr>
            <a:spLocks noGrp="1"/>
          </p:cNvSpPr>
          <p:nvPr>
            <p:ph type="body" idx="1"/>
          </p:nvPr>
        </p:nvSpPr>
        <p:spPr>
          <a:xfrm>
            <a:off x="134860" y="908720"/>
            <a:ext cx="404279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627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000" b="1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itchFamily="2" charset="2"/>
        <a:buNone/>
        <a:tabLst/>
        <a:defRPr sz="1400" b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0" indent="-194400" algn="l" defTabSz="914400" rtl="0" eaLnBrk="1" latinLnBrk="0" hangingPunct="1">
        <a:spcBef>
          <a:spcPts val="0"/>
        </a:spcBef>
        <a:buFont typeface="Wingdings" pitchFamily="2" charset="2"/>
        <a:buChar char="§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457200" indent="-154800" algn="l" defTabSz="914400" rtl="0" eaLnBrk="1" latinLnBrk="0" hangingPunct="1">
        <a:spcBef>
          <a:spcPts val="0"/>
        </a:spcBef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6156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7488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»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doi.org/10.5465/amr.2016.0225" TargetMode="Externa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897665D2-A0E1-2F48-BACA-665A4EB8E2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897665D2-A0E1-2F48-BACA-665A4EB8E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130884C-52EA-2144-8636-8C1720DC2A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  <a:ea typeface="+mj-ea"/>
              <a:sym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CBD9C-129E-4D40-996D-65FE8F9D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60" y="289804"/>
            <a:ext cx="7749507" cy="615553"/>
          </a:xfrm>
        </p:spPr>
        <p:txBody>
          <a:bodyPr/>
          <a:lstStyle/>
          <a:p>
            <a:r>
              <a:rPr lang="en-US" dirty="0"/>
              <a:t>The common ground and complication provide the motivation to undertake a study, which raises and resolves a tension.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2AE0B-D18C-AA47-B083-CE9382A5243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TOWARDS A CONTRIBUTION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C18FB-1555-CC4B-B945-E60BFC9E1B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859" y="6359812"/>
            <a:ext cx="8946741" cy="153888"/>
          </a:xfrm>
        </p:spPr>
        <p:txBody>
          <a:bodyPr/>
          <a:lstStyle/>
          <a:p>
            <a:r>
              <a:rPr lang="en-US" dirty="0"/>
              <a:t>Source: Lange and </a:t>
            </a:r>
            <a:r>
              <a:rPr lang="en-US" dirty="0" err="1"/>
              <a:t>Pfarrer</a:t>
            </a:r>
            <a:r>
              <a:rPr lang="en-US" dirty="0"/>
              <a:t> 2017. </a:t>
            </a:r>
            <a:r>
              <a:rPr lang="en-US" dirty="0">
                <a:hlinkClick r:id="rId7"/>
              </a:rPr>
              <a:t>https://doi.org/10.5465/amr.2016.0225</a:t>
            </a:r>
            <a:r>
              <a:rPr lang="en-US" dirty="0"/>
              <a:t>   if you are familiar with Barbara Minto’s work, this is analogous to an SCQ-A framing.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BD7491-3177-3C45-865F-2C55DC24FBA8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9517260-3431-E121-1AB7-61023C87D2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F562C52-D7F5-687B-CF01-07E310EACD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628" y="1262686"/>
            <a:ext cx="6696744" cy="134860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1ABF2C6-FA21-4D4B-120A-8CCCA77773A7}"/>
              </a:ext>
            </a:extLst>
          </p:cNvPr>
          <p:cNvSpPr/>
          <p:nvPr/>
        </p:nvSpPr>
        <p:spPr>
          <a:xfrm>
            <a:off x="202319" y="2623551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Common ground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EA93AB-171B-C3FF-3671-64D0BA7F0CF0}"/>
              </a:ext>
            </a:extLst>
          </p:cNvPr>
          <p:cNvSpPr/>
          <p:nvPr/>
        </p:nvSpPr>
        <p:spPr>
          <a:xfrm>
            <a:off x="196376" y="3292097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Complication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A93BF7-508F-59E5-AC99-9521BCCDC6C8}"/>
              </a:ext>
            </a:extLst>
          </p:cNvPr>
          <p:cNvSpPr/>
          <p:nvPr/>
        </p:nvSpPr>
        <p:spPr>
          <a:xfrm>
            <a:off x="198432" y="3973186"/>
            <a:ext cx="2088232" cy="586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Concern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7E043B-90C9-1197-BF07-558B9C346C73}"/>
              </a:ext>
            </a:extLst>
          </p:cNvPr>
          <p:cNvSpPr/>
          <p:nvPr/>
        </p:nvSpPr>
        <p:spPr>
          <a:xfrm>
            <a:off x="196376" y="4641732"/>
            <a:ext cx="2088232" cy="586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Course of Action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9828D2-CD83-6431-7238-C14B0EF9013B}"/>
              </a:ext>
            </a:extLst>
          </p:cNvPr>
          <p:cNvSpPr/>
          <p:nvPr/>
        </p:nvSpPr>
        <p:spPr>
          <a:xfrm>
            <a:off x="196376" y="5343434"/>
            <a:ext cx="2088232" cy="586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Contribution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CF2E3A-0F05-2AB7-AE4E-34A3DA163C46}"/>
              </a:ext>
            </a:extLst>
          </p:cNvPr>
          <p:cNvSpPr txBox="1"/>
          <p:nvPr/>
        </p:nvSpPr>
        <p:spPr>
          <a:xfrm>
            <a:off x="2555776" y="2825412"/>
            <a:ext cx="4387227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A set of premises that an informed party will agree with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83C031-E91E-96D3-B63F-9662D8B88642}"/>
              </a:ext>
            </a:extLst>
          </p:cNvPr>
          <p:cNvSpPr txBox="1"/>
          <p:nvPr/>
        </p:nvSpPr>
        <p:spPr>
          <a:xfrm>
            <a:off x="2555776" y="3472290"/>
            <a:ext cx="6407203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An issue with these premises (perhaps discordant evidence, hidden assumptions)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5D5B7E-7CF7-5D7D-7D3B-2EDD4BB29B27}"/>
              </a:ext>
            </a:extLst>
          </p:cNvPr>
          <p:cNvSpPr txBox="1"/>
          <p:nvPr/>
        </p:nvSpPr>
        <p:spPr>
          <a:xfrm>
            <a:off x="2555776" y="4160495"/>
            <a:ext cx="3364704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Why are these issues not easily dismissed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E5684D-9FEC-AD0E-2260-20E6D38046AE}"/>
              </a:ext>
            </a:extLst>
          </p:cNvPr>
          <p:cNvSpPr txBox="1"/>
          <p:nvPr/>
        </p:nvSpPr>
        <p:spPr>
          <a:xfrm>
            <a:off x="2556804" y="4817612"/>
            <a:ext cx="499335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The plan of attack for resolving this issue that has come to light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CBF37B-7E5B-0365-6FCA-AE81DA39DDBA}"/>
              </a:ext>
            </a:extLst>
          </p:cNvPr>
          <p:cNvSpPr txBox="1"/>
          <p:nvPr/>
        </p:nvSpPr>
        <p:spPr>
          <a:xfrm>
            <a:off x="2555776" y="5505817"/>
            <a:ext cx="652582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How the resolution of this issue allows us to move forward from a stronger position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ED64A0-5844-BDD9-B9C1-03D210285B51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897665D2-A0E1-2F48-BACA-665A4EB8E2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24991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130884C-52EA-2144-8636-8C1720DC2A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  <a:ea typeface="+mj-ea"/>
              <a:sym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CBD9C-129E-4D40-996D-65FE8F9D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60" y="289804"/>
            <a:ext cx="7749507" cy="615553"/>
          </a:xfrm>
        </p:spPr>
        <p:txBody>
          <a:bodyPr/>
          <a:lstStyle/>
          <a:p>
            <a:r>
              <a:rPr lang="en-US" dirty="0"/>
              <a:t>How your knowledge and the current state of the field can give rise to research questions the elements of an introduction.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2AE0B-D18C-AA47-B083-CE9382A5243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C18FB-1555-CC4B-B945-E60BFC9E1B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See also Huff (1999): Writing for Scholarly </a:t>
            </a:r>
            <a:r>
              <a:rPr lang="en-US" dirty="0" err="1"/>
              <a:t>Converstation</a:t>
            </a:r>
            <a:r>
              <a:rPr lang="en-US" dirty="0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349C6A-6C6C-4B43-B95D-AB78F7BDEB3D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BD7491-3177-3C45-865F-2C55DC24FBA8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3570D-5F7D-FC75-2408-C8468A137F23}"/>
              </a:ext>
            </a:extLst>
          </p:cNvPr>
          <p:cNvSpPr/>
          <p:nvPr/>
        </p:nvSpPr>
        <p:spPr>
          <a:xfrm>
            <a:off x="71249" y="1918142"/>
            <a:ext cx="2088232" cy="6839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Your unique perspective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7C4DD2-F702-F5EE-8552-CBAEED100C38}"/>
              </a:ext>
            </a:extLst>
          </p:cNvPr>
          <p:cNvSpPr/>
          <p:nvPr/>
        </p:nvSpPr>
        <p:spPr>
          <a:xfrm>
            <a:off x="3455751" y="1922388"/>
            <a:ext cx="2088232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Are there common threads that your work can tie together?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34F64F-95E7-B640-46F4-B38AC7D91D38}"/>
              </a:ext>
            </a:extLst>
          </p:cNvPr>
          <p:cNvSpPr/>
          <p:nvPr/>
        </p:nvSpPr>
        <p:spPr>
          <a:xfrm>
            <a:off x="3455921" y="4639251"/>
            <a:ext cx="2088232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What elements of your perspective are not reflected in extant conversations?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406192-DAE2-6935-CC77-DDE7F571C12A}"/>
              </a:ext>
            </a:extLst>
          </p:cNvPr>
          <p:cNvSpPr/>
          <p:nvPr/>
        </p:nvSpPr>
        <p:spPr>
          <a:xfrm>
            <a:off x="6552094" y="1922388"/>
            <a:ext cx="2340386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Basis for establishing 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common ground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D5BE1-F523-5411-C1C2-C2A960AE6AB3}"/>
              </a:ext>
            </a:extLst>
          </p:cNvPr>
          <p:cNvSpPr/>
          <p:nvPr/>
        </p:nvSpPr>
        <p:spPr>
          <a:xfrm>
            <a:off x="6556345" y="4639044"/>
            <a:ext cx="2340386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Potential areas to revisit the literature or potential 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complications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Helvetica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5A0357-C15F-B3D1-AB9A-1AA9F28F36AC}"/>
              </a:ext>
            </a:extLst>
          </p:cNvPr>
          <p:cNvCxnSpPr>
            <a:cxnSpLocks/>
            <a:stCxn id="29" idx="3"/>
            <a:endCxn id="15" idx="1"/>
          </p:cNvCxnSpPr>
          <p:nvPr/>
        </p:nvCxnSpPr>
        <p:spPr>
          <a:xfrm flipV="1">
            <a:off x="2155879" y="2534456"/>
            <a:ext cx="1299872" cy="135667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92DD79-1853-FCB9-DB83-B273E0892623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5543983" y="2534456"/>
            <a:ext cx="1008111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59DF236-4C2D-1CCF-16C1-D33F2E14985D}"/>
              </a:ext>
            </a:extLst>
          </p:cNvPr>
          <p:cNvSpPr txBox="1"/>
          <p:nvPr/>
        </p:nvSpPr>
        <p:spPr>
          <a:xfrm>
            <a:off x="2795064" y="3305592"/>
            <a:ext cx="896079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Consensus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88E03A-2323-676A-07BE-A3CA289048CA}"/>
              </a:ext>
            </a:extLst>
          </p:cNvPr>
          <p:cNvSpPr txBox="1"/>
          <p:nvPr/>
        </p:nvSpPr>
        <p:spPr>
          <a:xfrm>
            <a:off x="2805815" y="4178152"/>
            <a:ext cx="827150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Dissensus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A391CB8-CA76-3A0C-04F9-C9228A25A89E}"/>
              </a:ext>
            </a:extLst>
          </p:cNvPr>
          <p:cNvCxnSpPr>
            <a:cxnSpLocks/>
            <a:stCxn id="29" idx="3"/>
            <a:endCxn id="18" idx="1"/>
          </p:cNvCxnSpPr>
          <p:nvPr/>
        </p:nvCxnSpPr>
        <p:spPr>
          <a:xfrm>
            <a:off x="2155879" y="3891127"/>
            <a:ext cx="1300042" cy="13601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F2D5630-D70B-05D2-45FD-230FAB8AAFBE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5544153" y="5251112"/>
            <a:ext cx="1012192" cy="20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9517260-3431-E121-1AB7-61023C87D2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C0A9CF-5B45-8F5D-3BCD-B7525B269AAF}"/>
              </a:ext>
            </a:extLst>
          </p:cNvPr>
          <p:cNvSpPr/>
          <p:nvPr/>
        </p:nvSpPr>
        <p:spPr>
          <a:xfrm>
            <a:off x="71249" y="5266293"/>
            <a:ext cx="2088232" cy="6839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Extant state of knowledge in field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7D0B69-6C2B-B3EE-EF73-B282F72E9A4D}"/>
              </a:ext>
            </a:extLst>
          </p:cNvPr>
          <p:cNvSpPr/>
          <p:nvPr/>
        </p:nvSpPr>
        <p:spPr>
          <a:xfrm>
            <a:off x="67647" y="3549130"/>
            <a:ext cx="2088232" cy="6839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“Proto-questions”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944E561-3F80-1A0B-9439-EC9B24A830E1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 flipH="1">
            <a:off x="1111763" y="2602136"/>
            <a:ext cx="3602" cy="94699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E3581A-A3C2-6815-C31C-8592D56CCE84}"/>
              </a:ext>
            </a:extLst>
          </p:cNvPr>
          <p:cNvCxnSpPr>
            <a:cxnSpLocks/>
            <a:stCxn id="14" idx="0"/>
            <a:endCxn id="29" idx="2"/>
          </p:cNvCxnSpPr>
          <p:nvPr/>
        </p:nvCxnSpPr>
        <p:spPr>
          <a:xfrm flipH="1" flipV="1">
            <a:off x="1111763" y="4233124"/>
            <a:ext cx="3602" cy="10331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009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07D8-2501-89E3-7B10-9C09D3B4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60" y="289804"/>
            <a:ext cx="7749507" cy="615553"/>
          </a:xfrm>
        </p:spPr>
        <p:txBody>
          <a:bodyPr/>
          <a:lstStyle/>
          <a:p>
            <a:r>
              <a:rPr lang="en-US" dirty="0"/>
              <a:t>Research questions give us a means to push beyond what is known towards what we do not know.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4F96B-42E8-08CE-6364-59383E7D74E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A8944-7695-7032-102A-4F2EC4B486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Let’s take a common example of how this might look.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63C0D-C364-409D-A49D-B5D68276C3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7B9D6F-B83A-5E5D-F712-A97FA2943F7C}"/>
              </a:ext>
            </a:extLst>
          </p:cNvPr>
          <p:cNvCxnSpPr/>
          <p:nvPr/>
        </p:nvCxnSpPr>
        <p:spPr>
          <a:xfrm>
            <a:off x="107255" y="6237312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07B86C-9F36-3DFE-60C7-419735AA4AE6}"/>
              </a:ext>
            </a:extLst>
          </p:cNvPr>
          <p:cNvCxnSpPr/>
          <p:nvPr/>
        </p:nvCxnSpPr>
        <p:spPr>
          <a:xfrm>
            <a:off x="107950" y="1340768"/>
            <a:ext cx="8785225" cy="0"/>
          </a:xfrm>
          <a:prstGeom prst="line">
            <a:avLst/>
          </a:prstGeom>
          <a:ln>
            <a:solidFill>
              <a:srgbClr val="000B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C08B38-9257-23FA-75A6-D871C5761C60}"/>
              </a:ext>
            </a:extLst>
          </p:cNvPr>
          <p:cNvSpPr/>
          <p:nvPr/>
        </p:nvSpPr>
        <p:spPr>
          <a:xfrm>
            <a:off x="203936" y="1581410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Common ground / </a:t>
            </a:r>
          </a:p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Received wisdom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BB9CE3-C651-A588-D75A-FAF7DB26F503}"/>
              </a:ext>
            </a:extLst>
          </p:cNvPr>
          <p:cNvSpPr/>
          <p:nvPr/>
        </p:nvSpPr>
        <p:spPr>
          <a:xfrm>
            <a:off x="203936" y="3021253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Complication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769154-D8CF-857B-0CA6-7DDD29659159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927243" y="1887622"/>
            <a:ext cx="1595756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9CE6BA3-97EF-CF50-3987-C240BD7373D1}"/>
              </a:ext>
            </a:extLst>
          </p:cNvPr>
          <p:cNvSpPr/>
          <p:nvPr/>
        </p:nvSpPr>
        <p:spPr>
          <a:xfrm>
            <a:off x="203936" y="5552478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Concern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4321E-E535-7D54-04CD-487395152861}"/>
              </a:ext>
            </a:extLst>
          </p:cNvPr>
          <p:cNvSpPr txBox="1"/>
          <p:nvPr/>
        </p:nvSpPr>
        <p:spPr>
          <a:xfrm>
            <a:off x="2483768" y="5635945"/>
            <a:ext cx="6129883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So what? If we got the answer to this question, would it change how we think,</a:t>
            </a:r>
          </a:p>
          <a:p>
            <a:pPr algn="l"/>
            <a:r>
              <a:rPr lang="en-US" sz="1400" dirty="0">
                <a:latin typeface="Helvetica" pitchFamily="2" charset="0"/>
              </a:rPr>
              <a:t>act, provide recommendations, </a:t>
            </a:r>
            <a:r>
              <a:rPr lang="en-US" sz="1400" dirty="0" err="1">
                <a:latin typeface="Helvetica" pitchFamily="2" charset="0"/>
              </a:rPr>
              <a:t>etc</a:t>
            </a:r>
            <a:r>
              <a:rPr lang="en-US" sz="1400" dirty="0">
                <a:latin typeface="Helvetica" pitchFamily="2" charset="0"/>
              </a:rPr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42FDF8-815B-6109-5C1E-98DE1E22D210}"/>
              </a:ext>
            </a:extLst>
          </p:cNvPr>
          <p:cNvSpPr/>
          <p:nvPr/>
        </p:nvSpPr>
        <p:spPr>
          <a:xfrm>
            <a:off x="2839011" y="1594501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Relative market share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E3F258-5102-342F-FC70-7E44D521C1ED}"/>
              </a:ext>
            </a:extLst>
          </p:cNvPr>
          <p:cNvSpPr/>
          <p:nvPr/>
        </p:nvSpPr>
        <p:spPr>
          <a:xfrm>
            <a:off x="6522999" y="1594501"/>
            <a:ext cx="2088232" cy="5862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Increased performance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485EA8-1D2D-23E3-E66C-6D5A3B153225}"/>
              </a:ext>
            </a:extLst>
          </p:cNvPr>
          <p:cNvSpPr txBox="1"/>
          <p:nvPr/>
        </p:nvSpPr>
        <p:spPr>
          <a:xfrm>
            <a:off x="5667195" y="1616040"/>
            <a:ext cx="104196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+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93704E-7305-464B-DFD1-0847D889C878}"/>
              </a:ext>
            </a:extLst>
          </p:cNvPr>
          <p:cNvSpPr txBox="1"/>
          <p:nvPr/>
        </p:nvSpPr>
        <p:spPr>
          <a:xfrm>
            <a:off x="3580085" y="2287029"/>
            <a:ext cx="427841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(as established by the PIMS studies in the 1970s-80s)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7F06A8-5B7A-EC31-0A7D-BFF6CDC5435B}"/>
              </a:ext>
            </a:extLst>
          </p:cNvPr>
          <p:cNvSpPr txBox="1"/>
          <p:nvPr/>
        </p:nvSpPr>
        <p:spPr>
          <a:xfrm>
            <a:off x="2498694" y="3108806"/>
            <a:ext cx="6187656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What about industries with fast cycle times? Would investments in continuing </a:t>
            </a:r>
          </a:p>
          <a:p>
            <a:pPr algn="l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to gain relative market share make sense if the category becomes obsolete?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8A184C-1D3C-2CB5-8984-E40F430E18FB}"/>
              </a:ext>
            </a:extLst>
          </p:cNvPr>
          <p:cNvSpPr txBox="1"/>
          <p:nvPr/>
        </p:nvSpPr>
        <p:spPr>
          <a:xfrm>
            <a:off x="1187939" y="2514411"/>
            <a:ext cx="120226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D161E9-D6DC-9438-FFF5-99733C980FFE}"/>
              </a:ext>
            </a:extLst>
          </p:cNvPr>
          <p:cNvSpPr txBox="1"/>
          <p:nvPr/>
        </p:nvSpPr>
        <p:spPr>
          <a:xfrm>
            <a:off x="1204744" y="3985527"/>
            <a:ext cx="104196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933677-56C1-FE1E-F55A-EA474E0453F9}"/>
              </a:ext>
            </a:extLst>
          </p:cNvPr>
          <p:cNvSpPr/>
          <p:nvPr/>
        </p:nvSpPr>
        <p:spPr>
          <a:xfrm>
            <a:off x="203936" y="4357989"/>
            <a:ext cx="2088232" cy="5862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Research Question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6490A1-6BA6-05D6-CECC-06553F4E0125}"/>
              </a:ext>
            </a:extLst>
          </p:cNvPr>
          <p:cNvSpPr txBox="1"/>
          <p:nvPr/>
        </p:nvSpPr>
        <p:spPr>
          <a:xfrm>
            <a:off x="551547" y="5168063"/>
            <a:ext cx="151323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Helvetica" pitchFamily="2" charset="0"/>
              </a:rPr>
              <a:t>But keep in mind…</a:t>
            </a:r>
          </a:p>
        </p:txBody>
      </p:sp>
    </p:spTree>
    <p:extLst>
      <p:ext uri="{BB962C8B-B14F-4D97-AF65-F5344CB8AC3E}">
        <p14:creationId xmlns:p14="http://schemas.microsoft.com/office/powerpoint/2010/main" val="239364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AE2BE18D-A266-3746-AFAB-EAFEB87A6E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85844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AE2BE18D-A266-3746-AFAB-EAFEB87A6E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85844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25B1BBF-47EF-D24A-A060-B6DC7C5C5AC2}"/>
              </a:ext>
            </a:extLst>
          </p:cNvPr>
          <p:cNvGrpSpPr/>
          <p:nvPr/>
        </p:nvGrpSpPr>
        <p:grpSpPr>
          <a:xfrm>
            <a:off x="2343775" y="1552053"/>
            <a:ext cx="3920385" cy="3482202"/>
            <a:chOff x="2731679" y="1272151"/>
            <a:chExt cx="4057471" cy="39605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D4C3E4-477C-9D48-959B-5BF2423A8284}"/>
                </a:ext>
              </a:extLst>
            </p:cNvPr>
            <p:cNvSpPr txBox="1"/>
            <p:nvPr/>
          </p:nvSpPr>
          <p:spPr>
            <a:xfrm>
              <a:off x="4419754" y="1272151"/>
              <a:ext cx="722021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Theory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8478C1B-C1F1-9843-8E1E-22D0D20BD88D}"/>
                </a:ext>
              </a:extLst>
            </p:cNvPr>
            <p:cNvSpPr txBox="1"/>
            <p:nvPr/>
          </p:nvSpPr>
          <p:spPr>
            <a:xfrm>
              <a:off x="2801815" y="3141787"/>
              <a:ext cx="740271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Models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15A356-4EE0-474D-BE65-481505C8FB1E}"/>
                </a:ext>
              </a:extLst>
            </p:cNvPr>
            <p:cNvSpPr txBox="1"/>
            <p:nvPr/>
          </p:nvSpPr>
          <p:spPr>
            <a:xfrm>
              <a:off x="5900396" y="3141787"/>
              <a:ext cx="534548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Data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0F3E224-EC2C-2340-9194-6476AF1B8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0062" y="1641483"/>
              <a:ext cx="1059662" cy="139242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7AABDA6-8730-C14A-AC97-9705A8CB13CA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12" y="3197498"/>
              <a:ext cx="192996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448023A-9DC5-964D-8F14-121B2A3854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9539" y="3341601"/>
              <a:ext cx="189164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7E7699B-76C7-0E41-9A17-C25AC00923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1890" y="3553045"/>
              <a:ext cx="824523" cy="1250343"/>
            </a:xfrm>
            <a:prstGeom prst="straightConnector1">
              <a:avLst/>
            </a:prstGeom>
            <a:ln w="127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616CD23-4604-0348-B252-F325E5CD44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5351" y="1711683"/>
              <a:ext cx="1006739" cy="139571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FDC9FE-DF56-B945-B3AC-EC0FF27FA918}"/>
                </a:ext>
              </a:extLst>
            </p:cNvPr>
            <p:cNvSpPr txBox="1"/>
            <p:nvPr/>
          </p:nvSpPr>
          <p:spPr>
            <a:xfrm>
              <a:off x="4393284" y="3330714"/>
              <a:ext cx="813270" cy="2887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Abduction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6FE993-16C9-0C49-B78B-88B10C8F6FE2}"/>
                </a:ext>
              </a:extLst>
            </p:cNvPr>
            <p:cNvSpPr txBox="1"/>
            <p:nvPr/>
          </p:nvSpPr>
          <p:spPr>
            <a:xfrm>
              <a:off x="2849968" y="2205671"/>
              <a:ext cx="1166278" cy="288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Deduction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1749C-256C-AA44-86AB-1440F3748A19}"/>
                </a:ext>
              </a:extLst>
            </p:cNvPr>
            <p:cNvSpPr txBox="1"/>
            <p:nvPr/>
          </p:nvSpPr>
          <p:spPr>
            <a:xfrm>
              <a:off x="4127080" y="2205671"/>
              <a:ext cx="758520" cy="2887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Induction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7CA445-B3A1-234C-ACC0-F73DFB6EC190}"/>
                </a:ext>
              </a:extLst>
            </p:cNvPr>
            <p:cNvSpPr txBox="1"/>
            <p:nvPr/>
          </p:nvSpPr>
          <p:spPr>
            <a:xfrm>
              <a:off x="4477724" y="2915163"/>
              <a:ext cx="649023" cy="2887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Testing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B31055-5379-3040-941A-C23D738A3E32}"/>
                </a:ext>
              </a:extLst>
            </p:cNvPr>
            <p:cNvSpPr txBox="1"/>
            <p:nvPr/>
          </p:nvSpPr>
          <p:spPr>
            <a:xfrm>
              <a:off x="4178235" y="4917654"/>
              <a:ext cx="1201489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Phenomenon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D8476D4-A88A-F340-89A3-E92E7BDE8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1202" y="3600715"/>
              <a:ext cx="817838" cy="1202223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293BE63-7322-D74C-B72D-4AE68D756A59}"/>
                </a:ext>
              </a:extLst>
            </p:cNvPr>
            <p:cNvSpPr txBox="1"/>
            <p:nvPr/>
          </p:nvSpPr>
          <p:spPr>
            <a:xfrm>
              <a:off x="5982516" y="4024466"/>
              <a:ext cx="806634" cy="288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Collection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2DCE926-DA5B-3543-B0CC-CB1E6534596B}"/>
                </a:ext>
              </a:extLst>
            </p:cNvPr>
            <p:cNvSpPr txBox="1"/>
            <p:nvPr/>
          </p:nvSpPr>
          <p:spPr>
            <a:xfrm>
              <a:off x="2731679" y="4024466"/>
              <a:ext cx="1963681" cy="288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Situation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8F80C94-3E6B-9445-BFC9-09D7E90F9CB6}"/>
                </a:ext>
              </a:extLst>
            </p:cNvPr>
            <p:cNvCxnSpPr>
              <a:cxnSpLocks/>
            </p:cNvCxnSpPr>
            <p:nvPr/>
          </p:nvCxnSpPr>
          <p:spPr>
            <a:xfrm>
              <a:off x="3433107" y="3553045"/>
              <a:ext cx="803927" cy="1207965"/>
            </a:xfrm>
            <a:prstGeom prst="straightConnector1">
              <a:avLst/>
            </a:prstGeom>
            <a:ln w="127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8481223-198F-154B-81A3-06C75DB8235A}"/>
                </a:ext>
              </a:extLst>
            </p:cNvPr>
            <p:cNvSpPr txBox="1"/>
            <p:nvPr/>
          </p:nvSpPr>
          <p:spPr>
            <a:xfrm>
              <a:off x="3887587" y="4024466"/>
              <a:ext cx="1301327" cy="288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Explanation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650A3DC-D3C4-EF51-9E0E-33A5C6E80D2B}"/>
              </a:ext>
            </a:extLst>
          </p:cNvPr>
          <p:cNvSpPr/>
          <p:nvPr/>
        </p:nvSpPr>
        <p:spPr>
          <a:xfrm>
            <a:off x="1828139" y="1172213"/>
            <a:ext cx="4937760" cy="4251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92453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8C3D-B828-8971-DD48-B9D08217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93EEB4D3-3062-76AA-6F68-4B19676219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85844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93EEB4D3-3062-76AA-6F68-4B1967621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85844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6FD5166-ECB9-48AD-D6D1-023E11545D25}"/>
              </a:ext>
            </a:extLst>
          </p:cNvPr>
          <p:cNvGrpSpPr/>
          <p:nvPr/>
        </p:nvGrpSpPr>
        <p:grpSpPr>
          <a:xfrm>
            <a:off x="2343775" y="1552053"/>
            <a:ext cx="3578146" cy="3482202"/>
            <a:chOff x="2731679" y="1272151"/>
            <a:chExt cx="3703265" cy="39605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D470D5-94AC-D8ED-95DE-4DCE4B4DA407}"/>
                </a:ext>
              </a:extLst>
            </p:cNvPr>
            <p:cNvSpPr txBox="1"/>
            <p:nvPr/>
          </p:nvSpPr>
          <p:spPr>
            <a:xfrm>
              <a:off x="4419753" y="1272151"/>
              <a:ext cx="722021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Theory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F36A93-0435-3A1F-0A23-29971228E5DD}"/>
                </a:ext>
              </a:extLst>
            </p:cNvPr>
            <p:cNvSpPr txBox="1"/>
            <p:nvPr/>
          </p:nvSpPr>
          <p:spPr>
            <a:xfrm>
              <a:off x="2801815" y="3141787"/>
              <a:ext cx="740271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Models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84B6D4-7238-18A7-17A9-9D09DD7DE1B7}"/>
                </a:ext>
              </a:extLst>
            </p:cNvPr>
            <p:cNvSpPr txBox="1"/>
            <p:nvPr/>
          </p:nvSpPr>
          <p:spPr>
            <a:xfrm>
              <a:off x="5900396" y="3141787"/>
              <a:ext cx="534548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Data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A14C5F5-8B18-7C7E-B97F-187CED5339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0062" y="1641483"/>
              <a:ext cx="1059662" cy="139242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B53687-2E4B-9423-8DC5-BC9378F196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1890" y="3553045"/>
              <a:ext cx="824523" cy="1250343"/>
            </a:xfrm>
            <a:prstGeom prst="straightConnector1">
              <a:avLst/>
            </a:prstGeom>
            <a:ln w="127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27FD84-11EF-A986-F280-C63DA7A78FB6}"/>
                </a:ext>
              </a:extLst>
            </p:cNvPr>
            <p:cNvSpPr txBox="1"/>
            <p:nvPr/>
          </p:nvSpPr>
          <p:spPr>
            <a:xfrm>
              <a:off x="2849968" y="2205671"/>
              <a:ext cx="1166278" cy="288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Deduction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EBB1F6-78CB-485B-D330-E321B8BCBBDB}"/>
                </a:ext>
              </a:extLst>
            </p:cNvPr>
            <p:cNvSpPr txBox="1"/>
            <p:nvPr/>
          </p:nvSpPr>
          <p:spPr>
            <a:xfrm>
              <a:off x="4178235" y="4917654"/>
              <a:ext cx="1201489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Phenomenon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2B57D5-188C-9359-E064-41A7F9757ED5}"/>
                </a:ext>
              </a:extLst>
            </p:cNvPr>
            <p:cNvSpPr txBox="1"/>
            <p:nvPr/>
          </p:nvSpPr>
          <p:spPr>
            <a:xfrm>
              <a:off x="2731679" y="4024466"/>
              <a:ext cx="1963681" cy="288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Situation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54B3D3F-C23F-CBA0-21E4-F6ED32CF0C0F}"/>
              </a:ext>
            </a:extLst>
          </p:cNvPr>
          <p:cNvSpPr/>
          <p:nvPr/>
        </p:nvSpPr>
        <p:spPr>
          <a:xfrm>
            <a:off x="1828139" y="1172213"/>
            <a:ext cx="4937760" cy="4251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29537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7F06E-4496-BB81-A176-45EAC9C2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AC69CEA9-A0B9-4212-05D4-9736C4E9A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85844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AC69CEA9-A0B9-4212-05D4-9736C4E9A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85844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5820007-684B-1FFB-743B-7EF39523ED69}"/>
              </a:ext>
            </a:extLst>
          </p:cNvPr>
          <p:cNvGrpSpPr/>
          <p:nvPr/>
        </p:nvGrpSpPr>
        <p:grpSpPr>
          <a:xfrm>
            <a:off x="2411542" y="1552053"/>
            <a:ext cx="3852618" cy="3482202"/>
            <a:chOff x="2801815" y="1272151"/>
            <a:chExt cx="3987335" cy="39605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31958D-80E2-9798-7F4D-AC7CB43B1D57}"/>
                </a:ext>
              </a:extLst>
            </p:cNvPr>
            <p:cNvSpPr txBox="1"/>
            <p:nvPr/>
          </p:nvSpPr>
          <p:spPr>
            <a:xfrm>
              <a:off x="4419753" y="1272151"/>
              <a:ext cx="722021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Theory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373476-CB19-E605-CC33-953D3432F8FB}"/>
                </a:ext>
              </a:extLst>
            </p:cNvPr>
            <p:cNvSpPr txBox="1"/>
            <p:nvPr/>
          </p:nvSpPr>
          <p:spPr>
            <a:xfrm>
              <a:off x="2801815" y="3141787"/>
              <a:ext cx="740271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Models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46F6DA-9EDE-C343-3D78-8E9BD227294F}"/>
                </a:ext>
              </a:extLst>
            </p:cNvPr>
            <p:cNvSpPr txBox="1"/>
            <p:nvPr/>
          </p:nvSpPr>
          <p:spPr>
            <a:xfrm>
              <a:off x="5900396" y="3141787"/>
              <a:ext cx="534548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Data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EAE61E6-29F3-D939-4B7B-237AB42B6F9C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12" y="3197498"/>
              <a:ext cx="1929962" cy="0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6E652D-D980-3FB0-795A-8D05E092B2F1}"/>
                </a:ext>
              </a:extLst>
            </p:cNvPr>
            <p:cNvSpPr txBox="1"/>
            <p:nvPr/>
          </p:nvSpPr>
          <p:spPr>
            <a:xfrm>
              <a:off x="4477724" y="2915163"/>
              <a:ext cx="649023" cy="2887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Testing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A440CB-5E3F-BCB1-51E0-EB59B6E5631A}"/>
                </a:ext>
              </a:extLst>
            </p:cNvPr>
            <p:cNvSpPr txBox="1"/>
            <p:nvPr/>
          </p:nvSpPr>
          <p:spPr>
            <a:xfrm>
              <a:off x="4178235" y="4917654"/>
              <a:ext cx="1201489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Phenomenon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10ED6C3-A3D2-A914-CD9B-6E34B4079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1202" y="3600715"/>
              <a:ext cx="817838" cy="1202223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70B744-9129-E24C-B8C5-45E6B6FEEEE0}"/>
                </a:ext>
              </a:extLst>
            </p:cNvPr>
            <p:cNvSpPr txBox="1"/>
            <p:nvPr/>
          </p:nvSpPr>
          <p:spPr>
            <a:xfrm>
              <a:off x="5982516" y="4024466"/>
              <a:ext cx="806634" cy="288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Collection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3A50F9E-9866-3D0B-AECA-E67B93A51B5D}"/>
              </a:ext>
            </a:extLst>
          </p:cNvPr>
          <p:cNvSpPr/>
          <p:nvPr/>
        </p:nvSpPr>
        <p:spPr>
          <a:xfrm>
            <a:off x="1828139" y="1172213"/>
            <a:ext cx="4937760" cy="4251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28237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91D6-BF92-144D-B110-61A134E3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1570CBBA-FFE2-5175-00FA-EE13F1D9E5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85844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1570CBBA-FFE2-5175-00FA-EE13F1D9E5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85844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EA70F6F-E481-EFB1-5303-C17B69A98CCC}"/>
              </a:ext>
            </a:extLst>
          </p:cNvPr>
          <p:cNvGrpSpPr/>
          <p:nvPr/>
        </p:nvGrpSpPr>
        <p:grpSpPr>
          <a:xfrm>
            <a:off x="2411542" y="1552053"/>
            <a:ext cx="3510379" cy="3482202"/>
            <a:chOff x="2801815" y="1272151"/>
            <a:chExt cx="3633129" cy="39605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E56C78-49DE-024A-C2EA-9150794040F7}"/>
                </a:ext>
              </a:extLst>
            </p:cNvPr>
            <p:cNvSpPr txBox="1"/>
            <p:nvPr/>
          </p:nvSpPr>
          <p:spPr>
            <a:xfrm>
              <a:off x="4419753" y="1272151"/>
              <a:ext cx="722021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Theory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0C9E84-754C-F44C-F031-B96FD5272E25}"/>
                </a:ext>
              </a:extLst>
            </p:cNvPr>
            <p:cNvSpPr txBox="1"/>
            <p:nvPr/>
          </p:nvSpPr>
          <p:spPr>
            <a:xfrm>
              <a:off x="2801815" y="3141787"/>
              <a:ext cx="740271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Models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E23804-CA39-0D2B-2219-2FCB9F81F542}"/>
                </a:ext>
              </a:extLst>
            </p:cNvPr>
            <p:cNvSpPr txBox="1"/>
            <p:nvPr/>
          </p:nvSpPr>
          <p:spPr>
            <a:xfrm>
              <a:off x="5900396" y="3141787"/>
              <a:ext cx="534548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Data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9DD6BF3-F009-B57F-0C6B-731BD22918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9539" y="3341601"/>
              <a:ext cx="189164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89FC92A-544D-95F5-B02F-E4164BFFA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5351" y="1711683"/>
              <a:ext cx="1006739" cy="139571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9D07AC4-5E12-06E0-613F-9638CFD9F85B}"/>
                </a:ext>
              </a:extLst>
            </p:cNvPr>
            <p:cNvSpPr txBox="1"/>
            <p:nvPr/>
          </p:nvSpPr>
          <p:spPr>
            <a:xfrm>
              <a:off x="4393284" y="3330714"/>
              <a:ext cx="813270" cy="2887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Abduction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C091EA-E825-F20D-585B-44960B58A181}"/>
                </a:ext>
              </a:extLst>
            </p:cNvPr>
            <p:cNvSpPr txBox="1"/>
            <p:nvPr/>
          </p:nvSpPr>
          <p:spPr>
            <a:xfrm>
              <a:off x="4127080" y="2205671"/>
              <a:ext cx="758521" cy="2887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Induction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EC1831-11C8-4874-2354-A09B8C72F148}"/>
                </a:ext>
              </a:extLst>
            </p:cNvPr>
            <p:cNvSpPr txBox="1"/>
            <p:nvPr/>
          </p:nvSpPr>
          <p:spPr>
            <a:xfrm>
              <a:off x="4178235" y="4917654"/>
              <a:ext cx="1201489" cy="315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Phenomenon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6EB3402-E926-3DD7-221C-19D653BAA311}"/>
                </a:ext>
              </a:extLst>
            </p:cNvPr>
            <p:cNvCxnSpPr>
              <a:cxnSpLocks/>
            </p:cNvCxnSpPr>
            <p:nvPr/>
          </p:nvCxnSpPr>
          <p:spPr>
            <a:xfrm>
              <a:off x="3433107" y="3553045"/>
              <a:ext cx="803927" cy="1207965"/>
            </a:xfrm>
            <a:prstGeom prst="straightConnector1">
              <a:avLst/>
            </a:prstGeom>
            <a:ln w="127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A43FCF-779D-BE4F-C043-26857F8345DD}"/>
                </a:ext>
              </a:extLst>
            </p:cNvPr>
            <p:cNvSpPr txBox="1"/>
            <p:nvPr/>
          </p:nvSpPr>
          <p:spPr>
            <a:xfrm>
              <a:off x="3887587" y="4024466"/>
              <a:ext cx="1301327" cy="288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Explanation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A813BA3-0A7F-9287-B231-7F598C4888E4}"/>
              </a:ext>
            </a:extLst>
          </p:cNvPr>
          <p:cNvSpPr/>
          <p:nvPr/>
        </p:nvSpPr>
        <p:spPr>
          <a:xfrm>
            <a:off x="1828139" y="1172213"/>
            <a:ext cx="4937760" cy="4251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0344332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2008"/>
  <p:tag name="USESECONDARYMONITOR" val="True"/>
  <p:tag name="ANSWERNOWSTYLE" val="-1"/>
  <p:tag name="RESPCOUNTERFORMAT" val="0"/>
  <p:tag name="NUMRESPONSES" val="1"/>
  <p:tag name="CHARTVALUEFORMAT" val="0%"/>
  <p:tag name="AUTOUPDATEALIASES" val="True"/>
  <p:tag name="RACEANIMATIONSPEED" val="3"/>
  <p:tag name="MAXRESPONDERS" val="5"/>
  <p:tag name="BUBBLEGROUPING" val="3"/>
  <p:tag name="CUSTOMCELLBACKCOLOR1" val="-657956"/>
  <p:tag name="USESCHEMECOLORS" val="True"/>
  <p:tag name="GRIDOPACITY" val="90"/>
  <p:tag name="GRIDPOSITION" val="1"/>
  <p:tag name="CHARTLABELS" val="1"/>
  <p:tag name="INCLUDEPPT" val="True"/>
  <p:tag name="REALTIMEBACKUP" val="False"/>
  <p:tag name="CHARTSCALE" val="True"/>
  <p:tag name="FIBINCLUDEOTHER" val="True"/>
  <p:tag name="PRRESPONSE3" val="8"/>
  <p:tag name="PRRESPONSE7" val="4"/>
  <p:tag name="SHOWFLASHWARNING" val="True"/>
  <p:tag name="SAVECSVWITHSESSION" val="True"/>
  <p:tag name="COUNTDOWNSTYLE" val="-1"/>
  <p:tag name="INPUTSOURCE" val="1"/>
  <p:tag name="AUTOADVANCE" val="False"/>
  <p:tag name="RACEENDPOINTS" val="100"/>
  <p:tag name="TEAMSINLEADERBOARD" val="5"/>
  <p:tag name="DEFAULTNUMTEAMS" val="5"/>
  <p:tag name="CUSTOMCELLBACKCOLOR3" val="-268652"/>
  <p:tag name="DISPLAYDEVICEID" val="True"/>
  <p:tag name="GRIDFONTSIZE" val="12"/>
  <p:tag name="INCLUDENONRESPONDERS" val="False"/>
  <p:tag name="INCORRECTPOINTVALUE" val="0"/>
  <p:tag name="ADVANCEDSETTINGSVIEW" val="False"/>
  <p:tag name="PRRESPONSE1" val="10"/>
  <p:tag name="PRRESPONSE6" val="5"/>
  <p:tag name="ALWAYSOPENPOLL" val="False"/>
  <p:tag name="SHOWBARVISIBLE" val="True"/>
  <p:tag name="ANSWERNOWTEXT" val="Answer Now"/>
  <p:tag name="ALLOWDUPLICATES" val="False"/>
  <p:tag name="ROTATIONINTERVAL" val="2"/>
  <p:tag name="PARTICIPANTSINLEADERBOARD" val="5"/>
  <p:tag name="CUSTOMGRIDBACKCOLOR" val="-2830136"/>
  <p:tag name="DISPLAYNAME" val="True"/>
  <p:tag name="GRIDSIZE" val="{Width=800, Height=600}"/>
  <p:tag name="MULTIRESPDIVISOR" val="1"/>
  <p:tag name="ZEROBASED" val="False"/>
  <p:tag name="FIBDISPLAYKEYWORDS" val="True"/>
  <p:tag name="PRRESPONSE8" val="3"/>
  <p:tag name="BULLETTYPE" val="3"/>
  <p:tag name="BACKUPSESSIONS" val="True"/>
  <p:tag name="RACERSMAXDISPLAYED" val="5"/>
  <p:tag name="BUBBLEVALUEFORMAT" val="0.0"/>
  <p:tag name="DISPLAYDEVICENUMBER" val="True"/>
  <p:tag name="CHARTCOLORS" val="0"/>
  <p:tag name="REALTIMEBACKUPPATH" val="(None)"/>
  <p:tag name="PRRESPONSE2" val="9"/>
  <p:tag name="PRRESPONSE10" val="1"/>
  <p:tag name="CSVFORMAT" val="0"/>
  <p:tag name="BACKUPMAINTENANCE" val="7"/>
  <p:tag name="BUBBLENAMEVISIBLE" val="True"/>
  <p:tag name="CUSTOMCELLBACKCOLOR4" val="-8355712"/>
  <p:tag name="RESETCHARTS" val="True"/>
  <p:tag name="FIBDISPLAYRESULTS" val="True"/>
  <p:tag name="PRRESPONSE9" val="2"/>
  <p:tag name="RESPCOUNTERSTYLE" val="-1"/>
  <p:tag name="STDCHART" val="1"/>
  <p:tag name="CUSTOMCELLBACKCOLOR2" val="-13395457"/>
  <p:tag name="ALLOWUSERFEEDBACK" val="True"/>
  <p:tag name="PRRESPONSE4" val="7"/>
  <p:tag name="EXPANDSHOWBAR" val="True"/>
  <p:tag name="SKIPREMAININGRACESLIDES" val="True"/>
  <p:tag name="AUTOSIZEGRID" val="True"/>
  <p:tag name="FIBNUMRESULTS" val="5"/>
  <p:tag name="RESPTABLESTYLE" val="-1"/>
  <p:tag name="CUSTOMCELLFORECOLOR" val="-16777216"/>
  <p:tag name="AUTOADJUSTPARTRANGE" val="True"/>
  <p:tag name="COUNTDOWNSECONDS" val="10"/>
  <p:tag name="POLLINGCYCLE" val="2"/>
  <p:tag name="POWERPOINTVERSION" val="14.0"/>
  <p:tag name="CORRECTPOINTVALUE" val="1"/>
  <p:tag name="BUBBLESIZEVISIBLE" val="True"/>
  <p:tag name="REVIEWONLY" val="False"/>
  <p:tag name="GRIDROTATIONINTERVAL" val="2"/>
  <p:tag name="PRRESPONSE5" val="6"/>
  <p:tag name="DELIMITERS" val="3.1"/>
  <p:tag name="TASKPANEKEY" val="1ae76107-f3e0-4c9e-9a2f-35213e7a9b49"/>
  <p:tag name="TPFULLVERSION" val="4.5.1.2243"/>
  <p:tag name="INCLUDESESSION" val="True"/>
  <p:tag name="ISPRING_RESOURCE_PATHS_HASH_PRESENTER" val="36eeff7948365877e17741f6da38fc33960cf9d"/>
  <p:tag name="THINKCELLPRESENTATIONDONOTDELETE" val="&lt;?xml version=&quot;1.0&quot; encoding=&quot;UTF-16&quot; standalone=&quot;yes&quot;?&gt;&#10;&lt;root reqver=&quot;21047&quot;&gt;&lt;version val=&quot;2325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d-%1-%Y&lt;/m_strFormatTime&gt;&lt;/m_precDefaultDate&gt;&lt;m_precDefaultYear&gt;&lt;m_bNumberIsYear val=&quot;0&quot;/&gt;&lt;m_strFormatTime&gt;%Y&lt;/m_strFormatTime&gt;&lt;/m_precDefaultYear&gt;&lt;m_precDefaultQuarter&gt;&lt;m_bNumberIsYear val=&quot;0&quot;/&gt;&lt;m_strFormatTime&gt;Q%5&lt;/m_strFormatTime&gt;&lt;/m_precDefaultQuarter&gt;&lt;m_precDefaultMonth&gt;&lt;m_bNumberIsYear val=&quot;0&quot;/&gt;&lt;m_strFormatTime&gt;%#m&lt;/m_strFormatTime&gt;&lt;/m_precDefaultMonth&gt;&lt;m_precDefaultWeek&gt;&lt;m_bNumberIsYear val=&quot;0&quot;/&gt;&lt;m_strFormatTime&gt;%4&lt;/m_strFormatTime&gt;&lt;/m_precDefaultWeek&gt;&lt;m_precDefaultDay&gt;&lt;m_bNumberIsYear val=&quot;0&quot;/&gt;&lt;m_strFormatTime&gt;%d&lt;/m_strFormatTime&gt;&lt;/m_precDefaultDay&gt;&lt;m_mruColor&gt;&lt;m_vecMRU length=&quot;3&quot;&gt;&lt;elem m_fUsage=&quot;4.85364711931390060000E+000&quot;&gt;&lt;m_msothmcolidx val=&quot;0&quot;/&gt;&lt;m_rgb r=&quot;76&quot; g=&quot;a3&quot; b=&quot;32&quot;/&gt;&lt;m_ppcolschidx tagver0=&quot;23004&quot; tagname0=&quot;m_ppcolschidxUNRECOGNIZED&quot; val=&quot;0&quot;/&gt;&lt;m_nBrightness val=&quot;0&quot;/&gt;&lt;/elem&gt;&lt;elem m_fUsage=&quot;2.19618459900000000000E+000&quot;&gt;&lt;m_msothmcolidx val=&quot;0&quot;/&gt;&lt;m_rgb r=&quot;db&quot; g=&quot;e7&quot; b=&quot;b6&quot;/&gt;&lt;m_ppcolschidx tagver0=&quot;23004&quot; tagname0=&quot;m_ppcolschidxUNRECOGNIZED&quot; val=&quot;0&quot;/&gt;&lt;m_nBrightness val=&quot;0&quot;/&gt;&lt;/elem&gt;&lt;elem m_fUsage=&quot;1.28245011171944330000E+000&quot;&gt;&lt;m_msothmcolidx val=&quot;0&quot;/&gt;&lt;m_rgb r=&quot;49&quot; g=&quot;a2&quot; b=&quot;33&quot;/&gt;&lt;m_ppcolschidx tagver0=&quot;23004&quot; tagname0=&quot;m_ppcolschidxUNRECOGNIZED&quot; val=&quot;0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ISNEWSLIDENUMBER" val="True"/>
  <p:tag name="PREVIOUSNAME" val="C:\Users\Christopher Leifeld\Documents\09 - Dissertation\04 Diss\08 Conferences\EURAM\20160603_EURAM Presentation_v1.pptx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57VsHTENLD_X6HLEgpx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57VsHTENLD_X6HLEgpx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 Template (Microsoft)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 w="6350">
          <a:solidFill>
            <a:schemeClr val="accent6">
              <a:lumMod val="40000"/>
              <a:lumOff val="60000"/>
            </a:schemeClr>
          </a:solidFill>
        </a:ln>
      </a:spPr>
      <a:bodyPr lIns="36000" tIns="0" rIns="36000" bIns="0" rtlCol="0" anchor="ctr"/>
      <a:lstStyle>
        <a:defPPr algn="ctr">
          <a:defRPr sz="1400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400" dirty="0" smtClean="0">
            <a:latin typeface="Helvetica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24687</TotalTime>
  <Words>361</Words>
  <Application>Microsoft Macintosh PowerPoint</Application>
  <PresentationFormat>On-screen Show (4:3)</PresentationFormat>
  <Paragraphs>78</Paragraphs>
  <Slides>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Helvetica</vt:lpstr>
      <vt:lpstr>Wingdings</vt:lpstr>
      <vt:lpstr>Blank Template (Microsoft)</vt:lpstr>
      <vt:lpstr>think-cell Slide</vt:lpstr>
      <vt:lpstr>The common ground and complication provide the motivation to undertake a study, which raises and resolves a tension. </vt:lpstr>
      <vt:lpstr>How your knowledge and the current state of the field can give rise to research questions the elements of an introduction.</vt:lpstr>
      <vt:lpstr>Research questions give us a means to push beyond what is known towards what we do not know.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Leifeld</dc:creator>
  <cp:lastModifiedBy>Fox, Brian</cp:lastModifiedBy>
  <cp:revision>1768</cp:revision>
  <cp:lastPrinted>2017-04-19T21:34:28Z</cp:lastPrinted>
  <dcterms:created xsi:type="dcterms:W3CDTF">2015-01-27T14:28:57Z</dcterms:created>
  <dcterms:modified xsi:type="dcterms:W3CDTF">2025-11-17T18:29:29Z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2010EditCount">
    <vt:lpwstr>1</vt:lpwstr>
  </property>
  <property fmtid="{D5CDD505-2E9C-101B-9397-08002B2CF9AE}" pid="3" name="Office2003EditCount">
    <vt:lpwstr>0</vt:lpwstr>
  </property>
  <property fmtid="{D5CDD505-2E9C-101B-9397-08002B2CF9AE}" pid="4" name="LastEditedOfficeVersion">
    <vt:lpwstr>Office2010</vt:lpwstr>
  </property>
  <property fmtid="{D5CDD505-2E9C-101B-9397-08002B2CF9AE}" pid="5" name="Office2010WasSaved">
    <vt:lpwstr>1</vt:lpwstr>
  </property>
</Properties>
</file>