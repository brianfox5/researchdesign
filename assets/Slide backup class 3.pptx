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965" r:id="rId2"/>
    <p:sldId id="919" r:id="rId3"/>
    <p:sldId id="966" r:id="rId4"/>
  </p:sldIdLst>
  <p:sldSz cx="9144000" cy="6858000" type="screen4x3"/>
  <p:notesSz cx="7315200" cy="96012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04D5E8A-9F95-4984-ADA0-7D0FC3DEC305}">
          <p14:sldIdLst>
            <p14:sldId id="965"/>
            <p14:sldId id="919"/>
            <p14:sldId id="9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750" userDrawn="1">
          <p15:clr>
            <a:srgbClr val="A4A3A4"/>
          </p15:clr>
        </p15:guide>
        <p15:guide id="3" pos="113" userDrawn="1">
          <p15:clr>
            <a:srgbClr val="A4A3A4"/>
          </p15:clr>
        </p15:guide>
        <p15:guide id="4" pos="560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 userDrawn="1">
          <p15:clr>
            <a:srgbClr val="A4A3A4"/>
          </p15:clr>
        </p15:guide>
        <p15:guide id="2" pos="2304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rian Fox" initials="BF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0078BF"/>
    <a:srgbClr val="01072B"/>
    <a:srgbClr val="F7B2A7"/>
    <a:srgbClr val="BFC8FD"/>
    <a:srgbClr val="000B24"/>
    <a:srgbClr val="D6DADC"/>
    <a:srgbClr val="000F30"/>
    <a:srgbClr val="000E2F"/>
    <a:srgbClr val="1B2E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66" autoAdjust="0"/>
    <p:restoredTop sz="93741" autoAdjust="0"/>
  </p:normalViewPr>
  <p:slideViewPr>
    <p:cSldViewPr>
      <p:cViewPr varScale="1">
        <p:scale>
          <a:sx n="120" d="100"/>
          <a:sy n="120" d="100"/>
        </p:scale>
        <p:origin x="1592" y="176"/>
      </p:cViewPr>
      <p:guideLst>
        <p:guide orient="horz" pos="2750"/>
        <p:guide pos="113"/>
        <p:guide pos="560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howGuides="1">
      <p:cViewPr varScale="1">
        <p:scale>
          <a:sx n="85" d="100"/>
          <a:sy n="85" d="100"/>
        </p:scale>
        <p:origin x="3756" y="52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" y="0"/>
            <a:ext cx="3169920" cy="480061"/>
          </a:xfrm>
          <a:prstGeom prst="rect">
            <a:avLst/>
          </a:prstGeom>
        </p:spPr>
        <p:txBody>
          <a:bodyPr vert="horz" lIns="91430" tIns="45716" rIns="91430" bIns="45716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90" y="0"/>
            <a:ext cx="3169920" cy="480061"/>
          </a:xfrm>
          <a:prstGeom prst="rect">
            <a:avLst/>
          </a:prstGeom>
        </p:spPr>
        <p:txBody>
          <a:bodyPr vert="horz" lIns="91430" tIns="45716" rIns="91430" bIns="45716" rtlCol="0"/>
          <a:lstStyle>
            <a:lvl1pPr algn="r">
              <a:defRPr sz="1200"/>
            </a:lvl1pPr>
          </a:lstStyle>
          <a:p>
            <a:fld id="{1922B18C-0895-40C2-A98C-6A22ECA7D214}" type="datetimeFigureOut">
              <a:rPr lang="en-US" smtClean="0"/>
              <a:t>2/13/24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" y="9119475"/>
            <a:ext cx="3169920" cy="480061"/>
          </a:xfrm>
          <a:prstGeom prst="rect">
            <a:avLst/>
          </a:prstGeom>
        </p:spPr>
        <p:txBody>
          <a:bodyPr vert="horz" lIns="91430" tIns="45716" rIns="91430" bIns="45716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90" y="9119475"/>
            <a:ext cx="3169920" cy="480061"/>
          </a:xfrm>
          <a:prstGeom prst="rect">
            <a:avLst/>
          </a:prstGeom>
        </p:spPr>
        <p:txBody>
          <a:bodyPr vert="horz" lIns="91430" tIns="45716" rIns="91430" bIns="45716" rtlCol="0" anchor="b"/>
          <a:lstStyle>
            <a:lvl1pPr algn="r">
              <a:defRPr sz="1200"/>
            </a:lvl1pPr>
          </a:lstStyle>
          <a:p>
            <a:fld id="{7BF0A9E8-20EE-4FFE-BF50-7F2EA0FC13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1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" y="0"/>
            <a:ext cx="3169920" cy="480061"/>
          </a:xfrm>
          <a:prstGeom prst="rect">
            <a:avLst/>
          </a:prstGeom>
        </p:spPr>
        <p:txBody>
          <a:bodyPr vert="horz" lIns="91430" tIns="45716" rIns="91430" bIns="45716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90" y="0"/>
            <a:ext cx="3169920" cy="480061"/>
          </a:xfrm>
          <a:prstGeom prst="rect">
            <a:avLst/>
          </a:prstGeom>
        </p:spPr>
        <p:txBody>
          <a:bodyPr vert="horz" lIns="91430" tIns="45716" rIns="91430" bIns="45716" rtlCol="0"/>
          <a:lstStyle>
            <a:lvl1pPr algn="r">
              <a:defRPr sz="1200"/>
            </a:lvl1pPr>
          </a:lstStyle>
          <a:p>
            <a:fld id="{7CEB82EE-7859-43C3-BD1F-7B4F0DAB0F46}" type="datetimeFigureOut">
              <a:rPr lang="en-US" smtClean="0"/>
              <a:t>2/13/24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60475" y="722313"/>
            <a:ext cx="4794250" cy="3595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6" rIns="91430" bIns="45716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4" y="9119475"/>
            <a:ext cx="3169920" cy="480061"/>
          </a:xfrm>
          <a:prstGeom prst="rect">
            <a:avLst/>
          </a:prstGeom>
        </p:spPr>
        <p:txBody>
          <a:bodyPr vert="horz" lIns="91430" tIns="45716" rIns="91430" bIns="45716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90" y="9119475"/>
            <a:ext cx="3169920" cy="480061"/>
          </a:xfrm>
          <a:prstGeom prst="rect">
            <a:avLst/>
          </a:prstGeom>
        </p:spPr>
        <p:txBody>
          <a:bodyPr vert="horz" lIns="91430" tIns="45716" rIns="91430" bIns="45716" rtlCol="0" anchor="b"/>
          <a:lstStyle>
            <a:lvl1pPr algn="r">
              <a:defRPr sz="1200"/>
            </a:lvl1pPr>
          </a:lstStyle>
          <a:p>
            <a:fld id="{5ED5DB85-51F6-4F8B-9C9B-239CB5AE9C49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838" y="4621213"/>
            <a:ext cx="5851525" cy="37798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11191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5DB85-51F6-4F8B-9C9B-239CB5AE9C4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4616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5DB85-51F6-4F8B-9C9B-239CB5AE9C4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260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6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>
          <a:xfrm>
            <a:off x="0" y="0"/>
            <a:ext cx="9144000" cy="1340768"/>
          </a:xfrm>
          <a:prstGeom prst="rect">
            <a:avLst/>
          </a:prstGeom>
          <a:solidFill>
            <a:srgbClr val="1B2E67">
              <a:alpha val="70000"/>
            </a:srgb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Rectangle 1026"/>
          <p:cNvSpPr>
            <a:spLocks noGrp="1" noChangeArrowheads="1"/>
          </p:cNvSpPr>
          <p:nvPr>
            <p:ph type="ctrTitle"/>
          </p:nvPr>
        </p:nvSpPr>
        <p:spPr>
          <a:xfrm>
            <a:off x="511859" y="2141909"/>
            <a:ext cx="3981504" cy="984885"/>
          </a:xfrm>
          <a:prstGeom prst="rect">
            <a:avLst/>
          </a:prstGeom>
        </p:spPr>
        <p:txBody>
          <a:bodyPr lIns="0"/>
          <a:lstStyle>
            <a:lvl1pPr>
              <a:defRPr sz="3200" b="1" baseline="0">
                <a:solidFill>
                  <a:srgbClr val="0078BF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defRPr>
            </a:lvl1pPr>
          </a:lstStyle>
          <a:p>
            <a:pPr lvl="0"/>
            <a:r>
              <a:rPr lang="en-US" noProof="0" dirty="0"/>
              <a:t>Click to edit Master title style</a:t>
            </a:r>
          </a:p>
        </p:txBody>
      </p:sp>
      <p:sp>
        <p:nvSpPr>
          <p:cNvPr id="8" name="Rectangle 1027"/>
          <p:cNvSpPr>
            <a:spLocks noGrp="1" noChangeArrowheads="1"/>
          </p:cNvSpPr>
          <p:nvPr>
            <p:ph type="subTitle" idx="1"/>
          </p:nvPr>
        </p:nvSpPr>
        <p:spPr>
          <a:xfrm>
            <a:off x="511859" y="3425346"/>
            <a:ext cx="3981504" cy="21544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600" indent="0">
              <a:buFontTx/>
              <a:buNone/>
              <a:defRPr sz="14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1pPr>
          </a:lstStyle>
          <a:p>
            <a:pPr lvl="0"/>
            <a:r>
              <a:rPr lang="en-US" noProof="0" dirty="0"/>
              <a:t>Click to edit Master subtitle style</a:t>
            </a:r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5508104" y="2163553"/>
            <a:ext cx="0" cy="3605048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0"/>
          <p:cNvSpPr>
            <a:spLocks noGrp="1"/>
          </p:cNvSpPr>
          <p:nvPr>
            <p:ph type="body" sz="quarter" idx="10"/>
          </p:nvPr>
        </p:nvSpPr>
        <p:spPr>
          <a:xfrm>
            <a:off x="512515" y="5515894"/>
            <a:ext cx="3981450" cy="215444"/>
          </a:xfrm>
          <a:prstGeom prst="rect">
            <a:avLst/>
          </a:prstGeom>
        </p:spPr>
        <p:txBody>
          <a:bodyPr/>
          <a:lstStyle>
            <a:lvl1pPr marL="3600" indent="0">
              <a:buFontTx/>
              <a:buNone/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0" y="1"/>
            <a:ext cx="9144000" cy="1340767"/>
          </a:xfrm>
          <a:prstGeom prst="rect">
            <a:avLst/>
          </a:prstGeom>
          <a:solidFill>
            <a:srgbClr val="0078BF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 userDrawn="1"/>
        </p:nvSpPr>
        <p:spPr>
          <a:xfrm>
            <a:off x="0" y="6597351"/>
            <a:ext cx="9144000" cy="262247"/>
          </a:xfrm>
          <a:prstGeom prst="rect">
            <a:avLst/>
          </a:prstGeom>
          <a:solidFill>
            <a:srgbClr val="D6DADC"/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2839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6590976"/>
            <a:ext cx="9144000" cy="267023"/>
          </a:xfrm>
          <a:prstGeom prst="rect">
            <a:avLst/>
          </a:prstGeom>
          <a:solidFill>
            <a:srgbClr val="D6DADC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itle Placeholder 2"/>
          <p:cNvSpPr>
            <a:spLocks noGrp="1" noChangeArrowheads="1"/>
          </p:cNvSpPr>
          <p:nvPr>
            <p:ph type="title"/>
          </p:nvPr>
        </p:nvSpPr>
        <p:spPr bwMode="auto">
          <a:xfrm>
            <a:off x="134860" y="289804"/>
            <a:ext cx="774950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rgbClr val="0078BF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pPr lvl="0"/>
            <a:r>
              <a:rPr lang="en-US" noProof="0" dirty="0"/>
              <a:t>Click to edit Master</a:t>
            </a:r>
          </a:p>
        </p:txBody>
      </p:sp>
      <p:sp>
        <p:nvSpPr>
          <p:cNvPr id="8" name="Slide Number"/>
          <p:cNvSpPr txBox="1">
            <a:spLocks/>
          </p:cNvSpPr>
          <p:nvPr userDrawn="1"/>
        </p:nvSpPr>
        <p:spPr>
          <a:xfrm>
            <a:off x="8721120" y="6660138"/>
            <a:ext cx="157094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>
              <a:defRPr sz="1000" baseline="0">
                <a:latin typeface="+mn-lt"/>
              </a:defRPr>
            </a:lvl1pPr>
          </a:lstStyle>
          <a:p>
            <a:pPr lvl="0"/>
            <a:fld id="{42C328C1-A84F-4A39-A664-DBA00541A8C6}" type="slidenum">
              <a:rPr lang="en-US" smtClean="0">
                <a:solidFill>
                  <a:schemeClr val="tx1">
                    <a:lumMod val="75000"/>
                    <a:lumOff val="2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pPr lvl="0"/>
              <a:t>‹#›</a:t>
            </a:fld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SlideLogoSeparator"/>
          <p:cNvSpPr>
            <a:spLocks noChangeArrowheads="1"/>
          </p:cNvSpPr>
          <p:nvPr userDrawn="1">
            <p:custDataLst>
              <p:tags r:id="rId1"/>
            </p:custDataLst>
          </p:nvPr>
        </p:nvSpPr>
        <p:spPr bwMode="auto">
          <a:xfrm>
            <a:off x="8608985" y="6633206"/>
            <a:ext cx="40076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noAutofit/>
          </a:bodyPr>
          <a:lstStyle/>
          <a:p>
            <a:pPr algn="r" defTabSz="895350"/>
            <a:r>
              <a:rPr lang="en-US" sz="1200" baseline="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  <a:t>|</a:t>
            </a: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1" hasCustomPrompt="1"/>
          </p:nvPr>
        </p:nvSpPr>
        <p:spPr>
          <a:xfrm>
            <a:off x="134860" y="66140"/>
            <a:ext cx="7749508" cy="215444"/>
          </a:xfrm>
          <a:prstGeom prst="rect">
            <a:avLst/>
          </a:prstGeom>
        </p:spPr>
        <p:txBody>
          <a:bodyPr lIns="0" tIns="0" rIns="0" bIns="0" anchor="ctr"/>
          <a:lstStyle>
            <a:lvl1pPr marL="3600" indent="0">
              <a:buFontTx/>
              <a:buNone/>
              <a:defRPr sz="1400" b="0">
                <a:solidFill>
                  <a:schemeClr val="tx1">
                    <a:lumMod val="65000"/>
                    <a:lumOff val="3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TRACKER</a:t>
            </a:r>
          </a:p>
        </p:txBody>
      </p:sp>
      <p:cxnSp>
        <p:nvCxnSpPr>
          <p:cNvPr id="21" name="Straight Connector 20"/>
          <p:cNvCxnSpPr/>
          <p:nvPr userDrawn="1"/>
        </p:nvCxnSpPr>
        <p:spPr>
          <a:xfrm>
            <a:off x="7989173" y="66140"/>
            <a:ext cx="0" cy="1058432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McK 1. On-page tracker"/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134860" y="6647543"/>
            <a:ext cx="2685030" cy="153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sz="1000" noProof="1">
                <a:solidFill>
                  <a:schemeClr val="tx1">
                    <a:lumMod val="75000"/>
                    <a:lumOff val="2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Brian</a:t>
            </a:r>
            <a:r>
              <a:rPr lang="en-US" sz="1000" baseline="0" noProof="1">
                <a:solidFill>
                  <a:schemeClr val="tx1">
                    <a:lumMod val="75000"/>
                    <a:lumOff val="2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Fox | Bentley University | November 2023</a:t>
            </a:r>
            <a:endParaRPr lang="en-US" sz="1000" noProof="1">
              <a:solidFill>
                <a:schemeClr val="tx1">
                  <a:lumMod val="75000"/>
                  <a:lumOff val="2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292" name="Text Placeholder 12291"/>
          <p:cNvSpPr>
            <a:spLocks noGrp="1"/>
          </p:cNvSpPr>
          <p:nvPr>
            <p:ph type="body" sz="quarter" idx="14" hasCustomPrompt="1"/>
          </p:nvPr>
        </p:nvSpPr>
        <p:spPr>
          <a:xfrm>
            <a:off x="134860" y="1012401"/>
            <a:ext cx="7245452" cy="215444"/>
          </a:xfrm>
        </p:spPr>
        <p:txBody>
          <a:bodyPr tIns="0" rIns="0" bIns="0"/>
          <a:lstStyle>
            <a:lvl1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03" name="Text Placeholder 12291"/>
          <p:cNvSpPr>
            <a:spLocks noGrp="1"/>
          </p:cNvSpPr>
          <p:nvPr>
            <p:ph type="body" sz="quarter" idx="15" hasCustomPrompt="1"/>
          </p:nvPr>
        </p:nvSpPr>
        <p:spPr>
          <a:xfrm>
            <a:off x="134860" y="6359812"/>
            <a:ext cx="7245452" cy="153888"/>
          </a:xfrm>
        </p:spPr>
        <p:txBody>
          <a:bodyPr tIns="0" rIns="0" bIns="0"/>
          <a:lstStyle>
            <a:lvl1pPr>
              <a:defRPr sz="10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source</a:t>
            </a:r>
          </a:p>
        </p:txBody>
      </p:sp>
      <p:sp>
        <p:nvSpPr>
          <p:cNvPr id="15" name="McK 1. On-page tracker"/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auto">
          <a:xfrm>
            <a:off x="4227387" y="6647543"/>
            <a:ext cx="689291" cy="153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 algn="ctr"/>
            <a:r>
              <a:rPr lang="en-US" sz="1000" noProof="1">
                <a:solidFill>
                  <a:schemeClr val="tx1">
                    <a:lumMod val="75000"/>
                    <a:lumOff val="2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OT Seminar</a:t>
            </a:r>
          </a:p>
        </p:txBody>
      </p:sp>
      <p:sp>
        <p:nvSpPr>
          <p:cNvPr id="18" name="McK 1. On-page tracker"/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auto">
          <a:xfrm>
            <a:off x="6813840" y="6660138"/>
            <a:ext cx="1718420" cy="153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 algn="ctr"/>
            <a:r>
              <a:rPr lang="en-US" sz="1000" noProof="1">
                <a:solidFill>
                  <a:schemeClr val="tx1">
                    <a:lumMod val="75000"/>
                    <a:lumOff val="2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For Discussion</a:t>
            </a:r>
            <a:r>
              <a:rPr lang="en-US" sz="1000" baseline="0" noProof="1">
                <a:solidFill>
                  <a:schemeClr val="tx1">
                    <a:lumMod val="75000"/>
                    <a:lumOff val="2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Purposes Only</a:t>
            </a:r>
            <a:endParaRPr lang="en-US" sz="1000" noProof="1">
              <a:solidFill>
                <a:schemeClr val="tx1">
                  <a:lumMod val="75000"/>
                  <a:lumOff val="2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7" name="Picture 16">
            <a:hlinkClick r:id="" action="ppaction://noaction"/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8209" y="0"/>
            <a:ext cx="919651" cy="124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947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82E67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34309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oleObject" Target="../embeddings/oleObject1.bin"/><Relationship Id="rId5" Type="http://schemas.openxmlformats.org/officeDocument/2006/relationships/tags" Target="../tags/tag2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ct 12" hidden="1"/>
          <p:cNvGraphicFramePr>
            <a:graphicFrameLocks noChangeAspect="1"/>
          </p:cNvGraphicFramePr>
          <p:nvPr userDrawn="1"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839432016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270" imgH="270" progId="TCLayout.ActiveDocument.1">
                  <p:embed/>
                </p:oleObj>
              </mc:Choice>
              <mc:Fallback>
                <p:oleObj name="think-cell Slide" r:id="rId6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Text Placeholder 19"/>
          <p:cNvSpPr>
            <a:spLocks noGrp="1"/>
          </p:cNvSpPr>
          <p:nvPr>
            <p:ph type="body" idx="1"/>
          </p:nvPr>
        </p:nvSpPr>
        <p:spPr>
          <a:xfrm>
            <a:off x="134860" y="908720"/>
            <a:ext cx="4042792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86271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6" r:id="rId3"/>
  </p:sldLayoutIdLst>
  <p:txStyles>
    <p:titleStyle>
      <a:lvl1pPr algn="l" defTabSz="914400" rtl="0" eaLnBrk="1" latinLnBrk="0" hangingPunct="1">
        <a:spcBef>
          <a:spcPct val="0"/>
        </a:spcBef>
        <a:buNone/>
        <a:defRPr sz="2000" b="1" kern="1200">
          <a:solidFill>
            <a:schemeClr val="accent6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Wingdings" pitchFamily="2" charset="2"/>
        <a:buNone/>
        <a:tabLst/>
        <a:defRPr sz="1400" b="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0" indent="-194400" algn="l" defTabSz="914400" rtl="0" eaLnBrk="1" latinLnBrk="0" hangingPunct="1">
        <a:spcBef>
          <a:spcPts val="0"/>
        </a:spcBef>
        <a:buFont typeface="Wingdings" pitchFamily="2" charset="2"/>
        <a:buChar char="§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457200" indent="-154800" algn="l" defTabSz="914400" rtl="0" eaLnBrk="1" latinLnBrk="0" hangingPunct="1">
        <a:spcBef>
          <a:spcPts val="0"/>
        </a:spcBef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615600" indent="-129600" algn="l" defTabSz="914400" rtl="0" eaLnBrk="1" latinLnBrk="0" hangingPunct="1">
        <a:spcBef>
          <a:spcPts val="0"/>
        </a:spcBef>
        <a:buSzPct val="60000"/>
        <a:buFont typeface="Arial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748800" indent="-129600" algn="l" defTabSz="914400" rtl="0" eaLnBrk="1" latinLnBrk="0" hangingPunct="1">
        <a:spcBef>
          <a:spcPts val="0"/>
        </a:spcBef>
        <a:buSzPct val="60000"/>
        <a:buFont typeface="Arial" pitchFamily="34" charset="0"/>
        <a:buChar char="»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2.xml"/><Relationship Id="rId7" Type="http://schemas.openxmlformats.org/officeDocument/2006/relationships/hyperlink" Target="https://doi.org/10.5465/amr.2016.0225" TargetMode="Externa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2.bin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2.bin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897665D2-A0E1-2F48-BACA-665A4EB8E2F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897665D2-A0E1-2F48-BACA-665A4EB8E2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A130884C-52EA-2144-8636-8C1720DC2A6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/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Helvetica" pitchFamily="2" charset="0"/>
              <a:ea typeface="+mj-ea"/>
              <a:sym typeface="Helvetica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ACBD9C-129E-4D40-996D-65FE8F9D2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860" y="289804"/>
            <a:ext cx="7749507" cy="615553"/>
          </a:xfrm>
        </p:spPr>
        <p:txBody>
          <a:bodyPr/>
          <a:lstStyle/>
          <a:p>
            <a:r>
              <a:rPr lang="en-US" dirty="0"/>
              <a:t>The common ground and complication provide the motivation to undertake a study, which raises and resolves a tension.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2AE0B-D18C-AA47-B083-CE9382A5243E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dirty="0"/>
              <a:t>TOWARDS A CONTRIBUTION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C18FB-1555-CC4B-B945-E60BFC9E1B1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4859" y="6359812"/>
            <a:ext cx="8946741" cy="153888"/>
          </a:xfrm>
        </p:spPr>
        <p:txBody>
          <a:bodyPr/>
          <a:lstStyle/>
          <a:p>
            <a:r>
              <a:rPr lang="en-US" dirty="0"/>
              <a:t>Source: Lange and </a:t>
            </a:r>
            <a:r>
              <a:rPr lang="en-US" dirty="0" err="1"/>
              <a:t>Pfarrer</a:t>
            </a:r>
            <a:r>
              <a:rPr lang="en-US" dirty="0"/>
              <a:t> 2017. </a:t>
            </a:r>
            <a:r>
              <a:rPr lang="en-US" dirty="0">
                <a:hlinkClick r:id="rId7"/>
              </a:rPr>
              <a:t>https://doi.org/10.5465/amr.2016.0225</a:t>
            </a:r>
            <a:r>
              <a:rPr lang="en-US" dirty="0"/>
              <a:t>   if you are familiar with Barbara Minto’s work, this is analogous to an SCQ-A framing.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5BD7491-3177-3C45-865F-2C55DC24FBA8}"/>
              </a:ext>
            </a:extLst>
          </p:cNvPr>
          <p:cNvCxnSpPr/>
          <p:nvPr/>
        </p:nvCxnSpPr>
        <p:spPr>
          <a:xfrm>
            <a:off x="107255" y="6237312"/>
            <a:ext cx="8785225" cy="0"/>
          </a:xfrm>
          <a:prstGeom prst="line">
            <a:avLst/>
          </a:prstGeom>
          <a:ln>
            <a:solidFill>
              <a:srgbClr val="000B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19517260-3431-E121-1AB7-61023C87D2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" name="Picture 9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FF562C52-D7F5-687B-CF01-07E310EACD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3628" y="1262686"/>
            <a:ext cx="6696744" cy="134860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1ABF2C6-FA21-4D4B-120A-8CCCA77773A7}"/>
              </a:ext>
            </a:extLst>
          </p:cNvPr>
          <p:cNvSpPr/>
          <p:nvPr/>
        </p:nvSpPr>
        <p:spPr>
          <a:xfrm>
            <a:off x="202319" y="2623551"/>
            <a:ext cx="2088232" cy="5862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Common ground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EA93AB-171B-C3FF-3671-64D0BA7F0CF0}"/>
              </a:ext>
            </a:extLst>
          </p:cNvPr>
          <p:cNvSpPr/>
          <p:nvPr/>
        </p:nvSpPr>
        <p:spPr>
          <a:xfrm>
            <a:off x="196376" y="3292097"/>
            <a:ext cx="2088232" cy="5862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Complication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A93BF7-508F-59E5-AC99-9521BCCDC6C8}"/>
              </a:ext>
            </a:extLst>
          </p:cNvPr>
          <p:cNvSpPr/>
          <p:nvPr/>
        </p:nvSpPr>
        <p:spPr>
          <a:xfrm>
            <a:off x="198432" y="3973186"/>
            <a:ext cx="2088232" cy="5862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Concern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7E043B-90C9-1197-BF07-558B9C346C73}"/>
              </a:ext>
            </a:extLst>
          </p:cNvPr>
          <p:cNvSpPr/>
          <p:nvPr/>
        </p:nvSpPr>
        <p:spPr>
          <a:xfrm>
            <a:off x="196376" y="4641732"/>
            <a:ext cx="2088232" cy="5862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Course of Action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28D2-CD83-6431-7238-C14B0EF9013B}"/>
              </a:ext>
            </a:extLst>
          </p:cNvPr>
          <p:cNvSpPr/>
          <p:nvPr/>
        </p:nvSpPr>
        <p:spPr>
          <a:xfrm>
            <a:off x="196376" y="5343434"/>
            <a:ext cx="2088232" cy="5862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Contribution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CF2E3A-0F05-2AB7-AE4E-34A3DA163C46}"/>
              </a:ext>
            </a:extLst>
          </p:cNvPr>
          <p:cNvSpPr txBox="1"/>
          <p:nvPr/>
        </p:nvSpPr>
        <p:spPr>
          <a:xfrm>
            <a:off x="2555776" y="2825412"/>
            <a:ext cx="4387227" cy="21544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Helvetica" pitchFamily="2" charset="0"/>
              </a:rPr>
              <a:t>A set of premises that an informed party will agree with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83C031-E91E-96D3-B63F-9662D8B88642}"/>
              </a:ext>
            </a:extLst>
          </p:cNvPr>
          <p:cNvSpPr txBox="1"/>
          <p:nvPr/>
        </p:nvSpPr>
        <p:spPr>
          <a:xfrm>
            <a:off x="2555776" y="3472290"/>
            <a:ext cx="6407203" cy="21544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Helvetica" pitchFamily="2" charset="0"/>
              </a:rPr>
              <a:t>An issue with these premises (perhaps discordant evidence, hidden assumptions)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5D5B7E-7CF7-5D7D-7D3B-2EDD4BB29B27}"/>
              </a:ext>
            </a:extLst>
          </p:cNvPr>
          <p:cNvSpPr txBox="1"/>
          <p:nvPr/>
        </p:nvSpPr>
        <p:spPr>
          <a:xfrm>
            <a:off x="2555776" y="4160495"/>
            <a:ext cx="3364704" cy="21544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Helvetica" pitchFamily="2" charset="0"/>
              </a:rPr>
              <a:t>Why are these issues not easily dismissed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E5684D-9FEC-AD0E-2260-20E6D38046AE}"/>
              </a:ext>
            </a:extLst>
          </p:cNvPr>
          <p:cNvSpPr txBox="1"/>
          <p:nvPr/>
        </p:nvSpPr>
        <p:spPr>
          <a:xfrm>
            <a:off x="2556804" y="4817612"/>
            <a:ext cx="4993355" cy="21544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Helvetica" pitchFamily="2" charset="0"/>
              </a:rPr>
              <a:t>The plan of attack for resolving this issue that has come to light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CBF37B-7E5B-0365-6FCA-AE81DA39DDBA}"/>
              </a:ext>
            </a:extLst>
          </p:cNvPr>
          <p:cNvSpPr txBox="1"/>
          <p:nvPr/>
        </p:nvSpPr>
        <p:spPr>
          <a:xfrm>
            <a:off x="2555776" y="5505817"/>
            <a:ext cx="6525825" cy="21544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Helvetica" pitchFamily="2" charset="0"/>
              </a:rPr>
              <a:t>How the resolution of this issue allows us to move forward from a stronger position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8ED64A0-5844-BDD9-B9C1-03D210285B51}"/>
              </a:ext>
            </a:extLst>
          </p:cNvPr>
          <p:cNvCxnSpPr/>
          <p:nvPr/>
        </p:nvCxnSpPr>
        <p:spPr>
          <a:xfrm>
            <a:off x="107950" y="1340768"/>
            <a:ext cx="8785225" cy="0"/>
          </a:xfrm>
          <a:prstGeom prst="line">
            <a:avLst/>
          </a:prstGeom>
          <a:ln>
            <a:solidFill>
              <a:srgbClr val="000B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411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897665D2-A0E1-2F48-BACA-665A4EB8E2F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3249914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A130884C-52EA-2144-8636-8C1720DC2A6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/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Helvetica" pitchFamily="2" charset="0"/>
              <a:ea typeface="+mj-ea"/>
              <a:sym typeface="Helvetica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ACBD9C-129E-4D40-996D-65FE8F9D2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860" y="289804"/>
            <a:ext cx="7749507" cy="615553"/>
          </a:xfrm>
        </p:spPr>
        <p:txBody>
          <a:bodyPr/>
          <a:lstStyle/>
          <a:p>
            <a:r>
              <a:rPr lang="en-US" dirty="0"/>
              <a:t>How your knowledge and the current state of the field can give rise to research questions the elements of an introduction.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2AE0B-D18C-AA47-B083-CE9382A5243E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dirty="0"/>
              <a:t>RESEARCH QUESTIONS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C18FB-1555-CC4B-B945-E60BFC9E1B1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See also Huff (1999): Writing for Scholarly </a:t>
            </a:r>
            <a:r>
              <a:rPr lang="en-US" dirty="0" err="1"/>
              <a:t>Converstation</a:t>
            </a:r>
            <a:r>
              <a:rPr lang="en-US" dirty="0"/>
              <a:t>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1349C6A-6C6C-4B43-B95D-AB78F7BDEB3D}"/>
              </a:ext>
            </a:extLst>
          </p:cNvPr>
          <p:cNvCxnSpPr/>
          <p:nvPr/>
        </p:nvCxnSpPr>
        <p:spPr>
          <a:xfrm>
            <a:off x="107950" y="1340768"/>
            <a:ext cx="8785225" cy="0"/>
          </a:xfrm>
          <a:prstGeom prst="line">
            <a:avLst/>
          </a:prstGeom>
          <a:ln>
            <a:solidFill>
              <a:srgbClr val="000B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5BD7491-3177-3C45-865F-2C55DC24FBA8}"/>
              </a:ext>
            </a:extLst>
          </p:cNvPr>
          <p:cNvCxnSpPr/>
          <p:nvPr/>
        </p:nvCxnSpPr>
        <p:spPr>
          <a:xfrm>
            <a:off x="107255" y="6237312"/>
            <a:ext cx="8785225" cy="0"/>
          </a:xfrm>
          <a:prstGeom prst="line">
            <a:avLst/>
          </a:prstGeom>
          <a:ln>
            <a:solidFill>
              <a:srgbClr val="000B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DA3570D-5F7D-FC75-2408-C8468A137F23}"/>
              </a:ext>
            </a:extLst>
          </p:cNvPr>
          <p:cNvSpPr/>
          <p:nvPr/>
        </p:nvSpPr>
        <p:spPr>
          <a:xfrm>
            <a:off x="71249" y="1918142"/>
            <a:ext cx="2088232" cy="68399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Your unique perspective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7C4DD2-F702-F5EE-8552-CBAEED100C38}"/>
              </a:ext>
            </a:extLst>
          </p:cNvPr>
          <p:cNvSpPr/>
          <p:nvPr/>
        </p:nvSpPr>
        <p:spPr>
          <a:xfrm>
            <a:off x="3455751" y="1922388"/>
            <a:ext cx="2088232" cy="122413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Are there common threads that your work can tie together?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34F64F-95E7-B640-46F4-B38AC7D91D38}"/>
              </a:ext>
            </a:extLst>
          </p:cNvPr>
          <p:cNvSpPr/>
          <p:nvPr/>
        </p:nvSpPr>
        <p:spPr>
          <a:xfrm>
            <a:off x="3455921" y="4639251"/>
            <a:ext cx="2088232" cy="122413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What elements of your perspective are not reflected in extant conversations?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3406192-DAE2-6935-CC77-DDE7F571C12A}"/>
              </a:ext>
            </a:extLst>
          </p:cNvPr>
          <p:cNvSpPr/>
          <p:nvPr/>
        </p:nvSpPr>
        <p:spPr>
          <a:xfrm>
            <a:off x="6552094" y="1922388"/>
            <a:ext cx="2340386" cy="122413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Basis for establishing 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common ground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ED5BE1-F523-5411-C1C2-C2A960AE6AB3}"/>
              </a:ext>
            </a:extLst>
          </p:cNvPr>
          <p:cNvSpPr/>
          <p:nvPr/>
        </p:nvSpPr>
        <p:spPr>
          <a:xfrm>
            <a:off x="6556345" y="4639044"/>
            <a:ext cx="2340386" cy="122413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Potential areas to revisit the literature or potential 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complications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  <a:latin typeface="Helvetica" pitchFamily="2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5A0357-C15F-B3D1-AB9A-1AA9F28F36AC}"/>
              </a:ext>
            </a:extLst>
          </p:cNvPr>
          <p:cNvCxnSpPr>
            <a:cxnSpLocks/>
            <a:stCxn id="29" idx="3"/>
            <a:endCxn id="15" idx="1"/>
          </p:cNvCxnSpPr>
          <p:nvPr/>
        </p:nvCxnSpPr>
        <p:spPr>
          <a:xfrm flipV="1">
            <a:off x="2155879" y="2534456"/>
            <a:ext cx="1299872" cy="135667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B92DD79-1853-FCB9-DB83-B273E0892623}"/>
              </a:ext>
            </a:extLst>
          </p:cNvPr>
          <p:cNvCxnSpPr>
            <a:cxnSpLocks/>
            <a:stCxn id="15" idx="3"/>
            <a:endCxn id="19" idx="1"/>
          </p:cNvCxnSpPr>
          <p:nvPr/>
        </p:nvCxnSpPr>
        <p:spPr>
          <a:xfrm>
            <a:off x="5543983" y="2534456"/>
            <a:ext cx="10081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59DF236-4C2D-1CCF-16C1-D33F2E14985D}"/>
              </a:ext>
            </a:extLst>
          </p:cNvPr>
          <p:cNvSpPr txBox="1"/>
          <p:nvPr/>
        </p:nvSpPr>
        <p:spPr>
          <a:xfrm>
            <a:off x="2795064" y="3305592"/>
            <a:ext cx="896079" cy="21544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Helvetica" pitchFamily="2" charset="0"/>
              </a:rPr>
              <a:t>Consensus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88E03A-2323-676A-07BE-A3CA289048CA}"/>
              </a:ext>
            </a:extLst>
          </p:cNvPr>
          <p:cNvSpPr txBox="1"/>
          <p:nvPr/>
        </p:nvSpPr>
        <p:spPr>
          <a:xfrm>
            <a:off x="2805815" y="4178152"/>
            <a:ext cx="827150" cy="21544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Helvetica" pitchFamily="2" charset="0"/>
              </a:rPr>
              <a:t>Dissensus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A391CB8-CA76-3A0C-04F9-C9228A25A89E}"/>
              </a:ext>
            </a:extLst>
          </p:cNvPr>
          <p:cNvCxnSpPr>
            <a:cxnSpLocks/>
            <a:stCxn id="29" idx="3"/>
            <a:endCxn id="18" idx="1"/>
          </p:cNvCxnSpPr>
          <p:nvPr/>
        </p:nvCxnSpPr>
        <p:spPr>
          <a:xfrm>
            <a:off x="2155879" y="3891127"/>
            <a:ext cx="1300042" cy="13601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F2D5630-D70B-05D2-45FD-230FAB8AAFBE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 flipV="1">
            <a:off x="5544153" y="5251112"/>
            <a:ext cx="1012192" cy="207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19517260-3431-E121-1AB7-61023C87D2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C0A9CF-5B45-8F5D-3BCD-B7525B269AAF}"/>
              </a:ext>
            </a:extLst>
          </p:cNvPr>
          <p:cNvSpPr/>
          <p:nvPr/>
        </p:nvSpPr>
        <p:spPr>
          <a:xfrm>
            <a:off x="71249" y="5266293"/>
            <a:ext cx="2088232" cy="68399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Extant state of knowledge in field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7D0B69-6C2B-B3EE-EF73-B282F72E9A4D}"/>
              </a:ext>
            </a:extLst>
          </p:cNvPr>
          <p:cNvSpPr/>
          <p:nvPr/>
        </p:nvSpPr>
        <p:spPr>
          <a:xfrm>
            <a:off x="67647" y="3549130"/>
            <a:ext cx="2088232" cy="68399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“Proto-questions”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944E561-3F80-1A0B-9439-EC9B24A830E1}"/>
              </a:ext>
            </a:extLst>
          </p:cNvPr>
          <p:cNvCxnSpPr>
            <a:cxnSpLocks/>
            <a:stCxn id="11" idx="2"/>
            <a:endCxn id="29" idx="0"/>
          </p:cNvCxnSpPr>
          <p:nvPr/>
        </p:nvCxnSpPr>
        <p:spPr>
          <a:xfrm flipH="1">
            <a:off x="1111763" y="2602136"/>
            <a:ext cx="3602" cy="94699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BE3581A-A3C2-6815-C31C-8592D56CCE84}"/>
              </a:ext>
            </a:extLst>
          </p:cNvPr>
          <p:cNvCxnSpPr>
            <a:cxnSpLocks/>
            <a:stCxn id="14" idx="0"/>
            <a:endCxn id="29" idx="2"/>
          </p:cNvCxnSpPr>
          <p:nvPr/>
        </p:nvCxnSpPr>
        <p:spPr>
          <a:xfrm flipH="1" flipV="1">
            <a:off x="1111763" y="4233124"/>
            <a:ext cx="3602" cy="10331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7009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307D8-2501-89E3-7B10-9C09D3B47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860" y="289804"/>
            <a:ext cx="7749507" cy="615553"/>
          </a:xfrm>
        </p:spPr>
        <p:txBody>
          <a:bodyPr/>
          <a:lstStyle/>
          <a:p>
            <a:r>
              <a:rPr lang="en-US" dirty="0"/>
              <a:t>Research questions give us a means to push beyond what is known towards what we do not know.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4F96B-42E8-08CE-6364-59383E7D74E5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dirty="0"/>
              <a:t>RESEARCH QUESTIONS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A8944-7695-7032-102A-4F2EC4B486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Let’s take a common example of how this might look.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563C0D-C364-409D-A49D-B5D68276C3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7B9D6F-B83A-5E5D-F712-A97FA2943F7C}"/>
              </a:ext>
            </a:extLst>
          </p:cNvPr>
          <p:cNvCxnSpPr/>
          <p:nvPr/>
        </p:nvCxnSpPr>
        <p:spPr>
          <a:xfrm>
            <a:off x="107255" y="6237312"/>
            <a:ext cx="8785225" cy="0"/>
          </a:xfrm>
          <a:prstGeom prst="line">
            <a:avLst/>
          </a:prstGeom>
          <a:ln>
            <a:solidFill>
              <a:srgbClr val="000B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907B86C-9F36-3DFE-60C7-419735AA4AE6}"/>
              </a:ext>
            </a:extLst>
          </p:cNvPr>
          <p:cNvCxnSpPr/>
          <p:nvPr/>
        </p:nvCxnSpPr>
        <p:spPr>
          <a:xfrm>
            <a:off x="107950" y="1340768"/>
            <a:ext cx="8785225" cy="0"/>
          </a:xfrm>
          <a:prstGeom prst="line">
            <a:avLst/>
          </a:prstGeom>
          <a:ln>
            <a:solidFill>
              <a:srgbClr val="000B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C08B38-9257-23FA-75A6-D871C5761C60}"/>
              </a:ext>
            </a:extLst>
          </p:cNvPr>
          <p:cNvSpPr/>
          <p:nvPr/>
        </p:nvSpPr>
        <p:spPr>
          <a:xfrm>
            <a:off x="203936" y="1581410"/>
            <a:ext cx="2088232" cy="5862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Common ground / </a:t>
            </a:r>
          </a:p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Received wisdom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BB9CE3-C651-A588-D75A-FAF7DB26F503}"/>
              </a:ext>
            </a:extLst>
          </p:cNvPr>
          <p:cNvSpPr/>
          <p:nvPr/>
        </p:nvSpPr>
        <p:spPr>
          <a:xfrm>
            <a:off x="203936" y="3021253"/>
            <a:ext cx="2088232" cy="5862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Complication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0769154-D8CF-857B-0CA6-7DDD29659159}"/>
              </a:ext>
            </a:extLst>
          </p:cNvPr>
          <p:cNvCxnSpPr>
            <a:cxnSpLocks/>
            <a:stCxn id="17" idx="3"/>
            <a:endCxn id="18" idx="1"/>
          </p:cNvCxnSpPr>
          <p:nvPr/>
        </p:nvCxnSpPr>
        <p:spPr>
          <a:xfrm>
            <a:off x="4927243" y="1887622"/>
            <a:ext cx="159575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39CE6BA3-97EF-CF50-3987-C240BD7373D1}"/>
              </a:ext>
            </a:extLst>
          </p:cNvPr>
          <p:cNvSpPr/>
          <p:nvPr/>
        </p:nvSpPr>
        <p:spPr>
          <a:xfrm>
            <a:off x="203936" y="5552478"/>
            <a:ext cx="2088232" cy="5862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Concern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54321E-E535-7D54-04CD-487395152861}"/>
              </a:ext>
            </a:extLst>
          </p:cNvPr>
          <p:cNvSpPr txBox="1"/>
          <p:nvPr/>
        </p:nvSpPr>
        <p:spPr>
          <a:xfrm>
            <a:off x="2483768" y="5635945"/>
            <a:ext cx="6129883" cy="43088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Helvetica" pitchFamily="2" charset="0"/>
              </a:rPr>
              <a:t>So what? If we got the answer to this question, would it change how we think,</a:t>
            </a:r>
          </a:p>
          <a:p>
            <a:pPr algn="l"/>
            <a:r>
              <a:rPr lang="en-US" sz="1400" dirty="0">
                <a:latin typeface="Helvetica" pitchFamily="2" charset="0"/>
              </a:rPr>
              <a:t>act, provide recommendations, </a:t>
            </a:r>
            <a:r>
              <a:rPr lang="en-US" sz="1400" dirty="0" err="1">
                <a:latin typeface="Helvetica" pitchFamily="2" charset="0"/>
              </a:rPr>
              <a:t>etc</a:t>
            </a:r>
            <a:r>
              <a:rPr lang="en-US" sz="1400" dirty="0">
                <a:latin typeface="Helvetica" pitchFamily="2" charset="0"/>
              </a:rPr>
              <a:t>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42FDF8-815B-6109-5C1E-98DE1E22D210}"/>
              </a:ext>
            </a:extLst>
          </p:cNvPr>
          <p:cNvSpPr/>
          <p:nvPr/>
        </p:nvSpPr>
        <p:spPr>
          <a:xfrm>
            <a:off x="2839011" y="1594501"/>
            <a:ext cx="2088232" cy="5862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Relative market share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2E3F258-5102-342F-FC70-7E44D521C1ED}"/>
              </a:ext>
            </a:extLst>
          </p:cNvPr>
          <p:cNvSpPr/>
          <p:nvPr/>
        </p:nvSpPr>
        <p:spPr>
          <a:xfrm>
            <a:off x="6522999" y="1594501"/>
            <a:ext cx="2088232" cy="5862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Increased performance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485EA8-1D2D-23E3-E66C-6D5A3B153225}"/>
              </a:ext>
            </a:extLst>
          </p:cNvPr>
          <p:cNvSpPr txBox="1"/>
          <p:nvPr/>
        </p:nvSpPr>
        <p:spPr>
          <a:xfrm>
            <a:off x="5667195" y="1616040"/>
            <a:ext cx="104196" cy="21544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Helvetica" pitchFamily="2" charset="0"/>
              </a:rPr>
              <a:t>+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93704E-7305-464B-DFD1-0847D889C878}"/>
              </a:ext>
            </a:extLst>
          </p:cNvPr>
          <p:cNvSpPr txBox="1"/>
          <p:nvPr/>
        </p:nvSpPr>
        <p:spPr>
          <a:xfrm>
            <a:off x="3580085" y="2287029"/>
            <a:ext cx="4278415" cy="21544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i="1" dirty="0">
                <a:solidFill>
                  <a:schemeClr val="tx1">
                    <a:lumMod val="85000"/>
                    <a:lumOff val="15000"/>
                  </a:schemeClr>
                </a:solidFill>
                <a:latin typeface="Helvetica" pitchFamily="2" charset="0"/>
              </a:rPr>
              <a:t>(as established by the PIMS studies in the 1970s-80s)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7F06A8-5B7A-EC31-0A7D-BFF6CDC5435B}"/>
              </a:ext>
            </a:extLst>
          </p:cNvPr>
          <p:cNvSpPr txBox="1"/>
          <p:nvPr/>
        </p:nvSpPr>
        <p:spPr>
          <a:xfrm>
            <a:off x="2498694" y="3108806"/>
            <a:ext cx="6187656" cy="43088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Helvetica" pitchFamily="2" charset="0"/>
              </a:rPr>
              <a:t>What about industries with fast cycle times? Would investments in continuing </a:t>
            </a:r>
          </a:p>
          <a:p>
            <a:pPr algn="l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Helvetica" pitchFamily="2" charset="0"/>
              </a:rPr>
              <a:t>to gain relative market share make sense if the category becomes obsolete?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8A184C-1D3C-2CB5-8984-E40F430E18FB}"/>
              </a:ext>
            </a:extLst>
          </p:cNvPr>
          <p:cNvSpPr txBox="1"/>
          <p:nvPr/>
        </p:nvSpPr>
        <p:spPr>
          <a:xfrm>
            <a:off x="1187939" y="2514411"/>
            <a:ext cx="120226" cy="21544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Helvetica" pitchFamily="2" charset="0"/>
              </a:rPr>
              <a:t>X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D161E9-D6DC-9438-FFF5-99733C980FFE}"/>
              </a:ext>
            </a:extLst>
          </p:cNvPr>
          <p:cNvSpPr txBox="1"/>
          <p:nvPr/>
        </p:nvSpPr>
        <p:spPr>
          <a:xfrm>
            <a:off x="1204744" y="3985527"/>
            <a:ext cx="104196" cy="21544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Helvetica" pitchFamily="2" charset="0"/>
              </a:rPr>
              <a:t>=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933677-56C1-FE1E-F55A-EA474E0453F9}"/>
              </a:ext>
            </a:extLst>
          </p:cNvPr>
          <p:cNvSpPr/>
          <p:nvPr/>
        </p:nvSpPr>
        <p:spPr>
          <a:xfrm>
            <a:off x="203936" y="4357989"/>
            <a:ext cx="2088232" cy="5862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" pitchFamily="2" charset="0"/>
              </a:rPr>
              <a:t>Research Question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6490A1-6BA6-05D6-CECC-06553F4E0125}"/>
              </a:ext>
            </a:extLst>
          </p:cNvPr>
          <p:cNvSpPr txBox="1"/>
          <p:nvPr/>
        </p:nvSpPr>
        <p:spPr>
          <a:xfrm>
            <a:off x="551547" y="5168063"/>
            <a:ext cx="1513235" cy="21544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Helvetica" pitchFamily="2" charset="0"/>
              </a:rPr>
              <a:t>But keep in mind…</a:t>
            </a:r>
          </a:p>
        </p:txBody>
      </p:sp>
    </p:spTree>
    <p:extLst>
      <p:ext uri="{BB962C8B-B14F-4D97-AF65-F5344CB8AC3E}">
        <p14:creationId xmlns:p14="http://schemas.microsoft.com/office/powerpoint/2010/main" val="239364833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PVERSION" val="2008"/>
  <p:tag name="USESECONDARYMONITOR" val="True"/>
  <p:tag name="ANSWERNOWSTYLE" val="-1"/>
  <p:tag name="RESPCOUNTERFORMAT" val="0"/>
  <p:tag name="NUMRESPONSES" val="1"/>
  <p:tag name="CHARTVALUEFORMAT" val="0%"/>
  <p:tag name="AUTOUPDATEALIASES" val="True"/>
  <p:tag name="RACEANIMATIONSPEED" val="3"/>
  <p:tag name="MAXRESPONDERS" val="5"/>
  <p:tag name="BUBBLEGROUPING" val="3"/>
  <p:tag name="CUSTOMCELLBACKCOLOR1" val="-657956"/>
  <p:tag name="USESCHEMECOLORS" val="True"/>
  <p:tag name="GRIDOPACITY" val="90"/>
  <p:tag name="GRIDPOSITION" val="1"/>
  <p:tag name="CHARTLABELS" val="1"/>
  <p:tag name="INCLUDEPPT" val="True"/>
  <p:tag name="REALTIMEBACKUP" val="False"/>
  <p:tag name="CHARTSCALE" val="True"/>
  <p:tag name="FIBINCLUDEOTHER" val="True"/>
  <p:tag name="PRRESPONSE3" val="8"/>
  <p:tag name="PRRESPONSE7" val="4"/>
  <p:tag name="SHOWFLASHWARNING" val="True"/>
  <p:tag name="SAVECSVWITHSESSION" val="True"/>
  <p:tag name="COUNTDOWNSTYLE" val="-1"/>
  <p:tag name="INPUTSOURCE" val="1"/>
  <p:tag name="AUTOADVANCE" val="False"/>
  <p:tag name="RACEENDPOINTS" val="100"/>
  <p:tag name="TEAMSINLEADERBOARD" val="5"/>
  <p:tag name="DEFAULTNUMTEAMS" val="5"/>
  <p:tag name="CUSTOMCELLBACKCOLOR3" val="-268652"/>
  <p:tag name="DISPLAYDEVICEID" val="True"/>
  <p:tag name="GRIDFONTSIZE" val="12"/>
  <p:tag name="INCLUDENONRESPONDERS" val="False"/>
  <p:tag name="INCORRECTPOINTVALUE" val="0"/>
  <p:tag name="ADVANCEDSETTINGSVIEW" val="False"/>
  <p:tag name="PRRESPONSE1" val="10"/>
  <p:tag name="PRRESPONSE6" val="5"/>
  <p:tag name="ALWAYSOPENPOLL" val="False"/>
  <p:tag name="SHOWBARVISIBLE" val="True"/>
  <p:tag name="ANSWERNOWTEXT" val="Answer Now"/>
  <p:tag name="ALLOWDUPLICATES" val="False"/>
  <p:tag name="ROTATIONINTERVAL" val="2"/>
  <p:tag name="PARTICIPANTSINLEADERBOARD" val="5"/>
  <p:tag name="CUSTOMGRIDBACKCOLOR" val="-2830136"/>
  <p:tag name="DISPLAYNAME" val="True"/>
  <p:tag name="GRIDSIZE" val="{Width=800, Height=600}"/>
  <p:tag name="MULTIRESPDIVISOR" val="1"/>
  <p:tag name="ZEROBASED" val="False"/>
  <p:tag name="FIBDISPLAYKEYWORDS" val="True"/>
  <p:tag name="PRRESPONSE8" val="3"/>
  <p:tag name="BULLETTYPE" val="3"/>
  <p:tag name="BACKUPSESSIONS" val="True"/>
  <p:tag name="RACERSMAXDISPLAYED" val="5"/>
  <p:tag name="BUBBLEVALUEFORMAT" val="0.0"/>
  <p:tag name="DISPLAYDEVICENUMBER" val="True"/>
  <p:tag name="CHARTCOLORS" val="0"/>
  <p:tag name="REALTIMEBACKUPPATH" val="(None)"/>
  <p:tag name="PRRESPONSE2" val="9"/>
  <p:tag name="PRRESPONSE10" val="1"/>
  <p:tag name="CSVFORMAT" val="0"/>
  <p:tag name="BACKUPMAINTENANCE" val="7"/>
  <p:tag name="BUBBLENAMEVISIBLE" val="True"/>
  <p:tag name="CUSTOMCELLBACKCOLOR4" val="-8355712"/>
  <p:tag name="RESETCHARTS" val="True"/>
  <p:tag name="FIBDISPLAYRESULTS" val="True"/>
  <p:tag name="PRRESPONSE9" val="2"/>
  <p:tag name="RESPCOUNTERSTYLE" val="-1"/>
  <p:tag name="STDCHART" val="1"/>
  <p:tag name="CUSTOMCELLBACKCOLOR2" val="-13395457"/>
  <p:tag name="ALLOWUSERFEEDBACK" val="True"/>
  <p:tag name="PRRESPONSE4" val="7"/>
  <p:tag name="EXPANDSHOWBAR" val="True"/>
  <p:tag name="SKIPREMAININGRACESLIDES" val="True"/>
  <p:tag name="AUTOSIZEGRID" val="True"/>
  <p:tag name="FIBNUMRESULTS" val="5"/>
  <p:tag name="RESPTABLESTYLE" val="-1"/>
  <p:tag name="CUSTOMCELLFORECOLOR" val="-16777216"/>
  <p:tag name="AUTOADJUSTPARTRANGE" val="True"/>
  <p:tag name="COUNTDOWNSECONDS" val="10"/>
  <p:tag name="POLLINGCYCLE" val="2"/>
  <p:tag name="POWERPOINTVERSION" val="14.0"/>
  <p:tag name="CORRECTPOINTVALUE" val="1"/>
  <p:tag name="BUBBLESIZEVISIBLE" val="True"/>
  <p:tag name="REVIEWONLY" val="False"/>
  <p:tag name="GRIDROTATIONINTERVAL" val="2"/>
  <p:tag name="PRRESPONSE5" val="6"/>
  <p:tag name="DELIMITERS" val="3.1"/>
  <p:tag name="TASKPANEKEY" val="1ae76107-f3e0-4c9e-9a2f-35213e7a9b49"/>
  <p:tag name="TPFULLVERSION" val="4.5.1.2243"/>
  <p:tag name="INCLUDESESSION" val="True"/>
  <p:tag name="ISPRING_RESOURCE_PATHS_HASH_PRESENTER" val="36eeff7948365877e17741f6da38fc33960cf9d"/>
  <p:tag name="THINKCELLPRESENTATIONDONOTDELETE" val="&lt;?xml version=&quot;1.0&quot; encoding=&quot;UTF-16&quot; standalone=&quot;yes&quot;?&gt;&#10;&lt;root reqver=&quot;21047&quot;&gt;&lt;version val=&quot;23256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/m_precDefaultPercent&gt;&lt;m_precDefaultDate&gt;&lt;m_bNumberIsYear val=&quot;0&quot;/&gt;&lt;m_strFormatTime&gt;%d-%1-%Y&lt;/m_strFormatTime&gt;&lt;/m_precDefaultDate&gt;&lt;m_precDefaultYear&gt;&lt;m_bNumberIsYear val=&quot;0&quot;/&gt;&lt;m_strFormatTime&gt;%Y&lt;/m_strFormatTime&gt;&lt;/m_precDefaultYear&gt;&lt;m_precDefaultQuarter&gt;&lt;m_bNumberIsYear val=&quot;0&quot;/&gt;&lt;m_strFormatTime&gt;Q%5&lt;/m_strFormatTime&gt;&lt;/m_precDefaultQuarter&gt;&lt;m_precDefaultMonth&gt;&lt;m_bNumberIsYear val=&quot;0&quot;/&gt;&lt;m_strFormatTime&gt;%#m&lt;/m_strFormatTime&gt;&lt;/m_precDefaultMonth&gt;&lt;m_precDefaultWeek&gt;&lt;m_bNumberIsYear val=&quot;0&quot;/&gt;&lt;m_strFormatTime&gt;%4&lt;/m_strFormatTime&gt;&lt;/m_precDefaultWeek&gt;&lt;m_precDefaultDay&gt;&lt;m_bNumberIsYear val=&quot;0&quot;/&gt;&lt;m_strFormatTime&gt;%d&lt;/m_strFormatTime&gt;&lt;/m_precDefaultDay&gt;&lt;m_mruColor&gt;&lt;m_vecMRU length=&quot;3&quot;&gt;&lt;elem m_fUsage=&quot;4.85364711931390060000E+000&quot;&gt;&lt;m_msothmcolidx val=&quot;0&quot;/&gt;&lt;m_rgb r=&quot;76&quot; g=&quot;a3&quot; b=&quot;32&quot;/&gt;&lt;m_ppcolschidx tagver0=&quot;23004&quot; tagname0=&quot;m_ppcolschidxUNRECOGNIZED&quot; val=&quot;0&quot;/&gt;&lt;m_nBrightness val=&quot;0&quot;/&gt;&lt;/elem&gt;&lt;elem m_fUsage=&quot;2.19618459900000000000E+000&quot;&gt;&lt;m_msothmcolidx val=&quot;0&quot;/&gt;&lt;m_rgb r=&quot;db&quot; g=&quot;e7&quot; b=&quot;b6&quot;/&gt;&lt;m_ppcolschidx tagver0=&quot;23004&quot; tagname0=&quot;m_ppcolschidxUNRECOGNIZED&quot; val=&quot;0&quot;/&gt;&lt;m_nBrightness val=&quot;0&quot;/&gt;&lt;/elem&gt;&lt;elem m_fUsage=&quot;1.28245011171944330000E+000&quot;&gt;&lt;m_msothmcolidx val=&quot;0&quot;/&gt;&lt;m_rgb r=&quot;49&quot; g=&quot;a2&quot; b=&quot;33&quot;/&gt;&lt;m_ppcolschidx tagver0=&quot;23004&quot; tagname0=&quot;m_ppcolschidxUNRECOGNIZED&quot; val=&quot;0&quot;/&gt;&lt;m_nBrightness val=&quot;0&quot;/&gt;&lt;/elem&gt;&lt;/m_vecMRU&gt;&lt;/m_mruColor&gt;&lt;m_eweekdayFirstOfWeek val=&quot;2&quot;/&gt;&lt;m_eweekdayFirstOfWorkweek val=&quot;2&quot;/&gt;&lt;m_eweekdayFirstOfWeekend val=&quot;7&quot;/&gt;&lt;/CPresentation&gt;&lt;/root&gt;"/>
  <p:tag name="ISNEWSLIDENUMBER" val="True"/>
  <p:tag name="PREVIOUSNAME" val="C:\Users\Christopher Leifeld\Documents\09 - Dissertation\04 Diss\08 Conferences\EURAM\20160603_EURAM Presentation_v1.pptx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ogo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IZE" val="Yes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IZE" val="Yes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IZE" val="Yes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957VsHTENLD_X6HLEgpx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957VsHTENLD_X6HLEgpxw"/>
</p:tagLst>
</file>

<file path=ppt/theme/theme1.xml><?xml version="1.0" encoding="utf-8"?>
<a:theme xmlns:a="http://schemas.openxmlformats.org/drawingml/2006/main" name="Blank Template (Microsoft)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 w="6350">
          <a:solidFill>
            <a:schemeClr val="accent6">
              <a:lumMod val="40000"/>
              <a:lumOff val="60000"/>
            </a:schemeClr>
          </a:solidFill>
        </a:ln>
      </a:spPr>
      <a:bodyPr lIns="36000" tIns="0" rIns="36000" bIns="0" rtlCol="0" anchor="ctr"/>
      <a:lstStyle>
        <a:defPPr algn="ctr">
          <a:defRPr sz="1400" dirty="0" smtClean="0">
            <a:solidFill>
              <a:schemeClr val="tx1">
                <a:lumMod val="65000"/>
                <a:lumOff val="35000"/>
              </a:schemeClr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6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400" dirty="0" smtClean="0">
            <a:latin typeface="Helvetica" pitchFamily="2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24687</TotalTime>
  <Words>331</Words>
  <Application>Microsoft Macintosh PowerPoint</Application>
  <PresentationFormat>On-screen Show (4:3)</PresentationFormat>
  <Paragraphs>48</Paragraphs>
  <Slides>3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Helvetica</vt:lpstr>
      <vt:lpstr>Wingdings</vt:lpstr>
      <vt:lpstr>Blank Template (Microsoft)</vt:lpstr>
      <vt:lpstr>think-cell Slide</vt:lpstr>
      <vt:lpstr>The common ground and complication provide the motivation to undertake a study, which raises and resolves a tension. </vt:lpstr>
      <vt:lpstr>How your knowledge and the current state of the field can give rise to research questions the elements of an introduction.</vt:lpstr>
      <vt:lpstr>Research questions give us a means to push beyond what is known towards what we do not know.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Christopher Leifeld</dc:creator>
  <cp:lastModifiedBy>Fox, Brian</cp:lastModifiedBy>
  <cp:revision>1767</cp:revision>
  <cp:lastPrinted>2017-04-19T21:34:28Z</cp:lastPrinted>
  <dcterms:created xsi:type="dcterms:W3CDTF">2015-01-27T14:28:57Z</dcterms:created>
  <dcterms:modified xsi:type="dcterms:W3CDTF">2024-02-13T16:22:02Z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2010EditCount">
    <vt:lpwstr>1</vt:lpwstr>
  </property>
  <property fmtid="{D5CDD505-2E9C-101B-9397-08002B2CF9AE}" pid="3" name="Office2003EditCount">
    <vt:lpwstr>0</vt:lpwstr>
  </property>
  <property fmtid="{D5CDD505-2E9C-101B-9397-08002B2CF9AE}" pid="4" name="LastEditedOfficeVersion">
    <vt:lpwstr>Office2010</vt:lpwstr>
  </property>
  <property fmtid="{D5CDD505-2E9C-101B-9397-08002B2CF9AE}" pid="5" name="Office2010WasSaved">
    <vt:lpwstr>1</vt:lpwstr>
  </property>
</Properties>
</file>