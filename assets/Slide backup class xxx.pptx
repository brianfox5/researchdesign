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918" r:id="rId2"/>
    <p:sldId id="964" r:id="rId3"/>
    <p:sldId id="919" r:id="rId4"/>
    <p:sldId id="965" r:id="rId5"/>
    <p:sldId id="966" r:id="rId6"/>
    <p:sldId id="967" r:id="rId7"/>
    <p:sldId id="968" r:id="rId8"/>
    <p:sldId id="927" r:id="rId9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D5E8A-9F95-4984-ADA0-7D0FC3DEC305}">
          <p14:sldIdLst>
            <p14:sldId id="918"/>
            <p14:sldId id="964"/>
            <p14:sldId id="919"/>
            <p14:sldId id="965"/>
            <p14:sldId id="966"/>
            <p14:sldId id="967"/>
            <p14:sldId id="968"/>
            <p14:sldId id="9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3" pos="113" userDrawn="1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ox" initials="B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78BF"/>
    <a:srgbClr val="01072B"/>
    <a:srgbClr val="F7B2A7"/>
    <a:srgbClr val="BFC8FD"/>
    <a:srgbClr val="000B24"/>
    <a:srgbClr val="D6DADC"/>
    <a:srgbClr val="000F30"/>
    <a:srgbClr val="000E2F"/>
    <a:srgbClr val="1B2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8" autoAdjust="0"/>
    <p:restoredTop sz="93750" autoAdjust="0"/>
  </p:normalViewPr>
  <p:slideViewPr>
    <p:cSldViewPr>
      <p:cViewPr varScale="1">
        <p:scale>
          <a:sx n="118" d="100"/>
          <a:sy n="118" d="100"/>
        </p:scale>
        <p:origin x="1744" y="208"/>
      </p:cViewPr>
      <p:guideLst>
        <p:guide orient="horz" pos="2750"/>
        <p:guide pos="11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756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1922B18C-0895-40C2-A98C-6A22ECA7D214}" type="datetimeFigureOut">
              <a:rPr lang="en-US" smtClean="0"/>
              <a:t>2/8/24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7BF0A9E8-20EE-4FFE-BF50-7F2EA0FC1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7CEB82EE-7859-43C3-BD1F-7B4F0DAB0F46}" type="datetimeFigureOut">
              <a:rPr lang="en-US" smtClean="0"/>
              <a:t>2/8/24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2313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5ED5DB85-51F6-4F8B-9C9B-239CB5AE9C4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1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521" y="4560571"/>
            <a:ext cx="5852160" cy="432054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153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60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6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5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1B2E67">
              <a:alpha val="7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11859" y="2141909"/>
            <a:ext cx="3981504" cy="984885"/>
          </a:xfrm>
          <a:prstGeom prst="rect">
            <a:avLst/>
          </a:prstGeom>
        </p:spPr>
        <p:txBody>
          <a:bodyPr lIns="0"/>
          <a:lstStyle>
            <a:lvl1pPr>
              <a:defRPr sz="3200" b="1" baseline="0">
                <a:solidFill>
                  <a:srgbClr val="0078B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11859" y="3425346"/>
            <a:ext cx="3981504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" indent="0">
              <a:buFontTx/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508104" y="2163553"/>
            <a:ext cx="0" cy="3605048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512515" y="5515894"/>
            <a:ext cx="3981450" cy="215444"/>
          </a:xfrm>
          <a:prstGeom prst="rect">
            <a:avLst/>
          </a:prstGeom>
        </p:spPr>
        <p:txBody>
          <a:bodyPr/>
          <a:lstStyle>
            <a:lvl1pPr marL="3600" indent="0">
              <a:buFontTx/>
              <a:buNone/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1"/>
            <a:ext cx="9144000" cy="1340767"/>
          </a:xfrm>
          <a:prstGeom prst="rect">
            <a:avLst/>
          </a:prstGeom>
          <a:solidFill>
            <a:srgbClr val="0078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6597351"/>
            <a:ext cx="9144000" cy="262247"/>
          </a:xfrm>
          <a:prstGeom prst="rect">
            <a:avLst/>
          </a:prstGeom>
          <a:solidFill>
            <a:srgbClr val="D6DADC"/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3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90976"/>
            <a:ext cx="9144000" cy="267023"/>
          </a:xfrm>
          <a:prstGeom prst="rect">
            <a:avLst/>
          </a:prstGeom>
          <a:solidFill>
            <a:srgbClr val="D6DADC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4860" y="289804"/>
            <a:ext cx="7749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0078B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>
          <a:xfrm>
            <a:off x="8721120" y="6660138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lideLogoSeparato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608985" y="6633206"/>
            <a:ext cx="40076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r" defTabSz="895350"/>
            <a:r>
              <a:rPr lang="en-US" sz="120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34860" y="66140"/>
            <a:ext cx="7749508" cy="215444"/>
          </a:xfrm>
          <a:prstGeom prst="rect">
            <a:avLst/>
          </a:prstGeom>
        </p:spPr>
        <p:txBody>
          <a:bodyPr lIns="0" tIns="0" rIns="0" bIns="0" anchor="ctr"/>
          <a:lstStyle>
            <a:lvl1pPr marL="3600" indent="0">
              <a:buFontTx/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TRACKER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7989173" y="66140"/>
            <a:ext cx="0" cy="10584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McK 1. On-page tracker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34860" y="6647543"/>
            <a:ext cx="268503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Brian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Fox | Bentley University | November 2023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92" name="Text Placeholder 12291"/>
          <p:cNvSpPr>
            <a:spLocks noGrp="1"/>
          </p:cNvSpPr>
          <p:nvPr>
            <p:ph type="body" sz="quarter" idx="14" hasCustomPrompt="1"/>
          </p:nvPr>
        </p:nvSpPr>
        <p:spPr>
          <a:xfrm>
            <a:off x="134860" y="1012401"/>
            <a:ext cx="7245452" cy="215444"/>
          </a:xfrm>
        </p:spPr>
        <p:txBody>
          <a:bodyPr tIns="0" rIns="0" bIns="0"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3" name="Text Placeholder 12291"/>
          <p:cNvSpPr>
            <a:spLocks noGrp="1"/>
          </p:cNvSpPr>
          <p:nvPr>
            <p:ph type="body" sz="quarter" idx="15" hasCustomPrompt="1"/>
          </p:nvPr>
        </p:nvSpPr>
        <p:spPr>
          <a:xfrm>
            <a:off x="134860" y="6359812"/>
            <a:ext cx="7245452" cy="153888"/>
          </a:xfrm>
        </p:spPr>
        <p:txBody>
          <a:bodyPr tIns="0" rIns="0" bIns="0"/>
          <a:lstStyle>
            <a:lvl1pPr>
              <a:defRPr sz="10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source</a:t>
            </a:r>
          </a:p>
        </p:txBody>
      </p:sp>
      <p:sp>
        <p:nvSpPr>
          <p:cNvPr id="15" name="McK 1. On-page track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227387" y="6647543"/>
            <a:ext cx="68929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 Seminar</a:t>
            </a:r>
          </a:p>
        </p:txBody>
      </p:sp>
      <p:sp>
        <p:nvSpPr>
          <p:cNvPr id="18" name="McK 1. On-page track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813840" y="6660138"/>
            <a:ext cx="171842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Purposes Only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209" y="0"/>
            <a:ext cx="919651" cy="12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E6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3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39432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>
          <a:xfrm>
            <a:off x="134860" y="908720"/>
            <a:ext cx="40427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62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itchFamily="2" charset="2"/>
        <a:buNone/>
        <a:tabLst/>
        <a:defRPr sz="1400" b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-194400" algn="l" defTabSz="914400" rtl="0" eaLnBrk="1" latinLnBrk="0" hangingPunct="1">
        <a:spcBef>
          <a:spcPts val="0"/>
        </a:spcBef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-154800" algn="l" defTabSz="914400" rtl="0" eaLnBrk="1" latinLnBrk="0" hangingPunct="1"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156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7488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»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9.xml"/><Relationship Id="rId7" Type="http://schemas.openxmlformats.org/officeDocument/2006/relationships/oleObject" Target="../embeddings/oleObject2.bin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doi.org/10.5465/amr.2016.0225" TargetMode="Externa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FC464ED-2B2B-E042-A2B0-ECCA744995E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73908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8EE2C00-AF32-A848-BE67-D13E741D361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3600"/>
            <a:ext cx="5112568" cy="2231504"/>
          </a:xfrm>
        </p:spPr>
        <p:txBody>
          <a:bodyPr/>
          <a:lstStyle/>
          <a:p>
            <a:r>
              <a:rPr lang="en-US" sz="2400" dirty="0"/>
              <a:t>From summarization towards contribution</a:t>
            </a:r>
            <a:endParaRPr lang="en-US" sz="1800" dirty="0">
              <a:solidFill>
                <a:srgbClr val="000F3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0505" y="3717032"/>
            <a:ext cx="3981504" cy="738664"/>
          </a:xfrm>
        </p:spPr>
        <p:txBody>
          <a:bodyPr/>
          <a:lstStyle/>
          <a:p>
            <a:r>
              <a:rPr lang="en-US" sz="1600" b="1" dirty="0"/>
              <a:t>Presented by:</a:t>
            </a:r>
          </a:p>
          <a:p>
            <a:r>
              <a:rPr lang="en-US" sz="1600" dirty="0"/>
              <a:t>Brian Fox, Bentley University</a:t>
            </a:r>
          </a:p>
          <a:p>
            <a:endParaRPr lang="en-US" sz="1600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0505" y="6009095"/>
            <a:ext cx="7972133" cy="367010"/>
          </a:xfrm>
          <a:noFill/>
        </p:spPr>
        <p:txBody>
          <a:bodyPr>
            <a:noAutofit/>
          </a:bodyPr>
          <a:lstStyle/>
          <a:p>
            <a:r>
              <a:rPr lang="en-US" sz="1600" dirty="0"/>
              <a:t>OT Seminar | Waltham, MA | November 2023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9" b="33861"/>
          <a:stretch/>
        </p:blipFill>
        <p:spPr>
          <a:xfrm>
            <a:off x="6084168" y="3356991"/>
            <a:ext cx="2857500" cy="1008113"/>
          </a:xfrm>
          <a:prstGeom prst="rect">
            <a:avLst/>
          </a:prstGeom>
        </p:spPr>
      </p:pic>
      <p:sp>
        <p:nvSpPr>
          <p:cNvPr id="9" name="McK 1. On-page tracker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28599" y="6659488"/>
            <a:ext cx="1859484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 Purposes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928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737E-09E6-7CC1-F726-357737F0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EC68-360E-114A-41CF-29B78730D76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D5A03-2771-FA92-4AFC-8300EE26CB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E0B7-8472-6644-361C-8B1FEE152F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52A544-159E-303D-4A0A-84A2E6685F8B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27B239-6BE2-9C8B-F897-9D9F59920662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107BA6-350B-DADE-2483-9A186F5C179D}"/>
              </a:ext>
            </a:extLst>
          </p:cNvPr>
          <p:cNvSpPr txBox="1"/>
          <p:nvPr/>
        </p:nvSpPr>
        <p:spPr>
          <a:xfrm>
            <a:off x="134860" y="1484784"/>
            <a:ext cx="8685612" cy="4001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Introductions (5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Establishing common ground and finding complications (30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Frameworks for framing contributions (20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BREAK (5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Hypothesis development: extending beyond the common ground (20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Hypothesis generation workshop (20 min)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Discussion of select examples (20 min)</a:t>
            </a:r>
          </a:p>
        </p:txBody>
      </p:sp>
    </p:spTree>
    <p:extLst>
      <p:ext uri="{BB962C8B-B14F-4D97-AF65-F5344CB8AC3E}">
        <p14:creationId xmlns:p14="http://schemas.microsoft.com/office/powerpoint/2010/main" val="205607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97665D2-A0E1-2F48-BACA-665A4EB8E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24991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130884C-52EA-2144-8636-8C1720DC2A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Our objective is to establish </a:t>
            </a:r>
            <a:r>
              <a:rPr lang="en-US" i="1" dirty="0"/>
              <a:t>common ground </a:t>
            </a:r>
            <a:r>
              <a:rPr lang="en-US" dirty="0"/>
              <a:t>with your group members and find potential </a:t>
            </a:r>
            <a:r>
              <a:rPr lang="en-US" i="1" dirty="0"/>
              <a:t>complications</a:t>
            </a:r>
            <a:r>
              <a:rPr lang="en-US" dirty="0"/>
              <a:t>. 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See also Huff (1999): Writing for Scholarly </a:t>
            </a:r>
            <a:r>
              <a:rPr lang="en-US" dirty="0" err="1"/>
              <a:t>Converstation</a:t>
            </a:r>
            <a:r>
              <a:rPr lang="en-US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349C6A-6C6C-4B43-B95D-AB78F7BDEB3D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3570D-5F7D-FC75-2408-C8468A137F23}"/>
              </a:ext>
            </a:extLst>
          </p:cNvPr>
          <p:cNvSpPr/>
          <p:nvPr/>
        </p:nvSpPr>
        <p:spPr>
          <a:xfrm>
            <a:off x="71249" y="1918142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Your unique perspective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C4DD2-F702-F5EE-8552-CBAEED100C38}"/>
              </a:ext>
            </a:extLst>
          </p:cNvPr>
          <p:cNvSpPr/>
          <p:nvPr/>
        </p:nvSpPr>
        <p:spPr>
          <a:xfrm>
            <a:off x="3455751" y="1922388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Are there common threads that your work can tie together?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4F64F-95E7-B640-46F4-B38AC7D91D38}"/>
              </a:ext>
            </a:extLst>
          </p:cNvPr>
          <p:cNvSpPr/>
          <p:nvPr/>
        </p:nvSpPr>
        <p:spPr>
          <a:xfrm>
            <a:off x="3455921" y="4639251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What elements of your perspective are not reflected in extant conversations?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406192-DAE2-6935-CC77-DDE7F571C12A}"/>
              </a:ext>
            </a:extLst>
          </p:cNvPr>
          <p:cNvSpPr/>
          <p:nvPr/>
        </p:nvSpPr>
        <p:spPr>
          <a:xfrm>
            <a:off x="6552094" y="1922388"/>
            <a:ext cx="2340386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Basis for establishing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D5BE1-F523-5411-C1C2-C2A960AE6AB3}"/>
              </a:ext>
            </a:extLst>
          </p:cNvPr>
          <p:cNvSpPr/>
          <p:nvPr/>
        </p:nvSpPr>
        <p:spPr>
          <a:xfrm>
            <a:off x="6556345" y="4639044"/>
            <a:ext cx="2340386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Potential areas to revisit the literature or potential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5A0357-C15F-B3D1-AB9A-1AA9F28F36AC}"/>
              </a:ext>
            </a:extLst>
          </p:cNvPr>
          <p:cNvCxnSpPr>
            <a:cxnSpLocks/>
            <a:stCxn id="29" idx="3"/>
            <a:endCxn id="15" idx="1"/>
          </p:cNvCxnSpPr>
          <p:nvPr/>
        </p:nvCxnSpPr>
        <p:spPr>
          <a:xfrm flipV="1">
            <a:off x="2155879" y="2534456"/>
            <a:ext cx="1299872" cy="13566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92DD79-1853-FCB9-DB83-B273E089262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5543983" y="2534456"/>
            <a:ext cx="1008111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59DF236-4C2D-1CCF-16C1-D33F2E14985D}"/>
              </a:ext>
            </a:extLst>
          </p:cNvPr>
          <p:cNvSpPr txBox="1"/>
          <p:nvPr/>
        </p:nvSpPr>
        <p:spPr>
          <a:xfrm>
            <a:off x="2795064" y="3305592"/>
            <a:ext cx="896079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Consensus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88E03A-2323-676A-07BE-A3CA289048CA}"/>
              </a:ext>
            </a:extLst>
          </p:cNvPr>
          <p:cNvSpPr txBox="1"/>
          <p:nvPr/>
        </p:nvSpPr>
        <p:spPr>
          <a:xfrm>
            <a:off x="2805815" y="4178152"/>
            <a:ext cx="827150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Dissensus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391CB8-CA76-3A0C-04F9-C9228A25A89E}"/>
              </a:ext>
            </a:extLst>
          </p:cNvPr>
          <p:cNvCxnSpPr>
            <a:cxnSpLocks/>
            <a:stCxn id="29" idx="3"/>
            <a:endCxn id="18" idx="1"/>
          </p:cNvCxnSpPr>
          <p:nvPr/>
        </p:nvCxnSpPr>
        <p:spPr>
          <a:xfrm>
            <a:off x="2155879" y="3891127"/>
            <a:ext cx="1300042" cy="13601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2D5630-D70B-05D2-45FD-230FAB8AAFBE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5544153" y="5251112"/>
            <a:ext cx="1012192" cy="20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9517260-3431-E121-1AB7-61023C87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C0A9CF-5B45-8F5D-3BCD-B7525B269AAF}"/>
              </a:ext>
            </a:extLst>
          </p:cNvPr>
          <p:cNvSpPr/>
          <p:nvPr/>
        </p:nvSpPr>
        <p:spPr>
          <a:xfrm>
            <a:off x="71249" y="5266293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Extant state of knowledge in field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7D0B69-6C2B-B3EE-EF73-B282F72E9A4D}"/>
              </a:ext>
            </a:extLst>
          </p:cNvPr>
          <p:cNvSpPr/>
          <p:nvPr/>
        </p:nvSpPr>
        <p:spPr>
          <a:xfrm>
            <a:off x="67647" y="3549130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“Proto-questions”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44E561-3F80-1A0B-9439-EC9B24A830E1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flipH="1">
            <a:off x="1111763" y="2602136"/>
            <a:ext cx="3602" cy="94699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E3581A-A3C2-6815-C31C-8592D56CCE84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flipH="1" flipV="1">
            <a:off x="1111763" y="4233124"/>
            <a:ext cx="3602" cy="10331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00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97665D2-A0E1-2F48-BACA-665A4EB8E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97665D2-A0E1-2F48-BACA-665A4EB8E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130884C-52EA-2144-8636-8C1720DC2A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The common ground and complication provide the motivation to undertake a study, which raises and resolves a tension.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TOWARDS A CONTRIBUTION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9" y="6359812"/>
            <a:ext cx="8946741" cy="153888"/>
          </a:xfrm>
        </p:spPr>
        <p:txBody>
          <a:bodyPr/>
          <a:lstStyle/>
          <a:p>
            <a:r>
              <a:rPr lang="en-US" dirty="0"/>
              <a:t>Source: Lange and </a:t>
            </a:r>
            <a:r>
              <a:rPr lang="en-US" dirty="0" err="1"/>
              <a:t>Pfarrer</a:t>
            </a:r>
            <a:r>
              <a:rPr lang="en-US" dirty="0"/>
              <a:t> 2017. </a:t>
            </a:r>
            <a:r>
              <a:rPr lang="en-US" dirty="0">
                <a:hlinkClick r:id="rId7"/>
              </a:rPr>
              <a:t>https://doi.org/10.5465/amr.2016.0225</a:t>
            </a:r>
            <a:r>
              <a:rPr lang="en-US" dirty="0"/>
              <a:t>   if you are familiar with Barbara Minto’s work, this is analogous to an SCQ-A framing.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9517260-3431-E121-1AB7-61023C87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F562C52-D7F5-687B-CF01-07E310EACD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28" y="1262686"/>
            <a:ext cx="6696744" cy="134860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1ABF2C6-FA21-4D4B-120A-8CCCA77773A7}"/>
              </a:ext>
            </a:extLst>
          </p:cNvPr>
          <p:cNvSpPr/>
          <p:nvPr/>
        </p:nvSpPr>
        <p:spPr>
          <a:xfrm>
            <a:off x="202319" y="262355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EA93AB-171B-C3FF-3671-64D0BA7F0CF0}"/>
              </a:ext>
            </a:extLst>
          </p:cNvPr>
          <p:cNvSpPr/>
          <p:nvPr/>
        </p:nvSpPr>
        <p:spPr>
          <a:xfrm>
            <a:off x="196376" y="3292097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A93BF7-508F-59E5-AC99-9521BCCDC6C8}"/>
              </a:ext>
            </a:extLst>
          </p:cNvPr>
          <p:cNvSpPr/>
          <p:nvPr/>
        </p:nvSpPr>
        <p:spPr>
          <a:xfrm>
            <a:off x="198432" y="3973186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Concern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E043B-90C9-1197-BF07-558B9C346C73}"/>
              </a:ext>
            </a:extLst>
          </p:cNvPr>
          <p:cNvSpPr/>
          <p:nvPr/>
        </p:nvSpPr>
        <p:spPr>
          <a:xfrm>
            <a:off x="196376" y="4641732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Course of Action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828D2-CD83-6431-7238-C14B0EF9013B}"/>
              </a:ext>
            </a:extLst>
          </p:cNvPr>
          <p:cNvSpPr/>
          <p:nvPr/>
        </p:nvSpPr>
        <p:spPr>
          <a:xfrm>
            <a:off x="196376" y="5343434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CF2E3A-0F05-2AB7-AE4E-34A3DA163C46}"/>
              </a:ext>
            </a:extLst>
          </p:cNvPr>
          <p:cNvSpPr txBox="1"/>
          <p:nvPr/>
        </p:nvSpPr>
        <p:spPr>
          <a:xfrm>
            <a:off x="2555776" y="2825412"/>
            <a:ext cx="4387227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A set of premises that an informed party will agree with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83C031-E91E-96D3-B63F-9662D8B88642}"/>
              </a:ext>
            </a:extLst>
          </p:cNvPr>
          <p:cNvSpPr txBox="1"/>
          <p:nvPr/>
        </p:nvSpPr>
        <p:spPr>
          <a:xfrm>
            <a:off x="2555776" y="3472290"/>
            <a:ext cx="6407203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An issue with these premises (perhaps discordant evidence, hidden assumptions)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D5B7E-7CF7-5D7D-7D3B-2EDD4BB29B27}"/>
              </a:ext>
            </a:extLst>
          </p:cNvPr>
          <p:cNvSpPr txBox="1"/>
          <p:nvPr/>
        </p:nvSpPr>
        <p:spPr>
          <a:xfrm>
            <a:off x="2555776" y="4160495"/>
            <a:ext cx="3364704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Why are these issues not easily dismissed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E5684D-9FEC-AD0E-2260-20E6D38046AE}"/>
              </a:ext>
            </a:extLst>
          </p:cNvPr>
          <p:cNvSpPr txBox="1"/>
          <p:nvPr/>
        </p:nvSpPr>
        <p:spPr>
          <a:xfrm>
            <a:off x="2556804" y="4817612"/>
            <a:ext cx="499335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The plan of attack for resolving this issue that has come to light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CBF37B-7E5B-0365-6FCA-AE81DA39DDBA}"/>
              </a:ext>
            </a:extLst>
          </p:cNvPr>
          <p:cNvSpPr txBox="1"/>
          <p:nvPr/>
        </p:nvSpPr>
        <p:spPr>
          <a:xfrm>
            <a:off x="2555776" y="5505817"/>
            <a:ext cx="652582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How the resolution of this issue allows us to move forward from a stronger position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ED64A0-5844-BDD9-B9C1-03D210285B51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07D8-2501-89E3-7B10-9C09D3B4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Hypotheses give us a means to push beyond what is known towards what we do not know.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F96B-42E8-08CE-6364-59383E7D74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PROBING BEYOND THE LIMITS OF OUR KNOWLEDGE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A8944-7695-7032-102A-4F2EC4B486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Let’s take a common example of how this might look.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63C0D-C364-409D-A49D-B5D68276C3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7B9D6F-B83A-5E5D-F712-A97FA2943F7C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07B86C-9F36-3DFE-60C7-419735AA4AE6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C08B38-9257-23FA-75A6-D871C5761C60}"/>
              </a:ext>
            </a:extLst>
          </p:cNvPr>
          <p:cNvSpPr/>
          <p:nvPr/>
        </p:nvSpPr>
        <p:spPr>
          <a:xfrm>
            <a:off x="203936" y="1581410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 / </a:t>
            </a:r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Received wisdom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B9CE3-C651-A588-D75A-FAF7DB26F503}"/>
              </a:ext>
            </a:extLst>
          </p:cNvPr>
          <p:cNvSpPr/>
          <p:nvPr/>
        </p:nvSpPr>
        <p:spPr>
          <a:xfrm>
            <a:off x="203936" y="3021253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769154-D8CF-857B-0CA6-7DDD2965915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927243" y="1887622"/>
            <a:ext cx="1595756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E6BA3-97EF-CF50-3987-C240BD7373D1}"/>
              </a:ext>
            </a:extLst>
          </p:cNvPr>
          <p:cNvSpPr/>
          <p:nvPr/>
        </p:nvSpPr>
        <p:spPr>
          <a:xfrm>
            <a:off x="203936" y="5552478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Concern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4321E-E535-7D54-04CD-487395152861}"/>
              </a:ext>
            </a:extLst>
          </p:cNvPr>
          <p:cNvSpPr txBox="1"/>
          <p:nvPr/>
        </p:nvSpPr>
        <p:spPr>
          <a:xfrm>
            <a:off x="2483768" y="5635945"/>
            <a:ext cx="6129883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So what? If we got the answer to this question, would it change how we think,</a:t>
            </a:r>
          </a:p>
          <a:p>
            <a:pPr algn="l"/>
            <a:r>
              <a:rPr lang="en-US" sz="1400" dirty="0">
                <a:latin typeface="Helvetica" pitchFamily="2" charset="0"/>
              </a:rPr>
              <a:t>act, provide recommendations, </a:t>
            </a:r>
            <a:r>
              <a:rPr lang="en-US" sz="1400" dirty="0" err="1">
                <a:latin typeface="Helvetica" pitchFamily="2" charset="0"/>
              </a:rPr>
              <a:t>etc</a:t>
            </a:r>
            <a:r>
              <a:rPr lang="en-US" sz="1400" dirty="0">
                <a:latin typeface="Helvetica" pitchFamily="2" charset="0"/>
              </a:rPr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2FDF8-815B-6109-5C1E-98DE1E22D210}"/>
              </a:ext>
            </a:extLst>
          </p:cNvPr>
          <p:cNvSpPr/>
          <p:nvPr/>
        </p:nvSpPr>
        <p:spPr>
          <a:xfrm>
            <a:off x="2839011" y="159450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Relative market 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3F258-5102-342F-FC70-7E44D521C1ED}"/>
              </a:ext>
            </a:extLst>
          </p:cNvPr>
          <p:cNvSpPr/>
          <p:nvPr/>
        </p:nvSpPr>
        <p:spPr>
          <a:xfrm>
            <a:off x="6522999" y="159450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Increased performance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85EA8-1D2D-23E3-E66C-6D5A3B153225}"/>
              </a:ext>
            </a:extLst>
          </p:cNvPr>
          <p:cNvSpPr txBox="1"/>
          <p:nvPr/>
        </p:nvSpPr>
        <p:spPr>
          <a:xfrm>
            <a:off x="5667195" y="1616040"/>
            <a:ext cx="10419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3704E-7305-464B-DFD1-0847D889C878}"/>
              </a:ext>
            </a:extLst>
          </p:cNvPr>
          <p:cNvSpPr txBox="1"/>
          <p:nvPr/>
        </p:nvSpPr>
        <p:spPr>
          <a:xfrm>
            <a:off x="3580085" y="2287029"/>
            <a:ext cx="427841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(as established by the PIMS studies in the 1970s-80s)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F06A8-5B7A-EC31-0A7D-BFF6CDC5435B}"/>
              </a:ext>
            </a:extLst>
          </p:cNvPr>
          <p:cNvSpPr txBox="1"/>
          <p:nvPr/>
        </p:nvSpPr>
        <p:spPr>
          <a:xfrm>
            <a:off x="2498694" y="3108806"/>
            <a:ext cx="6187656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What about industries with fast cycle times? Would investments in continuing </a:t>
            </a:r>
          </a:p>
          <a:p>
            <a:pPr algn="l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to gain relative market share make sense if the category becomes obsolete?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8A184C-1D3C-2CB5-8984-E40F430E18FB}"/>
              </a:ext>
            </a:extLst>
          </p:cNvPr>
          <p:cNvSpPr txBox="1"/>
          <p:nvPr/>
        </p:nvSpPr>
        <p:spPr>
          <a:xfrm>
            <a:off x="1187939" y="2514411"/>
            <a:ext cx="12022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D161E9-D6DC-9438-FFF5-99733C980FFE}"/>
              </a:ext>
            </a:extLst>
          </p:cNvPr>
          <p:cNvSpPr txBox="1"/>
          <p:nvPr/>
        </p:nvSpPr>
        <p:spPr>
          <a:xfrm>
            <a:off x="1204744" y="3985527"/>
            <a:ext cx="10419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933677-56C1-FE1E-F55A-EA474E0453F9}"/>
              </a:ext>
            </a:extLst>
          </p:cNvPr>
          <p:cNvSpPr/>
          <p:nvPr/>
        </p:nvSpPr>
        <p:spPr>
          <a:xfrm>
            <a:off x="203936" y="4357989"/>
            <a:ext cx="2088232" cy="5862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Research Question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6490A1-6BA6-05D6-CECC-06553F4E0125}"/>
              </a:ext>
            </a:extLst>
          </p:cNvPr>
          <p:cNvSpPr txBox="1"/>
          <p:nvPr/>
        </p:nvSpPr>
        <p:spPr>
          <a:xfrm>
            <a:off x="551547" y="5168063"/>
            <a:ext cx="151323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But keep in mind…</a:t>
            </a:r>
          </a:p>
        </p:txBody>
      </p:sp>
    </p:spTree>
    <p:extLst>
      <p:ext uri="{BB962C8B-B14F-4D97-AF65-F5344CB8AC3E}">
        <p14:creationId xmlns:p14="http://schemas.microsoft.com/office/powerpoint/2010/main" val="239364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F62E-1D6D-CD35-6CF7-A205AEEE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Desiderata for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28E1-1D21-FF48-2910-06E2C2F9347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HYPOTHESIS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D938-A2B1-3D94-6401-5E40995D2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860" y="809327"/>
            <a:ext cx="7245452" cy="430887"/>
          </a:xfrm>
        </p:spPr>
        <p:txBody>
          <a:bodyPr/>
          <a:lstStyle/>
          <a:p>
            <a:pPr algn="just"/>
            <a:r>
              <a:rPr lang="en-US" sz="1400" dirty="0"/>
              <a:t>“A causal hypothesis is a proposition to be tested or a tentative statement of a relationship between two variables” – Neumann (2014: 182)</a:t>
            </a:r>
            <a:endParaRPr lang="es-E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29B84-C5AA-44EB-F163-25E23788E5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Source: Neuman (2014) with some added commentary.  See also Pearl (2001). 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3DB85A-4FB2-867D-854E-95751C82F4A5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9C3D05-9424-13B3-D3F4-C32085B5D66A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E2A137-E531-6414-94F0-46071383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5287"/>
              </p:ext>
            </p:extLst>
          </p:nvPr>
        </p:nvGraphicFramePr>
        <p:xfrm>
          <a:off x="156714" y="1451960"/>
          <a:ext cx="8785224" cy="36454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546793769"/>
                    </a:ext>
                  </a:extLst>
                </a:gridCol>
                <a:gridCol w="6913016">
                  <a:extLst>
                    <a:ext uri="{9D8B030D-6E8A-4147-A177-3AD203B41FA5}">
                      <a16:colId xmlns:a16="http://schemas.microsoft.com/office/drawing/2014/main" val="3686109307"/>
                    </a:ext>
                  </a:extLst>
                </a:gridCol>
              </a:tblGrid>
              <a:tr h="2960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Falsifiable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are looking to update our beliefs regarding the truth of the hypothesis, due to the number of alternative explanations the law of the excluded middle is difficult to apply: easier to show the falseness of a hypothesis than its truth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16434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Predictive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Allows us to take action on our beliefs or forecast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5220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Pertinent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want our hypothesis to provide useful information to address our research question / 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83789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If actually testing the hypothesis (and not just formulating as a proposition), you need to be able to measure the elements to perform statistical analyses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017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Relationships allow us to begin to ask questions about causality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(but note that hypotheses about the level of something can still be informative)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99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(This is hard for us to do, but the intent); there should be a temporal sequencing between the independent and dependent variable and this relationship should (at least) satisfy the “backdoor criterion”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55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F62E-1D6D-CD35-6CF7-A205AEEE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Desiderata for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28E1-1D21-FF48-2910-06E2C2F934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4860" y="66140"/>
            <a:ext cx="7749508" cy="215444"/>
          </a:xfrm>
        </p:spPr>
        <p:txBody>
          <a:bodyPr/>
          <a:lstStyle/>
          <a:p>
            <a:r>
              <a:rPr lang="en-US" dirty="0"/>
              <a:t>HYPOTHESIS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D938-A2B1-3D94-6401-5E40995D2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860" y="809327"/>
            <a:ext cx="7245452" cy="430887"/>
          </a:xfrm>
        </p:spPr>
        <p:txBody>
          <a:bodyPr/>
          <a:lstStyle/>
          <a:p>
            <a:pPr algn="just"/>
            <a:r>
              <a:rPr lang="en-US" sz="1400" dirty="0"/>
              <a:t>“A causal hypothesis is a proposition to be tested or a tentative statement of a relationship between two variables” – Neuman (2014: 182)</a:t>
            </a:r>
            <a:endParaRPr lang="es-E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29B84-C5AA-44EB-F163-25E23788E5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Source: Neuman (2014) with some added commentary.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3DB85A-4FB2-867D-854E-95751C82F4A5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9C3D05-9424-13B3-D3F4-C32085B5D66A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E2A137-E531-6414-94F0-46071383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225280"/>
              </p:ext>
            </p:extLst>
          </p:nvPr>
        </p:nvGraphicFramePr>
        <p:xfrm>
          <a:off x="156714" y="1451960"/>
          <a:ext cx="8785224" cy="4706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546793769"/>
                    </a:ext>
                  </a:extLst>
                </a:gridCol>
                <a:gridCol w="6913016">
                  <a:extLst>
                    <a:ext uri="{9D8B030D-6E8A-4147-A177-3AD203B41FA5}">
                      <a16:colId xmlns:a16="http://schemas.microsoft.com/office/drawing/2014/main" val="3686109307"/>
                    </a:ext>
                  </a:extLst>
                </a:gridCol>
              </a:tblGrid>
              <a:tr h="2960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Helvetica" pitchFamily="2" charset="0"/>
                        </a:rPr>
                        <a:t>(Some) anti-criteria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Compound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“double-barreled”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Ambiguous predictions make it difficult to discern what information we have learned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(may sometimes be reformulated as an interaction)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16434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Tautological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Truth inherent through deduction; i.e. non-falsifiable</a:t>
                      </a:r>
                    </a:p>
                    <a:p>
                      <a:r>
                        <a:rPr lang="en-US" sz="1400" dirty="0">
                          <a:latin typeface="Helvetica" pitchFamily="2" charset="0"/>
                        </a:rPr>
                        <a:t>(Can help verify whether you have made false assumptions)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5220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Value-laden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“Should” questions do not help us uncover the underlying states of the 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83789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Teleological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“Just so” stories where we don’t specify the temporal order of goal formation and attainment (or not)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01788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Ecological fallacy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Helvetica" pitchFamily="2" charset="0"/>
                        </a:rPr>
                        <a:t>We try to predict an individual outcome with aggregate-level behavior without considering individual level differences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99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itchFamily="2" charset="0"/>
                        </a:rPr>
                        <a:t>Reductionist fallacy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We try to predict an aggregate outcome with individual behavior without appropriate consideration of aggregation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013362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Spuriousness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Helvetica" pitchFamily="2" charset="0"/>
                        </a:rPr>
                        <a:t>Failing to take into account a reasonable alternative explanation </a:t>
                      </a:r>
                      <a:br>
                        <a:rPr lang="en-US" sz="1400" dirty="0">
                          <a:latin typeface="Helvetica" pitchFamily="2" charset="0"/>
                        </a:rPr>
                      </a:br>
                      <a:r>
                        <a:rPr lang="en-US" sz="1400" dirty="0">
                          <a:latin typeface="Helvetica" pitchFamily="2" charset="0"/>
                        </a:rPr>
                        <a:t>(this can be done empirically through design or controls)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24029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489567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028343"/>
                  </a:ext>
                </a:extLst>
              </a:tr>
              <a:tr h="323101"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61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A35AFC9-19BC-A244-9672-E4B73CC1EC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0542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F046F8D-DDF1-A04C-95E9-5E1FF63839F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821516" cy="615553"/>
          </a:xfrm>
        </p:spPr>
        <p:txBody>
          <a:bodyPr/>
          <a:lstStyle/>
          <a:p>
            <a:r>
              <a:rPr lang="en-US" dirty="0"/>
              <a:t>Given the common ground and complications that you have found, let’s come up with two hypotheses per group to discuss.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8A5DDD9-984F-D742-BCB8-A52DD9A1A0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We can fill them in below and discuss a few as examples to consider for your own work.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349C6A-6C6C-4B43-B95D-AB78F7BDEB3D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43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8"/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2830136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POWERPOINTVERSION" val="14.0"/>
  <p:tag name="CORRECTPOINTVALUE" val="1"/>
  <p:tag name="BUBBLESIZEVISIBLE" val="True"/>
  <p:tag name="REVIEWONLY" val="False"/>
  <p:tag name="GRIDROTATIONINTERVAL" val="2"/>
  <p:tag name="PRRESPONSE5" val="6"/>
  <p:tag name="DELIMITERS" val="3.1"/>
  <p:tag name="TASKPANEKEY" val="1ae76107-f3e0-4c9e-9a2f-35213e7a9b49"/>
  <p:tag name="TPFULLVERSION" val="4.5.1.2243"/>
  <p:tag name="INCLUDESESSION" val="True"/>
  <p:tag name="ISPRING_RESOURCE_PATHS_HASH_PRESENTER" val="36eeff7948365877e17741f6da38fc33960cf9d"/>
  <p:tag name="THINKCELLPRESENTATIONDONOTDELETE" val="&lt;?xml version=&quot;1.0&quot; encoding=&quot;UTF-16&quot; standalone=&quot;yes&quot;?&gt;&#10;&lt;root reqver=&quot;21047&quot;&gt;&lt;version val=&quot;232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-%1-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#m&lt;/m_strFormatTime&gt;&lt;/m_precDefaultMonth&gt;&lt;m_precDefaultWeek&gt;&lt;m_bNumberIsYear val=&quot;0&quot;/&gt;&lt;m_strFormatTime&gt;%4&lt;/m_strFormatTime&gt;&lt;/m_precDefaultWeek&gt;&lt;m_precDefaultDay&gt;&lt;m_bNumberIsYear val=&quot;0&quot;/&gt;&lt;m_strFormatTime&gt;%d&lt;/m_strFormatTime&gt;&lt;/m_precDefaultDay&gt;&lt;m_mruColor&gt;&lt;m_vecMRU length=&quot;3&quot;&gt;&lt;elem m_fUsage=&quot;4.85364711931390060000E+000&quot;&gt;&lt;m_msothmcolidx val=&quot;0&quot;/&gt;&lt;m_rgb r=&quot;76&quot; g=&quot;a3&quot; b=&quot;32&quot;/&gt;&lt;m_ppcolschidx tagver0=&quot;23004&quot; tagname0=&quot;m_ppcolschidxUNRECOGNIZED&quot; val=&quot;0&quot;/&gt;&lt;m_nBrightness val=&quot;0&quot;/&gt;&lt;/elem&gt;&lt;elem m_fUsage=&quot;2.19618459900000000000E+000&quot;&gt;&lt;m_msothmcolidx val=&quot;0&quot;/&gt;&lt;m_rgb r=&quot;db&quot; g=&quot;e7&quot; b=&quot;b6&quot;/&gt;&lt;m_ppcolschidx tagver0=&quot;23004&quot; tagname0=&quot;m_ppcolschidxUNRECOGNIZED&quot; val=&quot;0&quot;/&gt;&lt;m_nBrightness val=&quot;0&quot;/&gt;&lt;/elem&gt;&lt;elem m_fUsage=&quot;1.28245011171944330000E+000&quot;&gt;&lt;m_msothmcolidx val=&quot;0&quot;/&gt;&lt;m_rgb r=&quot;49&quot; g=&quot;a2&quot; b=&quot;33&quot;/&gt;&lt;m_ppcolschidx tagver0=&quot;23004&quot; tagname0=&quot;m_ppcolschidxUNRECOGNIZED&quot; val=&quot;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ISNEWSLIDENUMBER" val="True"/>
  <p:tag name="PREVIOUSNAME" val="C:\Users\Christopher Leifeld\Documents\09 - Dissertation\04 Diss\08 Conferences\EURAM\20160603_EURAM Presentation_v1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XUO5aPu91rpKtFGPAtU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57VsHTENLD_X6HLEgpx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57VsHTENLD_X6HLEgpx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FkM5BEYFirWtxIrbbs5Q"/>
</p:tagLst>
</file>

<file path=ppt/theme/theme1.xml><?xml version="1.0" encoding="utf-8"?>
<a:theme xmlns:a="http://schemas.openxmlformats.org/drawingml/2006/main" name="Blank Template (Microsoft)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 w="6350">
          <a:solidFill>
            <a:schemeClr val="accent6">
              <a:lumMod val="40000"/>
              <a:lumOff val="60000"/>
            </a:schemeClr>
          </a:solidFill>
        </a:ln>
      </a:spPr>
      <a:bodyPr lIns="36000" tIns="0" rIns="36000" bIns="0" rtlCol="0" anchor="ctr"/>
      <a:lstStyle>
        <a:defPPr algn="ctr">
          <a:defRPr sz="1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400" dirty="0" smtClean="0">
            <a:latin typeface="Helvetica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24686</TotalTime>
  <Words>861</Words>
  <Application>Microsoft Macintosh PowerPoint</Application>
  <PresentationFormat>On-screen Show (4:3)</PresentationFormat>
  <Paragraphs>113</Paragraphs>
  <Slides>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Helvetica</vt:lpstr>
      <vt:lpstr>Wingdings</vt:lpstr>
      <vt:lpstr>Blank Template (Microsoft)</vt:lpstr>
      <vt:lpstr>think-cell Slide</vt:lpstr>
      <vt:lpstr>From summarization towards contribution</vt:lpstr>
      <vt:lpstr>Agenda</vt:lpstr>
      <vt:lpstr>Our objective is to establish common ground with your group members and find potential complications. </vt:lpstr>
      <vt:lpstr>The common ground and complication provide the motivation to undertake a study, which raises and resolves a tension. </vt:lpstr>
      <vt:lpstr>Hypotheses give us a means to push beyond what is known towards what we do not know. </vt:lpstr>
      <vt:lpstr>Desiderata for hypotheses</vt:lpstr>
      <vt:lpstr>Desiderata for hypotheses</vt:lpstr>
      <vt:lpstr>Given the common ground and complications that you have found, let’s come up with two hypotheses per group to discuss.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Leifeld</dc:creator>
  <cp:lastModifiedBy>Fox, Brian</cp:lastModifiedBy>
  <cp:revision>1765</cp:revision>
  <cp:lastPrinted>2017-04-19T21:34:28Z</cp:lastPrinted>
  <dcterms:created xsi:type="dcterms:W3CDTF">2015-01-27T14:28:57Z</dcterms:created>
  <dcterms:modified xsi:type="dcterms:W3CDTF">2024-02-09T01:51:27Z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2010EditCount">
    <vt:lpwstr>1</vt:lpwstr>
  </property>
  <property fmtid="{D5CDD505-2E9C-101B-9397-08002B2CF9AE}" pid="3" name="Office2003EditCount">
    <vt:lpwstr>0</vt:lpwstr>
  </property>
  <property fmtid="{D5CDD505-2E9C-101B-9397-08002B2CF9AE}" pid="4" name="LastEditedOfficeVersion">
    <vt:lpwstr>Office2010</vt:lpwstr>
  </property>
  <property fmtid="{D5CDD505-2E9C-101B-9397-08002B2CF9AE}" pid="5" name="Office2010WasSaved">
    <vt:lpwstr>1</vt:lpwstr>
  </property>
</Properties>
</file>