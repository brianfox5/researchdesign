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sldIdLst>
    <p:sldId id="256" r:id="rId2"/>
    <p:sldId id="379" r:id="rId3"/>
    <p:sldId id="405" r:id="rId4"/>
    <p:sldId id="407" r:id="rId5"/>
    <p:sldId id="415" r:id="rId6"/>
    <p:sldId id="416" r:id="rId7"/>
    <p:sldId id="417" r:id="rId8"/>
    <p:sldId id="414" r:id="rId9"/>
    <p:sldId id="408" r:id="rId10"/>
    <p:sldId id="418" r:id="rId11"/>
    <p:sldId id="409" r:id="rId12"/>
    <p:sldId id="422" r:id="rId13"/>
    <p:sldId id="411" r:id="rId14"/>
    <p:sldId id="419" r:id="rId15"/>
    <p:sldId id="412" r:id="rId16"/>
    <p:sldId id="410" r:id="rId17"/>
    <p:sldId id="425" r:id="rId18"/>
    <p:sldId id="426" r:id="rId19"/>
    <p:sldId id="421" r:id="rId20"/>
    <p:sldId id="424" r:id="rId21"/>
    <p:sldId id="420" r:id="rId2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86894" autoAdjust="0"/>
  </p:normalViewPr>
  <p:slideViewPr>
    <p:cSldViewPr snapToGrid="0">
      <p:cViewPr varScale="1">
        <p:scale>
          <a:sx n="84" d="100"/>
          <a:sy n="84" d="100"/>
        </p:scale>
        <p:origin x="1512" y="4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038706064762889E-2"/>
          <c:y val="0.10298229460263014"/>
          <c:w val="0.88627998139315278"/>
          <c:h val="0.5984518027547977"/>
        </c:manualLayout>
      </c:layout>
      <c:barChart>
        <c:barDir val="col"/>
        <c:grouping val="clustered"/>
        <c:varyColors val="0"/>
        <c:ser>
          <c:idx val="0"/>
          <c:order val="0"/>
          <c:tx>
            <c:strRef>
              <c:f>Sheet1!$B$1</c:f>
              <c:strCache>
                <c:ptCount val="1"/>
                <c:pt idx="0">
                  <c:v>Positive</c:v>
                </c:pt>
              </c:strCache>
            </c:strRef>
          </c:tx>
          <c:spPr>
            <a:solidFill>
              <a:srgbClr val="00B050"/>
            </a:solidFill>
            <a:ln>
              <a:noFill/>
            </a:ln>
            <a:effectLst/>
          </c:spPr>
          <c:invertIfNegative val="0"/>
          <c:cat>
            <c:numRef>
              <c:f>Sheet1!$A$2:$A$4</c:f>
              <c:numCache>
                <c:formatCode>General</c:formatCode>
                <c:ptCount val="3"/>
                <c:pt idx="0">
                  <c:v>2016</c:v>
                </c:pt>
                <c:pt idx="1">
                  <c:v>2017</c:v>
                </c:pt>
                <c:pt idx="2">
                  <c:v>2018</c:v>
                </c:pt>
              </c:numCache>
            </c:num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0332-47A2-8768-2131169E89DF}"/>
            </c:ext>
          </c:extLst>
        </c:ser>
        <c:ser>
          <c:idx val="1"/>
          <c:order val="1"/>
          <c:tx>
            <c:strRef>
              <c:f>Sheet1!$C$1</c:f>
              <c:strCache>
                <c:ptCount val="1"/>
                <c:pt idx="0">
                  <c:v>Negative</c:v>
                </c:pt>
              </c:strCache>
            </c:strRef>
          </c:tx>
          <c:spPr>
            <a:solidFill>
              <a:srgbClr val="FF0000"/>
            </a:solidFill>
            <a:ln>
              <a:noFill/>
            </a:ln>
            <a:effectLst/>
          </c:spPr>
          <c:invertIfNegative val="0"/>
          <c:cat>
            <c:numRef>
              <c:f>Sheet1!$A$2:$A$4</c:f>
              <c:numCache>
                <c:formatCode>General</c:formatCode>
                <c:ptCount val="3"/>
                <c:pt idx="0">
                  <c:v>2016</c:v>
                </c:pt>
                <c:pt idx="1">
                  <c:v>2017</c:v>
                </c:pt>
                <c:pt idx="2">
                  <c:v>2018</c:v>
                </c:pt>
              </c:numCache>
            </c:numRef>
          </c:cat>
          <c:val>
            <c:numRef>
              <c:f>Sheet1!$C$2:$C$4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1-0332-47A2-8768-2131169E89DF}"/>
            </c:ext>
          </c:extLst>
        </c:ser>
        <c:dLbls>
          <c:showLegendKey val="0"/>
          <c:showVal val="0"/>
          <c:showCatName val="0"/>
          <c:showSerName val="0"/>
          <c:showPercent val="0"/>
          <c:showBubbleSize val="0"/>
        </c:dLbls>
        <c:gapWidth val="219"/>
        <c:overlap val="-27"/>
        <c:axId val="232499232"/>
        <c:axId val="232500320"/>
      </c:barChart>
      <c:catAx>
        <c:axId val="232499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32500320"/>
        <c:crosses val="autoZero"/>
        <c:auto val="1"/>
        <c:lblAlgn val="ctr"/>
        <c:lblOffset val="100"/>
        <c:noMultiLvlLbl val="0"/>
      </c:catAx>
      <c:valAx>
        <c:axId val="23250032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32499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30674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83976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677648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726625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449032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256968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40011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335267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66512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725446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10/15/2023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9343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8BCC4-9B94-4BEF-91A3-495F4E4A73E7}" type="datetimeFigureOut">
              <a:rPr lang="en-US" smtClean="0"/>
              <a:t>10/15/2023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D657CA-DE46-4F37-9012-4185F813808C}" type="slidenum">
              <a:rPr lang="en-US" smtClean="0"/>
              <a:t>‹#›</a:t>
            </a:fld>
            <a:endParaRPr lang="en-US" dirty="0"/>
          </a:p>
        </p:txBody>
      </p:sp>
    </p:spTree>
    <p:extLst>
      <p:ext uri="{BB962C8B-B14F-4D97-AF65-F5344CB8AC3E}">
        <p14:creationId xmlns:p14="http://schemas.microsoft.com/office/powerpoint/2010/main" val="9099079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rds-www.wharton.upenn.edu/classroom/natural-language-processing-healthcare/"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rds-www.wharton.upenn.edu/classroom/nlp/" TargetMode="External"/><Relationship Id="rId4" Type="http://schemas.openxmlformats.org/officeDocument/2006/relationships/hyperlink" Target="https://wrds-www.wharton.upenn.edu/classroom/natural-language-processing/"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ctrTitle"/>
          </p:nvPr>
        </p:nvSpPr>
        <p:spPr/>
        <p:txBody>
          <a:bodyPr>
            <a:normAutofit fontScale="90000"/>
          </a:bodyPr>
          <a:lstStyle/>
          <a:p>
            <a:br>
              <a:rPr lang="en-US" b="1" dirty="0"/>
            </a:br>
            <a:r>
              <a:rPr lang="en-US" b="1" dirty="0"/>
              <a:t>Introduction to Text Analysis</a:t>
            </a:r>
          </a:p>
        </p:txBody>
      </p:sp>
    </p:spTree>
    <p:extLst>
      <p:ext uri="{BB962C8B-B14F-4D97-AF65-F5344CB8AC3E}">
        <p14:creationId xmlns:p14="http://schemas.microsoft.com/office/powerpoint/2010/main" val="3717743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Learning Objectives</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520700" y="1668463"/>
            <a:ext cx="7664450" cy="3508653"/>
          </a:xfrm>
          <a:prstGeom prst="rect">
            <a:avLst/>
          </a:prstGeom>
          <a:noFill/>
        </p:spPr>
        <p:txBody>
          <a:bodyPr wrap="square" rtlCol="0">
            <a:spAutoFit/>
          </a:bodyPr>
          <a:lstStyle/>
          <a:p>
            <a:r>
              <a:rPr lang="en-US" sz="2800" dirty="0"/>
              <a:t>Upon completing this assignment, students will:</a:t>
            </a:r>
          </a:p>
          <a:p>
            <a:endParaRPr lang="en-US" sz="2800" dirty="0"/>
          </a:p>
          <a:p>
            <a:pPr marL="457200" indent="-457200">
              <a:buFont typeface="Arial" panose="020B0604020202020204" pitchFamily="34" charset="0"/>
              <a:buChar char="•"/>
            </a:pPr>
            <a:r>
              <a:rPr lang="en-US" sz="2800" dirty="0"/>
              <a:t>Become familiar with basic concepts of natural language processing (NLP) and text analysis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Learn some of the commonly used techniques for preparing digital text for analysis</a:t>
            </a:r>
            <a:br>
              <a:rPr lang="en-US" sz="2600" dirty="0"/>
            </a:br>
            <a:endParaRPr lang="en-US" sz="2600" dirty="0"/>
          </a:p>
        </p:txBody>
      </p:sp>
    </p:spTree>
    <p:extLst>
      <p:ext uri="{BB962C8B-B14F-4D97-AF65-F5344CB8AC3E}">
        <p14:creationId xmlns:p14="http://schemas.microsoft.com/office/powerpoint/2010/main" val="1443367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Natural Language Processing </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6737"/>
            <a:ext cx="7664450" cy="4339650"/>
          </a:xfrm>
          <a:prstGeom prst="rect">
            <a:avLst/>
          </a:prstGeom>
          <a:noFill/>
        </p:spPr>
        <p:txBody>
          <a:bodyPr wrap="square" rtlCol="0">
            <a:spAutoFit/>
          </a:bodyPr>
          <a:lstStyle/>
          <a:p>
            <a:pPr marL="457200" indent="-457200">
              <a:buFont typeface="Arial" panose="020B0604020202020204" pitchFamily="34" charset="0"/>
              <a:buChar char="•"/>
            </a:pPr>
            <a:r>
              <a:rPr lang="en-US" sz="2800" dirty="0"/>
              <a:t>Natural Language Processing (NLP) is a broad field encompassing the automated interpretation of human language. </a:t>
            </a:r>
            <a:br>
              <a:rPr lang="en-US" sz="2800" dirty="0"/>
            </a:br>
            <a:endParaRPr lang="en-US" sz="2800" dirty="0"/>
          </a:p>
          <a:p>
            <a:pPr marL="457200" indent="-457200">
              <a:buFont typeface="Arial" panose="020B0604020202020204" pitchFamily="34" charset="0"/>
              <a:buChar char="•"/>
            </a:pPr>
            <a:r>
              <a:rPr lang="en-US" sz="2800" dirty="0"/>
              <a:t>Within NLP, text analysis is the process of extracting meaning from digital text. This original text data could be in the form of documents, webpages, news articles, email, social media posts, etc. </a:t>
            </a:r>
            <a:br>
              <a:rPr lang="en-US" sz="2600" dirty="0"/>
            </a:br>
            <a:endParaRPr lang="en-US" sz="2600" dirty="0"/>
          </a:p>
        </p:txBody>
      </p:sp>
    </p:spTree>
    <p:extLst>
      <p:ext uri="{BB962C8B-B14F-4D97-AF65-F5344CB8AC3E}">
        <p14:creationId xmlns:p14="http://schemas.microsoft.com/office/powerpoint/2010/main" val="3989554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31470"/>
            <a:ext cx="7886700" cy="1325563"/>
          </a:xfrm>
        </p:spPr>
        <p:txBody>
          <a:bodyPr/>
          <a:lstStyle/>
          <a:p>
            <a:r>
              <a:rPr lang="en-US" b="1" dirty="0"/>
              <a:t>Why Use Text Analysis?</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36956"/>
            <a:ext cx="7020379" cy="3939540"/>
          </a:xfrm>
          <a:prstGeom prst="rect">
            <a:avLst/>
          </a:prstGeom>
          <a:noFill/>
        </p:spPr>
        <p:txBody>
          <a:bodyPr wrap="square" rtlCol="0">
            <a:spAutoFit/>
          </a:bodyPr>
          <a:lstStyle/>
          <a:p>
            <a:pPr marL="457200" indent="-457200">
              <a:buFont typeface="Arial" panose="020B0604020202020204" pitchFamily="34" charset="0"/>
              <a:buChar char="•"/>
            </a:pPr>
            <a:r>
              <a:rPr lang="en-US" sz="2800" dirty="0"/>
              <a:t>Text analysis is powerful because it can help extract useful information from large quantities of text data.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Text analysis minimizes the human effort required to consume digital text, and results in quantitative knowledge gathered from the digital text.</a:t>
            </a:r>
          </a:p>
          <a:p>
            <a:endParaRPr lang="en-US" sz="2600" dirty="0"/>
          </a:p>
        </p:txBody>
      </p:sp>
    </p:spTree>
    <p:extLst>
      <p:ext uri="{BB962C8B-B14F-4D97-AF65-F5344CB8AC3E}">
        <p14:creationId xmlns:p14="http://schemas.microsoft.com/office/powerpoint/2010/main" val="1456853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31470"/>
            <a:ext cx="7886700" cy="1325563"/>
          </a:xfrm>
        </p:spPr>
        <p:txBody>
          <a:bodyPr/>
          <a:lstStyle/>
          <a:p>
            <a:r>
              <a:rPr lang="en-US" b="1" dirty="0"/>
              <a:t>Why Use Text Analysis?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27791" y="1036262"/>
            <a:ext cx="4144172" cy="4493538"/>
          </a:xfrm>
          <a:prstGeom prst="rect">
            <a:avLst/>
          </a:prstGeom>
          <a:noFill/>
        </p:spPr>
        <p:txBody>
          <a:bodyPr wrap="square" rtlCol="0">
            <a:spAutoFit/>
          </a:bodyPr>
          <a:lstStyle/>
          <a:p>
            <a:pPr marL="457200" indent="-457200">
              <a:buFont typeface="Arial" panose="020B0604020202020204" pitchFamily="34" charset="0"/>
              <a:buChar char="•"/>
            </a:pPr>
            <a:r>
              <a:rPr lang="en-US" sz="2600" dirty="0"/>
              <a:t>For example, if you were director of customer satisfaction for a hotel chain, the online customer feedback would be important. You probably would not be able to efficiently read the thousands of reviews hotel guests leave on various websites.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482742">
            <a:off x="4314522" y="1347434"/>
            <a:ext cx="4538130" cy="1302940"/>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768758">
            <a:off x="4333994" y="1418008"/>
            <a:ext cx="4528331" cy="1056611"/>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57300">
            <a:off x="4137175" y="2493475"/>
            <a:ext cx="4802324" cy="1441599"/>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1181066">
            <a:off x="4138280" y="2883583"/>
            <a:ext cx="4419276" cy="1226674"/>
          </a:xfrm>
          <a:prstGeom prst="rect">
            <a:avLst/>
          </a:prstGeom>
        </p:spPr>
      </p:pic>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659814">
            <a:off x="4051570" y="4039921"/>
            <a:ext cx="4612987" cy="1137928"/>
          </a:xfrm>
          <a:prstGeom prst="rect">
            <a:avLst/>
          </a:prstGeom>
        </p:spPr>
      </p:pic>
    </p:spTree>
    <p:extLst>
      <p:ext uri="{BB962C8B-B14F-4D97-AF65-F5344CB8AC3E}">
        <p14:creationId xmlns:p14="http://schemas.microsoft.com/office/powerpoint/2010/main" val="1051989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31470"/>
            <a:ext cx="7886700" cy="1325563"/>
          </a:xfrm>
        </p:spPr>
        <p:txBody>
          <a:bodyPr/>
          <a:lstStyle/>
          <a:p>
            <a:r>
              <a:rPr lang="en-US" b="1" dirty="0"/>
              <a:t>Why Use Text Analysis?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70444" y="1116495"/>
            <a:ext cx="4008070" cy="4093428"/>
          </a:xfrm>
          <a:prstGeom prst="rect">
            <a:avLst/>
          </a:prstGeom>
          <a:noFill/>
        </p:spPr>
        <p:txBody>
          <a:bodyPr wrap="square" rtlCol="0">
            <a:spAutoFit/>
          </a:bodyPr>
          <a:lstStyle/>
          <a:p>
            <a:pPr marL="457200" indent="-457200">
              <a:buFont typeface="Arial" panose="020B0604020202020204" pitchFamily="34" charset="0"/>
              <a:buChar char="•"/>
            </a:pPr>
            <a:r>
              <a:rPr lang="en-US" sz="2600" dirty="0"/>
              <a:t>Using one of the tools of text analysis—sentiment analysis—you can identify lists of “positive” and “negative” words/phrases and then automatically count the appearance of these words/phrases in the reviews.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757638">
            <a:off x="4251082" y="1455807"/>
            <a:ext cx="4876190" cy="1400000"/>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067694">
            <a:off x="4141300" y="1780350"/>
            <a:ext cx="4972937" cy="1200000"/>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78826">
            <a:off x="4125818" y="2842714"/>
            <a:ext cx="4777147" cy="1434041"/>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1369731">
            <a:off x="4288035" y="3108065"/>
            <a:ext cx="4802283" cy="1332987"/>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263607">
            <a:off x="4162232" y="4451134"/>
            <a:ext cx="5019048" cy="1238095"/>
          </a:xfrm>
          <a:prstGeom prst="rect">
            <a:avLst/>
          </a:prstGeom>
        </p:spPr>
      </p:pic>
    </p:spTree>
    <p:extLst>
      <p:ext uri="{BB962C8B-B14F-4D97-AF65-F5344CB8AC3E}">
        <p14:creationId xmlns:p14="http://schemas.microsoft.com/office/powerpoint/2010/main" val="1136861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31470"/>
            <a:ext cx="7886700" cy="1325563"/>
          </a:xfrm>
        </p:spPr>
        <p:txBody>
          <a:bodyPr/>
          <a:lstStyle/>
          <a:p>
            <a:r>
              <a:rPr lang="en-US" b="1" dirty="0"/>
              <a:t>Why Use Text Analysis?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113986" y="1194093"/>
            <a:ext cx="3964548" cy="2893100"/>
          </a:xfrm>
          <a:prstGeom prst="rect">
            <a:avLst/>
          </a:prstGeom>
          <a:noFill/>
        </p:spPr>
        <p:txBody>
          <a:bodyPr wrap="square" rtlCol="0">
            <a:spAutoFit/>
          </a:bodyPr>
          <a:lstStyle/>
          <a:p>
            <a:pPr marL="457200" indent="-457200">
              <a:buFont typeface="Arial" panose="020B0604020202020204" pitchFamily="34" charset="0"/>
              <a:buChar char="•"/>
            </a:pPr>
            <a:r>
              <a:rPr lang="en-US" sz="2600" dirty="0"/>
              <a:t>You can monitor the word frequency data from the reviews over time to see if positive or negative sentiment from customers statistically changes.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757638">
            <a:off x="4374477" y="1431871"/>
            <a:ext cx="4266879" cy="1225061"/>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067694">
            <a:off x="4303190" y="1330363"/>
            <a:ext cx="4178507" cy="1008299"/>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78826">
            <a:off x="4119342" y="1997559"/>
            <a:ext cx="4777147" cy="1434041"/>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1369731">
            <a:off x="4335192" y="2234566"/>
            <a:ext cx="4403402" cy="1222268"/>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263607">
            <a:off x="4735277" y="1503767"/>
            <a:ext cx="4383299" cy="1081269"/>
          </a:xfrm>
          <a:prstGeom prst="rect">
            <a:avLst/>
          </a:prstGeom>
        </p:spPr>
      </p:pic>
      <p:sp>
        <p:nvSpPr>
          <p:cNvPr id="20" name="Down Arrow 19"/>
          <p:cNvSpPr/>
          <p:nvPr/>
        </p:nvSpPr>
        <p:spPr>
          <a:xfrm>
            <a:off x="5580285" y="3577203"/>
            <a:ext cx="812158" cy="512479"/>
          </a:xfrm>
          <a:prstGeom prst="down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3" name="Chart 22"/>
          <p:cNvGraphicFramePr/>
          <p:nvPr>
            <p:extLst>
              <p:ext uri="{D42A27DB-BD31-4B8C-83A1-F6EECF244321}">
                <p14:modId xmlns:p14="http://schemas.microsoft.com/office/powerpoint/2010/main" val="2897459908"/>
              </p:ext>
            </p:extLst>
          </p:nvPr>
        </p:nvGraphicFramePr>
        <p:xfrm>
          <a:off x="4292174" y="3985300"/>
          <a:ext cx="3871693" cy="2134095"/>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751567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Preparing the Text Data</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49" y="1325563"/>
            <a:ext cx="7775121" cy="4093428"/>
          </a:xfrm>
          <a:prstGeom prst="rect">
            <a:avLst/>
          </a:prstGeom>
          <a:noFill/>
        </p:spPr>
        <p:txBody>
          <a:bodyPr wrap="square" rtlCol="0">
            <a:spAutoFit/>
          </a:bodyPr>
          <a:lstStyle/>
          <a:p>
            <a:pPr marL="457200" indent="-457200">
              <a:buFont typeface="Arial" panose="020B0604020202020204" pitchFamily="34" charset="0"/>
              <a:buChar char="•"/>
            </a:pPr>
            <a:r>
              <a:rPr lang="en-US" sz="2600" dirty="0"/>
              <a:t>Before using more advanced tools such as sentiment analysis, it is useful to learn about some of the required steps used to prepare the data prior to the analysis.  </a:t>
            </a:r>
            <a:br>
              <a:rPr lang="en-US" sz="2600" dirty="0"/>
            </a:br>
            <a:endParaRPr lang="en-US" sz="2600" dirty="0"/>
          </a:p>
          <a:p>
            <a:pPr marL="457200" indent="-457200">
              <a:buFont typeface="Arial" panose="020B0604020202020204" pitchFamily="34" charset="0"/>
              <a:buChar char="•"/>
            </a:pPr>
            <a:r>
              <a:rPr lang="en-US" sz="2600" dirty="0"/>
              <a:t>Even if you are using a vendor’s off-the-shelf product for your text analysis needs, learning about the underlying techniques is necessary to consider the assumptions that may have been made during the preparation of the data.  </a:t>
            </a:r>
          </a:p>
        </p:txBody>
      </p:sp>
    </p:spTree>
    <p:extLst>
      <p:ext uri="{BB962C8B-B14F-4D97-AF65-F5344CB8AC3E}">
        <p14:creationId xmlns:p14="http://schemas.microsoft.com/office/powerpoint/2010/main" val="336385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Segmenting Text into Words</a:t>
            </a:r>
            <a:br>
              <a:rPr lang="en-US" b="1" dirty="0"/>
            </a:br>
            <a:endParaRPr lang="en-US" b="1" dirty="0"/>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739775" y="803517"/>
            <a:ext cx="7664450" cy="5693866"/>
          </a:xfrm>
          <a:prstGeom prst="rect">
            <a:avLst/>
          </a:prstGeom>
          <a:noFill/>
        </p:spPr>
        <p:txBody>
          <a:bodyPr wrap="square" rtlCol="0">
            <a:spAutoFit/>
          </a:bodyPr>
          <a:lstStyle/>
          <a:p>
            <a:pPr marL="457200" indent="-457200">
              <a:buFont typeface="Arial" panose="020B0604020202020204" pitchFamily="34" charset="0"/>
              <a:buChar char="•"/>
            </a:pPr>
            <a:r>
              <a:rPr lang="en-US" sz="2600" dirty="0"/>
              <a:t>Exact steps for cleaning and preparing the raw text data will depend upon (1) the source of the text data, (2) the purpose of the analysis, and (3) your programming tools. </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Processing large amounts of raw text for analysis always entails chopping it into smaller pieces.</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Text is a linear sequence of characters/symbols and white spaces.  A “token” is a series of characters treated as meaningful unit. Typically these would be words.</a:t>
            </a:r>
          </a:p>
          <a:p>
            <a:br>
              <a:rPr lang="en-US" sz="2600" dirty="0"/>
            </a:br>
            <a:endParaRPr lang="en-US" sz="2600" dirty="0"/>
          </a:p>
        </p:txBody>
      </p:sp>
    </p:spTree>
    <p:extLst>
      <p:ext uri="{BB962C8B-B14F-4D97-AF65-F5344CB8AC3E}">
        <p14:creationId xmlns:p14="http://schemas.microsoft.com/office/powerpoint/2010/main" val="1064044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Tokenization</a:t>
            </a:r>
            <a:br>
              <a:rPr lang="en-US" b="1" dirty="0"/>
            </a:br>
            <a:endParaRPr lang="en-US" b="1" dirty="0"/>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512534" y="855664"/>
            <a:ext cx="8002815" cy="5047536"/>
          </a:xfrm>
          <a:prstGeom prst="rect">
            <a:avLst/>
          </a:prstGeom>
          <a:noFill/>
        </p:spPr>
        <p:txBody>
          <a:bodyPr wrap="square" rtlCol="0">
            <a:spAutoFit/>
          </a:bodyPr>
          <a:lstStyle/>
          <a:p>
            <a:pPr marL="457200" indent="-457200">
              <a:buFont typeface="Arial" panose="020B0604020202020204" pitchFamily="34" charset="0"/>
              <a:buChar char="•"/>
            </a:pPr>
            <a:r>
              <a:rPr lang="en-US" sz="2600" dirty="0"/>
              <a:t>Word tokenization transforms the text into a series of word tokens. At this stage, certain characters—such as some punctuation—are typically also eliminated.</a:t>
            </a:r>
            <a:br>
              <a:rPr lang="en-US" sz="2600" dirty="0"/>
            </a:br>
            <a:endParaRPr lang="en-US" sz="2600" dirty="0"/>
          </a:p>
          <a:p>
            <a:pPr marL="457200" indent="-457200">
              <a:buFont typeface="Arial" panose="020B0604020202020204" pitchFamily="34" charset="0"/>
              <a:buChar char="•"/>
            </a:pPr>
            <a:r>
              <a:rPr lang="en-US" sz="2600" dirty="0"/>
              <a:t>For example, the above English sentences would be turned into the following list of tokens: </a:t>
            </a:r>
            <a:br>
              <a:rPr lang="en-US" sz="2600" dirty="0"/>
            </a:br>
            <a:endParaRPr lang="en-US" sz="2600" dirty="0"/>
          </a:p>
          <a:p>
            <a:r>
              <a:rPr lang="en-US" sz="2000" dirty="0"/>
              <a:t>‘tokenization’, ‘transforms’, ‘the’, ‘text’, ‘into’, ‘a’, ‘series’, ‘of’, ‘word’, ‘tokens’, ‘at’, ‘this’, ‘stage’, ‘certain’, ‘characters’, ‘such’, ‘as’, ‘some’,  ‘punctuation’, ‘are’, ‘typically’, ‘also’, ‘eliminated’</a:t>
            </a:r>
          </a:p>
          <a:p>
            <a:endParaRPr lang="en-US" sz="2400" dirty="0"/>
          </a:p>
          <a:p>
            <a:pPr marL="457200" indent="-457200">
              <a:buFont typeface="Arial" panose="020B0604020202020204" pitchFamily="34" charset="0"/>
              <a:buChar char="•"/>
            </a:pPr>
            <a:r>
              <a:rPr lang="en-US" sz="2800" dirty="0"/>
              <a:t>The list of tokens becomes input for further processing.</a:t>
            </a:r>
          </a:p>
        </p:txBody>
      </p:sp>
    </p:spTree>
    <p:extLst>
      <p:ext uri="{BB962C8B-B14F-4D97-AF65-F5344CB8AC3E}">
        <p14:creationId xmlns:p14="http://schemas.microsoft.com/office/powerpoint/2010/main" val="3115042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01721"/>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Part of Speech (POS) Tagging</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209449"/>
            <a:ext cx="7664450" cy="3693319"/>
          </a:xfrm>
          <a:prstGeom prst="rect">
            <a:avLst/>
          </a:prstGeom>
          <a:noFill/>
        </p:spPr>
        <p:txBody>
          <a:bodyPr wrap="square" rtlCol="0">
            <a:spAutoFit/>
          </a:bodyPr>
          <a:lstStyle/>
          <a:p>
            <a:pPr marL="457200" indent="-457200">
              <a:buFont typeface="Arial" panose="020B0604020202020204" pitchFamily="34" charset="0"/>
              <a:buChar char="•"/>
            </a:pPr>
            <a:r>
              <a:rPr lang="en-US" sz="2600" dirty="0"/>
              <a:t>Tagging the tokens as nouns, verbs, adjectives, etc., is important for the accuracy of further steps of language processing. </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POS-tagging takes a sequence of words and attaches a part of speech to each word using both the word’s definition and relationship with adjacent words. </a:t>
            </a:r>
            <a:br>
              <a:rPr lang="en-US" sz="2600" dirty="0"/>
            </a:br>
            <a:endParaRPr lang="en-US" sz="2600" dirty="0"/>
          </a:p>
          <a:p>
            <a:endParaRPr lang="en-US" sz="26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898" y="5196906"/>
            <a:ext cx="1685580" cy="528013"/>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2550" y="5225744"/>
            <a:ext cx="990910" cy="505995"/>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19751" y="5210919"/>
            <a:ext cx="1708291" cy="520820"/>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51260" y="5230748"/>
            <a:ext cx="911214" cy="515034"/>
          </a:xfrm>
          <a:prstGeom prst="rect">
            <a:avLst/>
          </a:prstGeom>
        </p:spPr>
      </p:pic>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6900" y="5207887"/>
            <a:ext cx="1018411" cy="520038"/>
          </a:xfrm>
          <a:prstGeom prst="rect">
            <a:avLst/>
          </a:prstGeom>
        </p:spPr>
      </p:pic>
      <p:pic>
        <p:nvPicPr>
          <p:cNvPr id="40" name="Picture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5517" y="5225744"/>
            <a:ext cx="1018411" cy="520038"/>
          </a:xfrm>
          <a:prstGeom prst="rect">
            <a:avLst/>
          </a:prstGeom>
        </p:spPr>
      </p:pic>
      <p:pic>
        <p:nvPicPr>
          <p:cNvPr id="55" name="Picture 5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3688" y="4253656"/>
            <a:ext cx="6836993" cy="704576"/>
          </a:xfrm>
          <a:prstGeom prst="rect">
            <a:avLst/>
          </a:prstGeom>
        </p:spPr>
      </p:pic>
      <p:cxnSp>
        <p:nvCxnSpPr>
          <p:cNvPr id="52" name="Straight Connector 51"/>
          <p:cNvCxnSpPr/>
          <p:nvPr/>
        </p:nvCxnSpPr>
        <p:spPr>
          <a:xfrm>
            <a:off x="5791200" y="4826732"/>
            <a:ext cx="899886" cy="399012"/>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endCxn id="40" idx="0"/>
          </p:cNvCxnSpPr>
          <p:nvPr/>
        </p:nvCxnSpPr>
        <p:spPr>
          <a:xfrm>
            <a:off x="7135517" y="4829764"/>
            <a:ext cx="509206" cy="395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1033688" y="4829764"/>
            <a:ext cx="272598" cy="367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2264229" y="4829764"/>
            <a:ext cx="0" cy="395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003460" y="4829764"/>
            <a:ext cx="639626" cy="395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a:endCxn id="30" idx="0"/>
          </p:cNvCxnSpPr>
          <p:nvPr/>
        </p:nvCxnSpPr>
        <p:spPr>
          <a:xfrm>
            <a:off x="4151086" y="4829764"/>
            <a:ext cx="1265020" cy="37812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9989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Out of Vocabulary - OOV</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001138"/>
            <a:ext cx="7664450" cy="5293757"/>
          </a:xfrm>
          <a:prstGeom prst="rect">
            <a:avLst/>
          </a:prstGeom>
          <a:noFill/>
        </p:spPr>
        <p:txBody>
          <a:bodyPr wrap="square" rtlCol="0">
            <a:spAutoFit/>
          </a:bodyPr>
          <a:lstStyle/>
          <a:p>
            <a:pPr marL="457200" indent="-457200">
              <a:buFont typeface="Arial" panose="020B0604020202020204" pitchFamily="34" charset="0"/>
              <a:buChar char="•"/>
            </a:pPr>
            <a:r>
              <a:rPr lang="en-US" sz="2600" dirty="0"/>
              <a:t>When words are not in the system’s dictionary they are considered “out of vocabulary,” or OOV. </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Depending on the dictionary and rules your system is using, proper nouns, professional jargon, compound words, abbreviations, and slang may be OOV words.</a:t>
            </a:r>
            <a:br>
              <a:rPr lang="en-US" sz="2600" dirty="0"/>
            </a:br>
            <a:r>
              <a:rPr lang="en-US" sz="2600" dirty="0"/>
              <a:t> </a:t>
            </a:r>
          </a:p>
          <a:p>
            <a:pPr marL="457200" indent="-457200">
              <a:buFont typeface="Arial" panose="020B0604020202020204" pitchFamily="34" charset="0"/>
              <a:buChar char="•"/>
            </a:pPr>
            <a:r>
              <a:rPr lang="en-US" sz="2600" dirty="0"/>
              <a:t>Keep in mind your system may be designed to eliminate OOV words while “cleaning” text--even though retaining these non-standard words may be important to your final analysis. </a:t>
            </a:r>
          </a:p>
          <a:p>
            <a:endParaRPr lang="en-US" sz="2600" dirty="0"/>
          </a:p>
        </p:txBody>
      </p:sp>
    </p:spTree>
    <p:extLst>
      <p:ext uri="{BB962C8B-B14F-4D97-AF65-F5344CB8AC3E}">
        <p14:creationId xmlns:p14="http://schemas.microsoft.com/office/powerpoint/2010/main" val="480700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Lemmatization</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174977"/>
            <a:ext cx="7664450" cy="5293757"/>
          </a:xfrm>
          <a:prstGeom prst="rect">
            <a:avLst/>
          </a:prstGeom>
          <a:noFill/>
        </p:spPr>
        <p:txBody>
          <a:bodyPr wrap="square" rtlCol="0">
            <a:spAutoFit/>
          </a:bodyPr>
          <a:lstStyle/>
          <a:p>
            <a:pPr marL="457200" indent="-457200">
              <a:buFont typeface="Arial" panose="020B0604020202020204" pitchFamily="34" charset="0"/>
              <a:buChar char="•"/>
            </a:pPr>
            <a:r>
              <a:rPr lang="en-US" sz="2600" dirty="0"/>
              <a:t>Lemmatization is the process of reducing words down to their base form, or dictionary form, known as the lemma. </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The verb “to eat” may appear in the text as “eat,” “ate,” “eats,” or “eating.” The base form, “eat,” is the lemma for the word. </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Generally, lemmatization means removing inflectional endings. However, reducing the word to its lemma may also mean substitution of a synonym based on context.  </a:t>
            </a:r>
            <a:br>
              <a:rPr lang="en-US" sz="2600" dirty="0"/>
            </a:br>
            <a:endParaRPr lang="en-US" sz="2600" dirty="0"/>
          </a:p>
        </p:txBody>
      </p:sp>
    </p:spTree>
    <p:extLst>
      <p:ext uri="{BB962C8B-B14F-4D97-AF65-F5344CB8AC3E}">
        <p14:creationId xmlns:p14="http://schemas.microsoft.com/office/powerpoint/2010/main" val="334682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Lemmatization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174977"/>
            <a:ext cx="7664450" cy="4401205"/>
          </a:xfrm>
          <a:prstGeom prst="rect">
            <a:avLst/>
          </a:prstGeom>
          <a:noFill/>
        </p:spPr>
        <p:txBody>
          <a:bodyPr wrap="square" rtlCol="0">
            <a:spAutoFit/>
          </a:bodyPr>
          <a:lstStyle/>
          <a:p>
            <a:r>
              <a:rPr lang="en-US" sz="2800" dirty="0"/>
              <a:t>For example, review the following sequence of tokens before and after lemmatization:</a:t>
            </a:r>
          </a:p>
          <a:p>
            <a:endParaRPr lang="en-US" sz="2800" dirty="0"/>
          </a:p>
          <a:p>
            <a:r>
              <a:rPr lang="en-US" sz="2800" dirty="0"/>
              <a:t>Before lemmatization:</a:t>
            </a:r>
          </a:p>
          <a:p>
            <a:br>
              <a:rPr lang="en-US" sz="2800" dirty="0"/>
            </a:br>
            <a:r>
              <a:rPr lang="en-US" sz="2800" b="1" dirty="0"/>
              <a:t>‘a’, ‘background’, ‘in’, ‘statistics’, ‘is’, ‘expected’,</a:t>
            </a:r>
          </a:p>
          <a:p>
            <a:endParaRPr lang="en-US" sz="2800" dirty="0"/>
          </a:p>
          <a:p>
            <a:r>
              <a:rPr lang="en-US" sz="2800" dirty="0"/>
              <a:t>Lemma:</a:t>
            </a:r>
          </a:p>
          <a:p>
            <a:br>
              <a:rPr lang="en-US" sz="2800" dirty="0"/>
            </a:br>
            <a:r>
              <a:rPr lang="en-US" sz="2800" b="1" dirty="0"/>
              <a:t>‘a’, ‘background’, ‘in’, ‘statistic’, ‘be’, ‘expect’,</a:t>
            </a:r>
          </a:p>
        </p:txBody>
      </p:sp>
    </p:spTree>
    <p:extLst>
      <p:ext uri="{BB962C8B-B14F-4D97-AF65-F5344CB8AC3E}">
        <p14:creationId xmlns:p14="http://schemas.microsoft.com/office/powerpoint/2010/main" val="305924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Removing Stop Words</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282839" y="1118453"/>
            <a:ext cx="4791529" cy="5478423"/>
          </a:xfrm>
          <a:prstGeom prst="rect">
            <a:avLst/>
          </a:prstGeom>
          <a:noFill/>
        </p:spPr>
        <p:txBody>
          <a:bodyPr wrap="square" rtlCol="0">
            <a:spAutoFit/>
          </a:bodyPr>
          <a:lstStyle/>
          <a:p>
            <a:pPr marL="457200" indent="-457200">
              <a:buFont typeface="Arial" panose="020B0604020202020204" pitchFamily="34" charset="0"/>
              <a:buChar char="•"/>
            </a:pPr>
            <a:r>
              <a:rPr lang="en-US" sz="2700" dirty="0"/>
              <a:t>The next step is typically to filter out the most commonly used words in the English language. These are words used to construct meaningful sentences, but are not very meaningful in themselves. </a:t>
            </a:r>
          </a:p>
          <a:p>
            <a:endParaRPr lang="en-US" sz="2700" dirty="0"/>
          </a:p>
          <a:p>
            <a:pPr marL="457200" indent="-457200">
              <a:buFont typeface="Arial" panose="020B0604020202020204" pitchFamily="34" charset="0"/>
              <a:buChar char="•"/>
            </a:pPr>
            <a:r>
              <a:rPr lang="en-US" sz="2700" dirty="0"/>
              <a:t>These words are called stop words.  </a:t>
            </a:r>
          </a:p>
          <a:p>
            <a:endParaRPr lang="en-US" sz="2800" dirty="0"/>
          </a:p>
          <a:p>
            <a:br>
              <a:rPr lang="en-US" sz="2600" dirty="0"/>
            </a:br>
            <a:endParaRPr lang="en-US" sz="26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4314" y="1015842"/>
            <a:ext cx="3721196" cy="3604178"/>
          </a:xfrm>
          <a:prstGeom prst="rect">
            <a:avLst/>
          </a:prstGeom>
        </p:spPr>
      </p:pic>
      <p:sp>
        <p:nvSpPr>
          <p:cNvPr id="7" name="TextBox 6"/>
          <p:cNvSpPr txBox="1"/>
          <p:nvPr/>
        </p:nvSpPr>
        <p:spPr>
          <a:xfrm>
            <a:off x="5765990" y="4758864"/>
            <a:ext cx="3095171" cy="1015663"/>
          </a:xfrm>
          <a:prstGeom prst="rect">
            <a:avLst/>
          </a:prstGeom>
          <a:solidFill>
            <a:schemeClr val="bg2"/>
          </a:solidFill>
        </p:spPr>
        <p:txBody>
          <a:bodyPr wrap="square" rtlCol="0">
            <a:spAutoFit/>
          </a:bodyPr>
          <a:lstStyle/>
          <a:p>
            <a:r>
              <a:rPr lang="en-US" sz="2000" b="1" dirty="0"/>
              <a:t>There is no universal list. </a:t>
            </a:r>
          </a:p>
          <a:p>
            <a:r>
              <a:rPr lang="en-US" sz="2000" b="1" dirty="0"/>
              <a:t>A typical stop word list has approx. 125-150 words. </a:t>
            </a:r>
          </a:p>
        </p:txBody>
      </p:sp>
      <p:sp>
        <p:nvSpPr>
          <p:cNvPr id="8" name="TextBox 7"/>
          <p:cNvSpPr txBox="1"/>
          <p:nvPr/>
        </p:nvSpPr>
        <p:spPr>
          <a:xfrm>
            <a:off x="6294117" y="965447"/>
            <a:ext cx="333828" cy="3170099"/>
          </a:xfrm>
          <a:prstGeom prst="rect">
            <a:avLst/>
          </a:prstGeom>
          <a:noFill/>
        </p:spPr>
        <p:txBody>
          <a:bodyPr wrap="square" rtlCol="0">
            <a:spAutoFit/>
          </a:bodyPr>
          <a:lstStyle/>
          <a:p>
            <a:r>
              <a:rPr lang="en-US" sz="20000" dirty="0"/>
              <a:t>x</a:t>
            </a:r>
          </a:p>
        </p:txBody>
      </p:sp>
    </p:spTree>
    <p:extLst>
      <p:ext uri="{BB962C8B-B14F-4D97-AF65-F5344CB8AC3E}">
        <p14:creationId xmlns:p14="http://schemas.microsoft.com/office/powerpoint/2010/main" val="839685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Counting Words</a:t>
            </a:r>
          </a:p>
        </p:txBody>
      </p:sp>
      <p:sp>
        <p:nvSpPr>
          <p:cNvPr id="3" name="Content Placeholder 2"/>
          <p:cNvSpPr>
            <a:spLocks noGrp="1"/>
          </p:cNvSpPr>
          <p:nvPr>
            <p:ph idx="1"/>
          </p:nvPr>
        </p:nvSpPr>
        <p:spPr>
          <a:xfrm>
            <a:off x="628650" y="1490774"/>
            <a:ext cx="7886700" cy="2602711"/>
          </a:xfrm>
        </p:spPr>
        <p:txBody>
          <a:bodyPr>
            <a:noAutofit/>
          </a:bodyPr>
          <a:lstStyle/>
          <a:p>
            <a:pPr marL="0" indent="0">
              <a:buNone/>
            </a:pPr>
            <a:br>
              <a:rPr lang="en-US" dirty="0"/>
            </a:br>
            <a:endParaRPr lang="en-US" dirty="0"/>
          </a:p>
        </p:txBody>
      </p:sp>
      <p:sp>
        <p:nvSpPr>
          <p:cNvPr id="5" name="TextBox 4"/>
          <p:cNvSpPr txBox="1"/>
          <p:nvPr/>
        </p:nvSpPr>
        <p:spPr>
          <a:xfrm>
            <a:off x="244928" y="1093335"/>
            <a:ext cx="5081815" cy="4708981"/>
          </a:xfrm>
          <a:prstGeom prst="rect">
            <a:avLst/>
          </a:prstGeom>
          <a:noFill/>
        </p:spPr>
        <p:txBody>
          <a:bodyPr wrap="square" rtlCol="0">
            <a:spAutoFit/>
          </a:bodyPr>
          <a:lstStyle/>
          <a:p>
            <a:pPr marL="457200" indent="-457200">
              <a:buFont typeface="Arial" panose="020B0604020202020204" pitchFamily="34" charset="0"/>
              <a:buChar char="•"/>
            </a:pPr>
            <a:r>
              <a:rPr lang="en-US" sz="2800" dirty="0"/>
              <a:t>Taking the filtered list and running a word frequency process determines the number of times each token occurs in the digital text being analyzed. </a:t>
            </a:r>
          </a:p>
          <a:p>
            <a:endParaRPr lang="en-US" sz="2800" dirty="0"/>
          </a:p>
          <a:p>
            <a:r>
              <a:rPr lang="en-US" sz="2600" dirty="0"/>
              <a:t> </a:t>
            </a:r>
          </a:p>
          <a:p>
            <a:endParaRPr lang="en-US" sz="2600" dirty="0"/>
          </a:p>
          <a:p>
            <a:br>
              <a:rPr lang="en-US" sz="2600" dirty="0"/>
            </a:br>
            <a:endParaRPr lang="en-US" sz="26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0204" y="230905"/>
            <a:ext cx="3630335" cy="3862580"/>
          </a:xfrm>
          <a:prstGeom prst="rect">
            <a:avLst/>
          </a:prstGeom>
        </p:spPr>
      </p:pic>
      <p:sp>
        <p:nvSpPr>
          <p:cNvPr id="7" name="TextBox 6"/>
          <p:cNvSpPr txBox="1"/>
          <p:nvPr/>
        </p:nvSpPr>
        <p:spPr>
          <a:xfrm>
            <a:off x="244928" y="4258696"/>
            <a:ext cx="8287657" cy="2092881"/>
          </a:xfrm>
          <a:prstGeom prst="rect">
            <a:avLst/>
          </a:prstGeom>
          <a:noFill/>
        </p:spPr>
        <p:txBody>
          <a:bodyPr wrap="square" rtlCol="0">
            <a:spAutoFit/>
          </a:bodyPr>
          <a:lstStyle/>
          <a:p>
            <a:pPr marL="285750" indent="-285750">
              <a:buFont typeface="Arial" panose="020B0604020202020204" pitchFamily="34" charset="0"/>
              <a:buChar char="•"/>
            </a:pPr>
            <a:r>
              <a:rPr lang="en-US" sz="2800" dirty="0"/>
              <a:t>Word frequency, a measure of the relative weight given to a word in the corpus analyzed, is typically a precursor to further analysis, such as sentiment analysis, readability analysis, and topic modeling. </a:t>
            </a:r>
          </a:p>
          <a:p>
            <a:endParaRPr lang="en-US" dirty="0"/>
          </a:p>
        </p:txBody>
      </p:sp>
    </p:spTree>
    <p:extLst>
      <p:ext uri="{BB962C8B-B14F-4D97-AF65-F5344CB8AC3E}">
        <p14:creationId xmlns:p14="http://schemas.microsoft.com/office/powerpoint/2010/main" val="2894588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Adjacent Words</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506185" y="1003571"/>
            <a:ext cx="7664450" cy="5232202"/>
          </a:xfrm>
          <a:prstGeom prst="rect">
            <a:avLst/>
          </a:prstGeom>
          <a:noFill/>
        </p:spPr>
        <p:txBody>
          <a:bodyPr wrap="square" rtlCol="0">
            <a:spAutoFit/>
          </a:bodyPr>
          <a:lstStyle/>
          <a:p>
            <a:pPr marL="457200" indent="-457200">
              <a:buFont typeface="Arial" panose="020B0604020202020204" pitchFamily="34" charset="0"/>
              <a:buChar char="•"/>
            </a:pPr>
            <a:r>
              <a:rPr lang="en-US" sz="2600" dirty="0"/>
              <a:t>Collocation refers to words commonly appearing near each other. An example is a bigram, which is two adjacent tokens in a sequence of tokens.  </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Returning to the hotel review example, guests often indicate whether they would “stay again” or “not stay” (again). Counting the occurrence of those two bigrams could be relevant as indications of positive or negative sentiment.</a:t>
            </a:r>
          </a:p>
          <a:p>
            <a:br>
              <a:rPr lang="en-US" sz="2600" dirty="0"/>
            </a:br>
            <a:r>
              <a:rPr lang="en-US" sz="2400" dirty="0"/>
              <a:t>unigram = 1 token	                 bigram = 2 adjacent tokens              trigram= 3 adjacent tokens         n-gram = n adjacent tokens</a:t>
            </a:r>
          </a:p>
          <a:p>
            <a:pPr marL="457200" indent="-457200">
              <a:buFont typeface="Arial" panose="020B0604020202020204" pitchFamily="34" charset="0"/>
              <a:buChar char="•"/>
            </a:pPr>
            <a:endParaRPr lang="en-US" sz="2600" dirty="0"/>
          </a:p>
        </p:txBody>
      </p:sp>
    </p:spTree>
    <p:extLst>
      <p:ext uri="{BB962C8B-B14F-4D97-AF65-F5344CB8AC3E}">
        <p14:creationId xmlns:p14="http://schemas.microsoft.com/office/powerpoint/2010/main" val="2758079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Notes on Text Preparation</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506186" y="1203626"/>
            <a:ext cx="7664450" cy="4093428"/>
          </a:xfrm>
          <a:prstGeom prst="rect">
            <a:avLst/>
          </a:prstGeom>
          <a:noFill/>
        </p:spPr>
        <p:txBody>
          <a:bodyPr wrap="square" rtlCol="0">
            <a:spAutoFit/>
          </a:bodyPr>
          <a:lstStyle/>
          <a:p>
            <a:pPr marL="457200" indent="-457200">
              <a:buFont typeface="Arial" panose="020B0604020202020204" pitchFamily="34" charset="0"/>
              <a:buChar char="•"/>
            </a:pPr>
            <a:r>
              <a:rPr lang="en-US" sz="2600" dirty="0"/>
              <a:t>It is worth being aware of the text preparation in order to make sure something important to your final analysis has not inadvertently been “cleaned.”  </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For example, we noted in the hotel reviews that the bigrams “would stay,” and (would) “not stay” could be important indicators of sentiment. However, the word “not” is usually included in stopword lists. Expertise in the text being analyzed is key to achieving better results.  </a:t>
            </a:r>
          </a:p>
        </p:txBody>
      </p:sp>
    </p:spTree>
    <p:extLst>
      <p:ext uri="{BB962C8B-B14F-4D97-AF65-F5344CB8AC3E}">
        <p14:creationId xmlns:p14="http://schemas.microsoft.com/office/powerpoint/2010/main" val="1070062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221"/>
            <a:ext cx="9144000" cy="6415100"/>
          </a:xfrm>
          <a:prstGeom prst="rect">
            <a:avLst/>
          </a:prstGeom>
        </p:spPr>
      </p:pic>
      <p:sp>
        <p:nvSpPr>
          <p:cNvPr id="2" name="Title 1"/>
          <p:cNvSpPr>
            <a:spLocks noGrp="1"/>
          </p:cNvSpPr>
          <p:nvPr>
            <p:ph type="title"/>
          </p:nvPr>
        </p:nvSpPr>
        <p:spPr>
          <a:xfrm>
            <a:off x="692339" y="-219882"/>
            <a:ext cx="7886700" cy="1325563"/>
          </a:xfrm>
        </p:spPr>
        <p:txBody>
          <a:bodyPr/>
          <a:lstStyle/>
          <a:p>
            <a:r>
              <a:rPr lang="en-US" b="1" dirty="0"/>
              <a:t>Links to Assignment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300250" y="921393"/>
            <a:ext cx="8543499" cy="5724644"/>
          </a:xfrm>
          <a:prstGeom prst="rect">
            <a:avLst/>
          </a:prstGeom>
          <a:noFill/>
        </p:spPr>
        <p:txBody>
          <a:bodyPr wrap="square" rtlCol="0">
            <a:spAutoFit/>
          </a:bodyPr>
          <a:lstStyle/>
          <a:p>
            <a:r>
              <a:rPr lang="en-US" sz="2600" dirty="0"/>
              <a:t>Use these two links to access interactive text processing activities. There are two options:  </a:t>
            </a:r>
            <a:br>
              <a:rPr lang="en-US" sz="2600" dirty="0"/>
            </a:br>
            <a:endParaRPr lang="en-US" sz="2600" dirty="0"/>
          </a:p>
          <a:p>
            <a:pPr marL="457200" indent="-457200">
              <a:buFont typeface="Arial" panose="020B0604020202020204" pitchFamily="34" charset="0"/>
              <a:buChar char="•"/>
            </a:pPr>
            <a:r>
              <a:rPr lang="en-US" sz="2600" dirty="0"/>
              <a:t>The first </a:t>
            </a:r>
            <a:r>
              <a:rPr lang="en-US" sz="2600"/>
              <a:t>uses health care-related </a:t>
            </a:r>
            <a:r>
              <a:rPr lang="en-US" sz="2600" dirty="0"/>
              <a:t>Tweets. Each corpus is made up of Tweets from a different news source. </a:t>
            </a:r>
            <a:r>
              <a:rPr lang="en-US" sz="2600" dirty="0">
                <a:hlinkClick r:id="rId3"/>
              </a:rPr>
              <a:t>https://wrds-www.wharton.upenn.edu/classroom/natural-language-processing-healthcare/</a:t>
            </a:r>
            <a:br>
              <a:rPr lang="en-US" sz="2600" dirty="0"/>
            </a:br>
            <a:r>
              <a:rPr lang="en-US" sz="2600" dirty="0"/>
              <a:t> </a:t>
            </a:r>
          </a:p>
          <a:p>
            <a:pPr marL="457200" indent="-457200">
              <a:buFont typeface="Arial" panose="020B0604020202020204" pitchFamily="34" charset="0"/>
              <a:buChar char="•"/>
            </a:pPr>
            <a:r>
              <a:rPr lang="en-US" sz="2600" dirty="0"/>
              <a:t>The second uses the entire text of Jane Austen’s Pride and Prejudice as the corpus. </a:t>
            </a:r>
            <a:r>
              <a:rPr lang="en-US" sz="2600" dirty="0">
                <a:hlinkClick r:id="rId4"/>
              </a:rPr>
              <a:t>https://wrds-www.wharton.upenn.edu/classroom/natural-language-processing/</a:t>
            </a:r>
            <a:br>
              <a:rPr lang="en-US" sz="2600" dirty="0">
                <a:hlinkClick r:id="rId5"/>
              </a:rPr>
            </a:br>
            <a:endParaRPr lang="en-US" sz="2600" dirty="0"/>
          </a:p>
          <a:p>
            <a:endParaRPr lang="en-US" sz="2800" dirty="0"/>
          </a:p>
        </p:txBody>
      </p:sp>
    </p:spTree>
    <p:extLst>
      <p:ext uri="{BB962C8B-B14F-4D97-AF65-F5344CB8AC3E}">
        <p14:creationId xmlns:p14="http://schemas.microsoft.com/office/powerpoint/2010/main" val="2751765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Activity Notes</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664450" cy="5863144"/>
          </a:xfrm>
          <a:prstGeom prst="rect">
            <a:avLst/>
          </a:prstGeom>
          <a:noFill/>
        </p:spPr>
        <p:txBody>
          <a:bodyPr wrap="square" rtlCol="0">
            <a:spAutoFit/>
          </a:bodyPr>
          <a:lstStyle/>
          <a:p>
            <a:pPr marL="457200" indent="-457200">
              <a:buFont typeface="Arial" panose="020B0604020202020204" pitchFamily="34" charset="0"/>
              <a:buChar char="•"/>
            </a:pPr>
            <a:r>
              <a:rPr lang="en-US" sz="2700" dirty="0"/>
              <a:t>In each application, the frequency distribution has been visualized as a word cloud. In word clouds, the size of each word indicates its relative frequency. </a:t>
            </a:r>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r>
              <a:rPr lang="en-US" sz="2700" dirty="0"/>
              <a:t>Select different options in the interactive tool to see what happens to the word cloud as you choose among different text processing methods.</a:t>
            </a:r>
            <a:br>
              <a:rPr lang="en-US" sz="2700" dirty="0"/>
            </a:br>
            <a:endParaRPr lang="en-US" sz="2700" dirty="0"/>
          </a:p>
          <a:p>
            <a:pPr marL="457200" indent="-457200">
              <a:buFont typeface="Arial" panose="020B0604020202020204" pitchFamily="34" charset="0"/>
              <a:buChar char="•"/>
            </a:pPr>
            <a:r>
              <a:rPr lang="en-US" sz="2700" dirty="0"/>
              <a:t>A data table beneath the word cloud contains the complete word lists. </a:t>
            </a:r>
          </a:p>
          <a:p>
            <a:pPr marL="457200" indent="-457200">
              <a:buFont typeface="Arial" panose="020B0604020202020204" pitchFamily="34" charset="0"/>
              <a:buChar char="•"/>
            </a:pPr>
            <a:endParaRPr lang="en-US" sz="2600" dirty="0"/>
          </a:p>
          <a:p>
            <a:br>
              <a:rPr lang="en-US" sz="2600" dirty="0"/>
            </a:br>
            <a:endParaRPr lang="en-US" sz="2600" dirty="0"/>
          </a:p>
        </p:txBody>
      </p:sp>
    </p:spTree>
    <p:extLst>
      <p:ext uri="{BB962C8B-B14F-4D97-AF65-F5344CB8AC3E}">
        <p14:creationId xmlns:p14="http://schemas.microsoft.com/office/powerpoint/2010/main" val="3236187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Conclusion</a:t>
            </a:r>
          </a:p>
        </p:txBody>
      </p:sp>
      <p:sp>
        <p:nvSpPr>
          <p:cNvPr id="3" name="Content Placeholder 2"/>
          <p:cNvSpPr>
            <a:spLocks noGrp="1"/>
          </p:cNvSpPr>
          <p:nvPr>
            <p:ph idx="1"/>
          </p:nvPr>
        </p:nvSpPr>
        <p:spPr>
          <a:xfrm>
            <a:off x="628650" y="1118453"/>
            <a:ext cx="7886700" cy="4788861"/>
          </a:xfrm>
        </p:spPr>
        <p:txBody>
          <a:bodyPr>
            <a:noAutofit/>
          </a:bodyPr>
          <a:lstStyle/>
          <a:p>
            <a:r>
              <a:rPr lang="en-US" dirty="0"/>
              <a:t>Text analysis uses automated processes to extract meaning from digital text.</a:t>
            </a:r>
            <a:br>
              <a:rPr lang="en-US" dirty="0"/>
            </a:br>
            <a:endParaRPr lang="en-US" dirty="0"/>
          </a:p>
          <a:p>
            <a:r>
              <a:rPr lang="en-US" dirty="0"/>
              <a:t>Tokenization, part-of-speech tagging, lemmatization, and the elimination of stop words are all techniques used to prepare raw digital text data for analysis. </a:t>
            </a:r>
            <a:br>
              <a:rPr lang="en-US" dirty="0"/>
            </a:br>
            <a:endParaRPr lang="en-US" dirty="0"/>
          </a:p>
          <a:p>
            <a:r>
              <a:rPr lang="en-US" dirty="0"/>
              <a:t>Counting the frequency of specific words in the text can provide helpful information about the text, and is a precursor to further analysis. </a:t>
            </a:r>
          </a:p>
        </p:txBody>
      </p:sp>
      <p:sp>
        <p:nvSpPr>
          <p:cNvPr id="5" name="TextBox 4"/>
          <p:cNvSpPr txBox="1"/>
          <p:nvPr/>
        </p:nvSpPr>
        <p:spPr>
          <a:xfrm>
            <a:off x="282839" y="1118453"/>
            <a:ext cx="4791529" cy="892552"/>
          </a:xfrm>
          <a:prstGeom prst="rect">
            <a:avLst/>
          </a:prstGeom>
          <a:noFill/>
        </p:spPr>
        <p:txBody>
          <a:bodyPr wrap="square" rtlCol="0">
            <a:spAutoFit/>
          </a:bodyPr>
          <a:lstStyle/>
          <a:p>
            <a:br>
              <a:rPr lang="en-US" sz="2600" dirty="0"/>
            </a:br>
            <a:endParaRPr lang="en-US" sz="2600" dirty="0"/>
          </a:p>
        </p:txBody>
      </p:sp>
    </p:spTree>
    <p:extLst>
      <p:ext uri="{BB962C8B-B14F-4D97-AF65-F5344CB8AC3E}">
        <p14:creationId xmlns:p14="http://schemas.microsoft.com/office/powerpoint/2010/main" val="323863293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32996</TotalTime>
  <Words>1437</Words>
  <Application>Microsoft Office PowerPoint</Application>
  <PresentationFormat>On-screen Show (4:3)</PresentationFormat>
  <Paragraphs>119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 Introduction to Text Analysis</vt:lpstr>
      <vt:lpstr>Learning Objectives</vt:lpstr>
      <vt:lpstr>Natural Language Processing </vt:lpstr>
      <vt:lpstr>Why Use Text Analysis?</vt:lpstr>
      <vt:lpstr>Why Use Text Analysis? (cont.)</vt:lpstr>
      <vt:lpstr>Why Use Text Analysis? (cont.)</vt:lpstr>
      <vt:lpstr>Why Use Text Analysis? (cont.)</vt:lpstr>
      <vt:lpstr>Preparing the Text Data</vt:lpstr>
      <vt:lpstr>Segmenting Text into Words </vt:lpstr>
      <vt:lpstr>Tokenization </vt:lpstr>
      <vt:lpstr>Part of Speech (POS) Tagging</vt:lpstr>
      <vt:lpstr>Out of Vocabulary - OOV</vt:lpstr>
      <vt:lpstr>Lemmatization</vt:lpstr>
      <vt:lpstr>Lemmatization (cont.)</vt:lpstr>
      <vt:lpstr>Removing Stop Words</vt:lpstr>
      <vt:lpstr>Counting Words</vt:lpstr>
      <vt:lpstr>Adjacent Words</vt:lpstr>
      <vt:lpstr>Notes on Text Preparation</vt:lpstr>
      <vt:lpstr>Links to Assignment</vt:lpstr>
      <vt:lpstr>Activity Notes</vt:lpstr>
      <vt:lpstr>Conclusion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Identifiers</dc:title>
  <dc:creator>Flores, Yadira</dc:creator>
  <cp:lastModifiedBy>Obropta, Mary</cp:lastModifiedBy>
  <cp:revision>823</cp:revision>
  <cp:lastPrinted>2016-09-06T15:45:13Z</cp:lastPrinted>
  <dcterms:created xsi:type="dcterms:W3CDTF">2015-09-17T18:26:36Z</dcterms:created>
  <dcterms:modified xsi:type="dcterms:W3CDTF">2023-10-16T15:16:38Z</dcterms:modified>
</cp:coreProperties>
</file>