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80" r:id="rId4"/>
    <p:sldId id="282" r:id="rId5"/>
    <p:sldId id="287" r:id="rId6"/>
    <p:sldId id="289" r:id="rId7"/>
    <p:sldId id="279" r:id="rId8"/>
    <p:sldId id="257" r:id="rId9"/>
    <p:sldId id="283" r:id="rId10"/>
    <p:sldId id="285" r:id="rId11"/>
    <p:sldId id="284" r:id="rId12"/>
    <p:sldId id="273" r:id="rId13"/>
    <p:sldId id="286" r:id="rId14"/>
    <p:sldId id="258" r:id="rId15"/>
    <p:sldId id="265" r:id="rId16"/>
    <p:sldId id="290" r:id="rId17"/>
    <p:sldId id="288" r:id="rId18"/>
    <p:sldId id="297" r:id="rId19"/>
    <p:sldId id="259" r:id="rId20"/>
    <p:sldId id="270" r:id="rId21"/>
    <p:sldId id="260" r:id="rId22"/>
    <p:sldId id="291" r:id="rId23"/>
    <p:sldId id="261" r:id="rId24"/>
    <p:sldId id="292" r:id="rId25"/>
    <p:sldId id="262" r:id="rId26"/>
    <p:sldId id="293" r:id="rId27"/>
    <p:sldId id="296" r:id="rId28"/>
    <p:sldId id="298" r:id="rId29"/>
    <p:sldId id="294" r:id="rId30"/>
    <p:sldId id="267" r:id="rId31"/>
    <p:sldId id="268" r:id="rId32"/>
    <p:sldId id="276" r:id="rId33"/>
    <p:sldId id="295" r:id="rId34"/>
    <p:sldId id="269" r:id="rId35"/>
    <p:sldId id="278"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1" autoAdjust="0"/>
    <p:restoredTop sz="94660"/>
  </p:normalViewPr>
  <p:slideViewPr>
    <p:cSldViewPr snapToGrid="0">
      <p:cViewPr>
        <p:scale>
          <a:sx n="118" d="100"/>
          <a:sy n="118" d="100"/>
        </p:scale>
        <p:origin x="-54" y="-10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163611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1352039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3188058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2672137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425084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2372270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1599364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3970108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4101251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181738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158C0C-CD14-4132-B698-9CCE7845355C}" type="datetimeFigureOut">
              <a:rPr lang="en-US" smtClean="0"/>
              <a:t>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53D1BA2-E11B-4EAC-BC4E-3C1C6BAB5B52}" type="slidenum">
              <a:rPr lang="en-US" smtClean="0"/>
              <a:t>‹#›</a:t>
            </a:fld>
            <a:endParaRPr lang="en-US" dirty="0"/>
          </a:p>
        </p:txBody>
      </p:sp>
    </p:spTree>
    <p:extLst>
      <p:ext uri="{BB962C8B-B14F-4D97-AF65-F5344CB8AC3E}">
        <p14:creationId xmlns:p14="http://schemas.microsoft.com/office/powerpoint/2010/main" val="4054954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158C0C-CD14-4132-B698-9CCE7845355C}" type="datetimeFigureOut">
              <a:rPr lang="en-US" smtClean="0"/>
              <a:t>1/10/2020</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3D1BA2-E11B-4EAC-BC4E-3C1C6BAB5B52}" type="slidenum">
              <a:rPr lang="en-US" smtClean="0"/>
              <a:t>‹#›</a:t>
            </a:fld>
            <a:endParaRPr lang="en-US" dirty="0"/>
          </a:p>
        </p:txBody>
      </p:sp>
    </p:spTree>
    <p:extLst>
      <p:ext uri="{BB962C8B-B14F-4D97-AF65-F5344CB8AC3E}">
        <p14:creationId xmlns:p14="http://schemas.microsoft.com/office/powerpoint/2010/main" val="19335161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 y="442900"/>
            <a:ext cx="9144000" cy="6415100"/>
          </a:xfrm>
          <a:prstGeom prst="rect">
            <a:avLst/>
          </a:prstGeom>
        </p:spPr>
      </p:pic>
      <p:sp>
        <p:nvSpPr>
          <p:cNvPr id="2" name="Title 1"/>
          <p:cNvSpPr>
            <a:spLocks noGrp="1"/>
          </p:cNvSpPr>
          <p:nvPr>
            <p:ph type="ctrTitle"/>
          </p:nvPr>
        </p:nvSpPr>
        <p:spPr/>
        <p:txBody>
          <a:bodyPr/>
          <a:lstStyle/>
          <a:p>
            <a:r>
              <a:rPr lang="en-US" b="1" dirty="0"/>
              <a:t>Identifiers: Tracking Companies</a:t>
            </a:r>
          </a:p>
        </p:txBody>
      </p:sp>
    </p:spTree>
    <p:extLst>
      <p:ext uri="{BB962C8B-B14F-4D97-AF65-F5344CB8AC3E}">
        <p14:creationId xmlns:p14="http://schemas.microsoft.com/office/powerpoint/2010/main" val="2788116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6" name="Title 5"/>
          <p:cNvSpPr>
            <a:spLocks noGrp="1"/>
          </p:cNvSpPr>
          <p:nvPr>
            <p:ph type="title"/>
          </p:nvPr>
        </p:nvSpPr>
        <p:spPr>
          <a:xfrm>
            <a:off x="469624" y="0"/>
            <a:ext cx="7886700" cy="1325563"/>
          </a:xfrm>
        </p:spPr>
        <p:txBody>
          <a:bodyPr/>
          <a:lstStyle/>
          <a:p>
            <a:r>
              <a:rPr lang="en-US" b="1" dirty="0"/>
              <a:t>Learning Objectives</a:t>
            </a:r>
          </a:p>
        </p:txBody>
      </p:sp>
      <p:sp>
        <p:nvSpPr>
          <p:cNvPr id="3" name="Content Placeholder 2"/>
          <p:cNvSpPr>
            <a:spLocks noGrp="1"/>
          </p:cNvSpPr>
          <p:nvPr>
            <p:ph idx="1"/>
          </p:nvPr>
        </p:nvSpPr>
        <p:spPr>
          <a:xfrm>
            <a:off x="469624" y="1468444"/>
            <a:ext cx="7886700" cy="4351338"/>
          </a:xfrm>
        </p:spPr>
        <p:txBody>
          <a:bodyPr>
            <a:normAutofit/>
          </a:bodyPr>
          <a:lstStyle/>
          <a:p>
            <a:pPr marL="0" indent="0">
              <a:buNone/>
            </a:pPr>
            <a:r>
              <a:rPr lang="en-US" sz="3000" dirty="0"/>
              <a:t>After completing this assignment, students will:</a:t>
            </a:r>
            <a:br>
              <a:rPr lang="en-US" sz="3000" dirty="0"/>
            </a:br>
            <a:endParaRPr lang="en-US" sz="3000" dirty="0"/>
          </a:p>
          <a:p>
            <a:pPr lvl="1"/>
            <a:r>
              <a:rPr lang="en-US" sz="2600" dirty="0"/>
              <a:t>Learn how company identifiers are used in six different financial and accounting datasets</a:t>
            </a:r>
            <a:br>
              <a:rPr lang="en-US" sz="2600" dirty="0"/>
            </a:br>
            <a:endParaRPr lang="en-US" sz="2600" dirty="0"/>
          </a:p>
          <a:p>
            <a:pPr lvl="1"/>
            <a:r>
              <a:rPr lang="en-US" sz="2600" dirty="0"/>
              <a:t>Recognize which company identifiers can be relied upon to track a company over time, as compared to which identifiers may change over a company's history</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913491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274458"/>
            <a:ext cx="7886700" cy="1325563"/>
          </a:xfrm>
        </p:spPr>
        <p:txBody>
          <a:bodyPr>
            <a:normAutofit fontScale="90000"/>
          </a:bodyPr>
          <a:lstStyle/>
          <a:p>
            <a:r>
              <a:rPr lang="en-US" b="1" dirty="0"/>
              <a:t>Why Do Company Identifiers Change?</a:t>
            </a:r>
            <a:br>
              <a:rPr lang="en-US" b="1" dirty="0"/>
            </a:br>
            <a:endParaRPr lang="en-US" b="1" dirty="0"/>
          </a:p>
        </p:txBody>
      </p:sp>
      <p:sp>
        <p:nvSpPr>
          <p:cNvPr id="3" name="Content Placeholder 2"/>
          <p:cNvSpPr>
            <a:spLocks noGrp="1"/>
          </p:cNvSpPr>
          <p:nvPr>
            <p:ph idx="1"/>
          </p:nvPr>
        </p:nvSpPr>
        <p:spPr>
          <a:xfrm>
            <a:off x="323850" y="2961672"/>
            <a:ext cx="7886700" cy="3638509"/>
          </a:xfrm>
        </p:spPr>
        <p:txBody>
          <a:bodyPr numCol="2">
            <a:normAutofit/>
          </a:bodyPr>
          <a:lstStyle/>
          <a:p>
            <a:pPr lvl="2"/>
            <a:r>
              <a:rPr lang="en-US" sz="3000" dirty="0"/>
              <a:t>Company name changes</a:t>
            </a:r>
            <a:br>
              <a:rPr lang="en-US" sz="3000" dirty="0"/>
            </a:br>
            <a:endParaRPr lang="en-US" sz="3000" dirty="0"/>
          </a:p>
          <a:p>
            <a:pPr lvl="2"/>
            <a:r>
              <a:rPr lang="en-US" sz="3000" dirty="0"/>
              <a:t>Mergers</a:t>
            </a:r>
            <a:br>
              <a:rPr lang="en-US" sz="3000" dirty="0"/>
            </a:br>
            <a:endParaRPr lang="en-US" sz="3000" dirty="0"/>
          </a:p>
          <a:p>
            <a:pPr lvl="2"/>
            <a:r>
              <a:rPr lang="en-US" sz="3000" dirty="0"/>
              <a:t>Acquisitions</a:t>
            </a:r>
          </a:p>
          <a:p>
            <a:pPr marL="914400" lvl="2" indent="0">
              <a:buNone/>
            </a:pPr>
            <a:br>
              <a:rPr lang="en-US" sz="3000" dirty="0"/>
            </a:br>
            <a:endParaRPr lang="en-US" sz="3000" dirty="0"/>
          </a:p>
          <a:p>
            <a:pPr lvl="2"/>
            <a:r>
              <a:rPr lang="en-US" sz="3000" dirty="0"/>
              <a:t>Spin-offs</a:t>
            </a:r>
          </a:p>
          <a:p>
            <a:pPr lvl="2"/>
            <a:endParaRPr lang="en-US" sz="3000" dirty="0"/>
          </a:p>
          <a:p>
            <a:pPr lvl="2"/>
            <a:r>
              <a:rPr lang="en-US" sz="3000" dirty="0"/>
              <a:t>Bankruptcies </a:t>
            </a:r>
          </a:p>
          <a:p>
            <a:endParaRPr lang="en-US" sz="3000" dirty="0"/>
          </a:p>
          <a:p>
            <a:endParaRPr lang="en-US" sz="3600" dirty="0"/>
          </a:p>
          <a:p>
            <a:pPr marL="0" indent="0">
              <a:buNone/>
            </a:pPr>
            <a:endParaRPr lang="en-US" sz="3600" dirty="0"/>
          </a:p>
          <a:p>
            <a:endParaRPr lang="en-US" dirty="0"/>
          </a:p>
        </p:txBody>
      </p:sp>
      <p:sp>
        <p:nvSpPr>
          <p:cNvPr id="5" name="TextBox 4">
            <a:extLst>
              <a:ext uri="{FF2B5EF4-FFF2-40B4-BE49-F238E27FC236}">
                <a16:creationId xmlns:a16="http://schemas.microsoft.com/office/drawing/2014/main" id="{98972297-086B-424D-9289-590F503C7BB2}"/>
              </a:ext>
            </a:extLst>
          </p:cNvPr>
          <p:cNvSpPr txBox="1"/>
          <p:nvPr/>
        </p:nvSpPr>
        <p:spPr>
          <a:xfrm>
            <a:off x="804655" y="1446291"/>
            <a:ext cx="6925089" cy="954107"/>
          </a:xfrm>
          <a:prstGeom prst="rect">
            <a:avLst/>
          </a:prstGeom>
          <a:noFill/>
        </p:spPr>
        <p:txBody>
          <a:bodyPr wrap="square" rtlCol="0">
            <a:spAutoFit/>
          </a:bodyPr>
          <a:lstStyle/>
          <a:p>
            <a:r>
              <a:rPr lang="en-US" sz="2800" dirty="0"/>
              <a:t>There are several reasons company identifiers can change over time, including:</a:t>
            </a:r>
          </a:p>
        </p:txBody>
      </p:sp>
    </p:spTree>
    <p:extLst>
      <p:ext uri="{BB962C8B-B14F-4D97-AF65-F5344CB8AC3E}">
        <p14:creationId xmlns:p14="http://schemas.microsoft.com/office/powerpoint/2010/main" val="2100401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6" name="Title 5"/>
          <p:cNvSpPr>
            <a:spLocks noGrp="1"/>
          </p:cNvSpPr>
          <p:nvPr>
            <p:ph type="title"/>
          </p:nvPr>
        </p:nvSpPr>
        <p:spPr>
          <a:xfrm>
            <a:off x="469624" y="0"/>
            <a:ext cx="7886700" cy="1325563"/>
          </a:xfrm>
        </p:spPr>
        <p:txBody>
          <a:bodyPr/>
          <a:lstStyle/>
          <a:p>
            <a:r>
              <a:rPr lang="en-US" b="1" dirty="0"/>
              <a:t>Company Identifiers</a:t>
            </a:r>
          </a:p>
        </p:txBody>
      </p:sp>
      <p:sp>
        <p:nvSpPr>
          <p:cNvPr id="3" name="Content Placeholder 2"/>
          <p:cNvSpPr>
            <a:spLocks noGrp="1"/>
          </p:cNvSpPr>
          <p:nvPr>
            <p:ph idx="1"/>
          </p:nvPr>
        </p:nvSpPr>
        <p:spPr>
          <a:xfrm>
            <a:off x="469624" y="1468444"/>
            <a:ext cx="7886700" cy="4351338"/>
          </a:xfrm>
        </p:spPr>
        <p:txBody>
          <a:bodyPr>
            <a:normAutofit fontScale="92500" lnSpcReduction="10000"/>
          </a:bodyPr>
          <a:lstStyle/>
          <a:p>
            <a:r>
              <a:rPr lang="en-US" sz="3000" dirty="0"/>
              <a:t>In a set of data, an </a:t>
            </a:r>
            <a:r>
              <a:rPr lang="en-US" sz="3000" i="1" dirty="0"/>
              <a:t>identifier</a:t>
            </a:r>
            <a:r>
              <a:rPr lang="en-US" sz="3000" dirty="0"/>
              <a:t> is a label used to specify an object, such as a company. </a:t>
            </a:r>
          </a:p>
          <a:p>
            <a:endParaRPr lang="en-US" sz="3000" dirty="0"/>
          </a:p>
          <a:p>
            <a:r>
              <a:rPr lang="en-US" sz="3000" dirty="0"/>
              <a:t>When tracking companies through time, you should be aware of which company identifiers may change and which do not.</a:t>
            </a:r>
          </a:p>
          <a:p>
            <a:endParaRPr lang="en-US" sz="3000" dirty="0"/>
          </a:p>
          <a:p>
            <a:r>
              <a:rPr lang="en-US" sz="3000" dirty="0"/>
              <a:t>This is especially important if your research involves linking datasets.</a:t>
            </a:r>
            <a:br>
              <a:rPr lang="en-US" sz="3600" dirty="0"/>
            </a:br>
            <a:endParaRPr lang="en-US" sz="3600" dirty="0"/>
          </a:p>
          <a:p>
            <a:pPr marL="0" indent="0">
              <a:buNone/>
            </a:pPr>
            <a:endParaRPr lang="en-US" sz="3600" dirty="0"/>
          </a:p>
          <a:p>
            <a:endParaRPr lang="en-US" dirty="0"/>
          </a:p>
        </p:txBody>
      </p:sp>
    </p:spTree>
    <p:extLst>
      <p:ext uri="{BB962C8B-B14F-4D97-AF65-F5344CB8AC3E}">
        <p14:creationId xmlns:p14="http://schemas.microsoft.com/office/powerpoint/2010/main" val="482474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703443" y="215642"/>
            <a:ext cx="7886700" cy="1325563"/>
          </a:xfrm>
        </p:spPr>
        <p:txBody>
          <a:bodyPr/>
          <a:lstStyle/>
          <a:p>
            <a:r>
              <a:rPr lang="en-US" b="1" dirty="0"/>
              <a:t>Two Commonly Used Identifiers: CUSIP and CIK </a:t>
            </a:r>
          </a:p>
        </p:txBody>
      </p:sp>
      <p:sp>
        <p:nvSpPr>
          <p:cNvPr id="8" name="TextBox 7">
            <a:extLst>
              <a:ext uri="{FF2B5EF4-FFF2-40B4-BE49-F238E27FC236}">
                <a16:creationId xmlns:a16="http://schemas.microsoft.com/office/drawing/2014/main" id="{A6705AB7-EAE9-432D-99BF-F1EA9A133D3F}"/>
              </a:ext>
            </a:extLst>
          </p:cNvPr>
          <p:cNvSpPr txBox="1"/>
          <p:nvPr/>
        </p:nvSpPr>
        <p:spPr>
          <a:xfrm>
            <a:off x="553856" y="1772416"/>
            <a:ext cx="8036287" cy="4324261"/>
          </a:xfrm>
          <a:prstGeom prst="rect">
            <a:avLst/>
          </a:prstGeom>
          <a:noFill/>
        </p:spPr>
        <p:txBody>
          <a:bodyPr wrap="square" rtlCol="0">
            <a:spAutoFit/>
          </a:bodyPr>
          <a:lstStyle/>
          <a:p>
            <a:pPr marL="285750" indent="-285750">
              <a:buFont typeface="Arial" panose="020B0604020202020204" pitchFamily="34" charset="0"/>
              <a:buChar char="•"/>
            </a:pPr>
            <a:r>
              <a:rPr lang="en-US" sz="2500" dirty="0"/>
              <a:t>CUSIP and CIK are two “universal” identifiers that can be seen in use across several financial/accounting databases. </a:t>
            </a:r>
          </a:p>
          <a:p>
            <a:pPr marL="285750" indent="-285750">
              <a:buFont typeface="Arial" panose="020B0604020202020204" pitchFamily="34" charset="0"/>
              <a:buChar char="•"/>
            </a:pPr>
            <a:endParaRPr lang="en-US" sz="2500" dirty="0"/>
          </a:p>
          <a:p>
            <a:pPr marL="285750" indent="-285750">
              <a:buFont typeface="Arial" panose="020B0604020202020204" pitchFamily="34" charset="0"/>
              <a:buChar char="•"/>
            </a:pPr>
            <a:r>
              <a:rPr lang="en-US" sz="2500" dirty="0"/>
              <a:t>CUSIPs are assigned to publicly traded North American and Canadian securities by the Committee on Uniform Securities Identification Procedures.  </a:t>
            </a:r>
          </a:p>
          <a:p>
            <a:pPr marL="285750" indent="-285750">
              <a:buFont typeface="Arial" panose="020B0604020202020204" pitchFamily="34" charset="0"/>
              <a:buChar char="•"/>
            </a:pPr>
            <a:endParaRPr lang="en-US" sz="2500" dirty="0"/>
          </a:p>
          <a:p>
            <a:pPr marL="285750" indent="-285750">
              <a:buFont typeface="Arial" panose="020B0604020202020204" pitchFamily="34" charset="0"/>
              <a:buChar char="•"/>
            </a:pPr>
            <a:r>
              <a:rPr lang="en-US" sz="2500" dirty="0"/>
              <a:t>A CUSIP can evolve over time due to changes to the company name, operations, or traded issues.</a:t>
            </a:r>
          </a:p>
          <a:p>
            <a:pPr marL="285750" indent="-285750">
              <a:buFont typeface="Arial" panose="020B0604020202020204" pitchFamily="34" charset="0"/>
              <a:buChar char="•"/>
            </a:pPr>
            <a:endParaRPr lang="en-US" sz="2500" dirty="0"/>
          </a:p>
          <a:p>
            <a:r>
              <a:rPr lang="en-US" sz="2500" dirty="0"/>
              <a:t> </a:t>
            </a:r>
          </a:p>
        </p:txBody>
      </p:sp>
    </p:spTree>
    <p:extLst>
      <p:ext uri="{BB962C8B-B14F-4D97-AF65-F5344CB8AC3E}">
        <p14:creationId xmlns:p14="http://schemas.microsoft.com/office/powerpoint/2010/main" val="2655364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703443" y="215642"/>
            <a:ext cx="7886700" cy="1325563"/>
          </a:xfrm>
        </p:spPr>
        <p:txBody>
          <a:bodyPr/>
          <a:lstStyle/>
          <a:p>
            <a:r>
              <a:rPr lang="en-US" b="1" dirty="0"/>
              <a:t>Two Commonly Used Identifiers: CUSIP and CIK  (cont.)</a:t>
            </a:r>
          </a:p>
        </p:txBody>
      </p:sp>
      <p:sp>
        <p:nvSpPr>
          <p:cNvPr id="8" name="TextBox 7">
            <a:extLst>
              <a:ext uri="{FF2B5EF4-FFF2-40B4-BE49-F238E27FC236}">
                <a16:creationId xmlns:a16="http://schemas.microsoft.com/office/drawing/2014/main" id="{A6705AB7-EAE9-432D-99BF-F1EA9A133D3F}"/>
              </a:ext>
            </a:extLst>
          </p:cNvPr>
          <p:cNvSpPr txBox="1"/>
          <p:nvPr/>
        </p:nvSpPr>
        <p:spPr>
          <a:xfrm>
            <a:off x="553856" y="1772416"/>
            <a:ext cx="8298596"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CIK (Central Index Key) is assigned by the SEC to companies or individuals filing disclosures with the SEC.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A company may start reporting under a different CIK number after its legal status changes, or after   corporate restructuring, a spinoff, bankruptcy, or merger/acquisition.</a:t>
            </a:r>
          </a:p>
        </p:txBody>
      </p:sp>
    </p:spTree>
    <p:extLst>
      <p:ext uri="{BB962C8B-B14F-4D97-AF65-F5344CB8AC3E}">
        <p14:creationId xmlns:p14="http://schemas.microsoft.com/office/powerpoint/2010/main" val="3917633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6" name="Title 5"/>
          <p:cNvSpPr>
            <a:spLocks noGrp="1"/>
          </p:cNvSpPr>
          <p:nvPr>
            <p:ph type="title"/>
          </p:nvPr>
        </p:nvSpPr>
        <p:spPr>
          <a:xfrm>
            <a:off x="628650" y="0"/>
            <a:ext cx="7886700" cy="1325563"/>
          </a:xfrm>
        </p:spPr>
        <p:txBody>
          <a:bodyPr/>
          <a:lstStyle/>
          <a:p>
            <a:r>
              <a:rPr lang="en-US" b="1" dirty="0"/>
              <a:t>Six Finance/Accounting Datasets</a:t>
            </a:r>
          </a:p>
        </p:txBody>
      </p:sp>
      <p:sp>
        <p:nvSpPr>
          <p:cNvPr id="3" name="Content Placeholder 2"/>
          <p:cNvSpPr>
            <a:spLocks noGrp="1"/>
          </p:cNvSpPr>
          <p:nvPr>
            <p:ph idx="1"/>
          </p:nvPr>
        </p:nvSpPr>
        <p:spPr>
          <a:xfrm>
            <a:off x="628650" y="1151843"/>
            <a:ext cx="8250308" cy="1940407"/>
          </a:xfrm>
        </p:spPr>
        <p:txBody>
          <a:bodyPr>
            <a:normAutofit/>
          </a:bodyPr>
          <a:lstStyle/>
          <a:p>
            <a:pPr marL="0" indent="0">
              <a:buNone/>
            </a:pPr>
            <a:r>
              <a:rPr lang="en-US" sz="2600" dirty="0"/>
              <a:t>We will examine identifiers used to track companies in six commonly used finance/accounting datasets: </a:t>
            </a:r>
          </a:p>
          <a:p>
            <a:endParaRPr lang="en-US" sz="2600" dirty="0"/>
          </a:p>
          <a:p>
            <a:endParaRPr lang="en-US" dirty="0"/>
          </a:p>
          <a:p>
            <a:endParaRPr lang="en-US" dirty="0"/>
          </a:p>
        </p:txBody>
      </p:sp>
      <p:sp>
        <p:nvSpPr>
          <p:cNvPr id="2" name="TextBox 1">
            <a:extLst>
              <a:ext uri="{FF2B5EF4-FFF2-40B4-BE49-F238E27FC236}">
                <a16:creationId xmlns:a16="http://schemas.microsoft.com/office/drawing/2014/main" id="{8BBAA2E1-178D-4B04-BEF6-7F40F3E95285}"/>
              </a:ext>
            </a:extLst>
          </p:cNvPr>
          <p:cNvSpPr txBox="1"/>
          <p:nvPr/>
        </p:nvSpPr>
        <p:spPr>
          <a:xfrm>
            <a:off x="877543" y="2122046"/>
            <a:ext cx="7752521" cy="3554819"/>
          </a:xfrm>
          <a:prstGeom prst="rect">
            <a:avLst/>
          </a:prstGeom>
          <a:noFill/>
        </p:spPr>
        <p:txBody>
          <a:bodyPr wrap="square" numCol="2" spcCol="457200" rtlCol="0">
            <a:spAutoFit/>
          </a:bodyPr>
          <a:lstStyle/>
          <a:p>
            <a:pPr marL="342900" indent="-342900">
              <a:buFont typeface="+mj-lt"/>
              <a:buAutoNum type="arabicPeriod"/>
            </a:pPr>
            <a:r>
              <a:rPr lang="en-US" sz="2500" dirty="0"/>
              <a:t>CRSP - Center for Research in Security Prices</a:t>
            </a:r>
          </a:p>
          <a:p>
            <a:pPr marL="342900" indent="-342900">
              <a:buFont typeface="+mj-lt"/>
              <a:buAutoNum type="arabicPeriod"/>
            </a:pPr>
            <a:endParaRPr lang="en-US" sz="2500" dirty="0"/>
          </a:p>
          <a:p>
            <a:pPr marL="342900" indent="-342900">
              <a:buFont typeface="+mj-lt"/>
              <a:buAutoNum type="arabicPeriod"/>
            </a:pPr>
            <a:r>
              <a:rPr lang="en-US" sz="2500" dirty="0"/>
              <a:t>Compustat</a:t>
            </a:r>
          </a:p>
          <a:p>
            <a:pPr marL="342900" indent="-342900">
              <a:buFont typeface="+mj-lt"/>
              <a:buAutoNum type="arabicPeriod"/>
            </a:pPr>
            <a:endParaRPr lang="en-US" sz="2500" dirty="0"/>
          </a:p>
          <a:p>
            <a:pPr marL="342900" indent="-342900">
              <a:buFont typeface="+mj-lt"/>
              <a:buAutoNum type="arabicPeriod"/>
            </a:pPr>
            <a:r>
              <a:rPr lang="en-US" sz="2500" dirty="0"/>
              <a:t>IBES -  Institutional Brokers' Estimate System</a:t>
            </a:r>
          </a:p>
          <a:p>
            <a:pPr marL="342900" indent="-342900">
              <a:buFont typeface="+mj-lt"/>
              <a:buAutoNum type="arabicPeriod"/>
            </a:pPr>
            <a:r>
              <a:rPr lang="en-US" sz="2500" dirty="0"/>
              <a:t>TAQ - Trade and Quote </a:t>
            </a:r>
          </a:p>
          <a:p>
            <a:pPr marL="342900" indent="-342900">
              <a:buFont typeface="+mj-lt"/>
              <a:buAutoNum type="arabicPeriod"/>
            </a:pPr>
            <a:endParaRPr lang="en-US" sz="2500" dirty="0"/>
          </a:p>
          <a:p>
            <a:pPr marL="342900" indent="-342900">
              <a:buFont typeface="+mj-lt"/>
              <a:buAutoNum type="arabicPeriod"/>
            </a:pPr>
            <a:r>
              <a:rPr lang="en-US" sz="2500" dirty="0"/>
              <a:t>OptionMetics</a:t>
            </a:r>
          </a:p>
          <a:p>
            <a:pPr marL="342900" indent="-342900">
              <a:buFont typeface="+mj-lt"/>
              <a:buAutoNum type="arabicPeriod"/>
            </a:pPr>
            <a:endParaRPr lang="en-US" sz="2500" dirty="0"/>
          </a:p>
          <a:p>
            <a:pPr marL="342900" indent="-342900">
              <a:buFont typeface="+mj-lt"/>
              <a:buAutoNum type="arabicPeriod"/>
            </a:pPr>
            <a:r>
              <a:rPr lang="en-US" sz="2500" dirty="0"/>
              <a:t>AuditAnalytics</a:t>
            </a:r>
          </a:p>
          <a:p>
            <a:endParaRPr lang="en-US" dirty="0"/>
          </a:p>
        </p:txBody>
      </p:sp>
    </p:spTree>
    <p:extLst>
      <p:ext uri="{BB962C8B-B14F-4D97-AF65-F5344CB8AC3E}">
        <p14:creationId xmlns:p14="http://schemas.microsoft.com/office/powerpoint/2010/main" val="1693889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24141" y="-74575"/>
            <a:ext cx="7886700" cy="1325563"/>
          </a:xfrm>
        </p:spPr>
        <p:txBody>
          <a:bodyPr/>
          <a:lstStyle/>
          <a:p>
            <a:r>
              <a:rPr lang="en-US" b="1" dirty="0"/>
              <a:t>Tracking Companies in CRSP</a:t>
            </a:r>
          </a:p>
        </p:txBody>
      </p:sp>
      <p:pic>
        <p:nvPicPr>
          <p:cNvPr id="6" name="Picture 5">
            <a:extLst>
              <a:ext uri="{FF2B5EF4-FFF2-40B4-BE49-F238E27FC236}">
                <a16:creationId xmlns:a16="http://schemas.microsoft.com/office/drawing/2014/main" id="{5DC64147-D8DB-40E1-B7A9-F23F1FB7B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339" y="1067922"/>
            <a:ext cx="4426721" cy="3753286"/>
          </a:xfrm>
          <a:prstGeom prst="rect">
            <a:avLst/>
          </a:prstGeom>
        </p:spPr>
      </p:pic>
      <p:sp>
        <p:nvSpPr>
          <p:cNvPr id="8" name="TextBox 7">
            <a:extLst>
              <a:ext uri="{FF2B5EF4-FFF2-40B4-BE49-F238E27FC236}">
                <a16:creationId xmlns:a16="http://schemas.microsoft.com/office/drawing/2014/main" id="{A6705AB7-EAE9-432D-99BF-F1EA9A133D3F}"/>
              </a:ext>
            </a:extLst>
          </p:cNvPr>
          <p:cNvSpPr txBox="1"/>
          <p:nvPr/>
        </p:nvSpPr>
        <p:spPr>
          <a:xfrm>
            <a:off x="424141" y="4961839"/>
            <a:ext cx="8266790" cy="1246495"/>
          </a:xfrm>
          <a:prstGeom prst="rect">
            <a:avLst/>
          </a:prstGeom>
          <a:noFill/>
        </p:spPr>
        <p:txBody>
          <a:bodyPr wrap="square" rtlCol="0">
            <a:spAutoFit/>
          </a:bodyPr>
          <a:lstStyle/>
          <a:p>
            <a:pPr marL="285750" indent="-285750">
              <a:buFont typeface="Arial" panose="020B0604020202020204" pitchFamily="34" charset="0"/>
              <a:buChar char="•"/>
            </a:pPr>
            <a:r>
              <a:rPr lang="en-US" sz="2500" dirty="0"/>
              <a:t>In CRSP, the PERMNO, PERMCO, and CUSIP are valuable identifiers you can use to track companies.</a:t>
            </a:r>
          </a:p>
          <a:p>
            <a:pPr marL="285750" indent="-285750">
              <a:buFont typeface="Arial" panose="020B0604020202020204" pitchFamily="34" charset="0"/>
              <a:buChar char="•"/>
            </a:pPr>
            <a:endParaRPr lang="en-US" sz="2500" dirty="0"/>
          </a:p>
        </p:txBody>
      </p:sp>
    </p:spTree>
    <p:extLst>
      <p:ext uri="{BB962C8B-B14F-4D97-AF65-F5344CB8AC3E}">
        <p14:creationId xmlns:p14="http://schemas.microsoft.com/office/powerpoint/2010/main" val="312034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lstStyle/>
          <a:p>
            <a:r>
              <a:rPr lang="en-US" b="1" dirty="0"/>
              <a:t>Tracking Companies in CRSP: PERMCO and PERMNO</a:t>
            </a:r>
          </a:p>
        </p:txBody>
      </p:sp>
      <p:sp>
        <p:nvSpPr>
          <p:cNvPr id="5" name="TextBox 4">
            <a:extLst>
              <a:ext uri="{FF2B5EF4-FFF2-40B4-BE49-F238E27FC236}">
                <a16:creationId xmlns:a16="http://schemas.microsoft.com/office/drawing/2014/main" id="{06828648-B664-4256-A8A3-750AB9AAE93C}"/>
              </a:ext>
            </a:extLst>
          </p:cNvPr>
          <p:cNvSpPr txBox="1"/>
          <p:nvPr/>
        </p:nvSpPr>
        <p:spPr>
          <a:xfrm>
            <a:off x="628650" y="2089841"/>
            <a:ext cx="8044070"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PERMCO - unique permanent company identification number assigned by CRSP. </a:t>
            </a:r>
            <a:br>
              <a:rPr lang="en-US" sz="2800" dirty="0"/>
            </a:br>
            <a:endParaRPr lang="en-US" sz="2800" dirty="0"/>
          </a:p>
          <a:p>
            <a:pPr marL="457200" indent="-457200">
              <a:buFont typeface="Arial" panose="020B0604020202020204" pitchFamily="34" charset="0"/>
              <a:buChar char="•"/>
            </a:pPr>
            <a:r>
              <a:rPr lang="en-US" sz="2800" dirty="0"/>
              <a:t>The PERMCO stays the same even if the company name changes.  </a:t>
            </a:r>
          </a:p>
          <a:p>
            <a:pPr marL="457200" indent="-457200">
              <a:buFont typeface="Arial" panose="020B0604020202020204" pitchFamily="34" charset="0"/>
              <a:buChar char="•"/>
            </a:pPr>
            <a:endParaRPr lang="en-US" sz="2800" dirty="0"/>
          </a:p>
          <a:p>
            <a:endParaRPr lang="en-US" sz="2800" dirty="0"/>
          </a:p>
        </p:txBody>
      </p:sp>
    </p:spTree>
    <p:extLst>
      <p:ext uri="{BB962C8B-B14F-4D97-AF65-F5344CB8AC3E}">
        <p14:creationId xmlns:p14="http://schemas.microsoft.com/office/powerpoint/2010/main" val="1403637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42900"/>
            <a:ext cx="9144000" cy="6415100"/>
          </a:xfrm>
          <a:prstGeom prst="rect">
            <a:avLst/>
          </a:prstGeom>
        </p:spPr>
      </p:pic>
      <p:sp>
        <p:nvSpPr>
          <p:cNvPr id="2" name="Title 1"/>
          <p:cNvSpPr>
            <a:spLocks noGrp="1"/>
          </p:cNvSpPr>
          <p:nvPr>
            <p:ph type="title"/>
          </p:nvPr>
        </p:nvSpPr>
        <p:spPr>
          <a:xfrm>
            <a:off x="628649" y="117947"/>
            <a:ext cx="7886700" cy="1325563"/>
          </a:xfrm>
        </p:spPr>
        <p:txBody>
          <a:bodyPr/>
          <a:lstStyle/>
          <a:p>
            <a:r>
              <a:rPr lang="en-US" b="1" dirty="0"/>
              <a:t>Tracking Companies in CRSP: PERMCO and PERMNO (cont.)</a:t>
            </a:r>
          </a:p>
        </p:txBody>
      </p:sp>
      <p:sp>
        <p:nvSpPr>
          <p:cNvPr id="5" name="TextBox 4">
            <a:extLst>
              <a:ext uri="{FF2B5EF4-FFF2-40B4-BE49-F238E27FC236}">
                <a16:creationId xmlns:a16="http://schemas.microsoft.com/office/drawing/2014/main" id="{06828648-B664-4256-A8A3-750AB9AAE93C}"/>
              </a:ext>
            </a:extLst>
          </p:cNvPr>
          <p:cNvSpPr txBox="1"/>
          <p:nvPr/>
        </p:nvSpPr>
        <p:spPr>
          <a:xfrm>
            <a:off x="265043" y="1762126"/>
            <a:ext cx="8878957" cy="3831818"/>
          </a:xfrm>
          <a:prstGeom prst="rect">
            <a:avLst/>
          </a:prstGeom>
          <a:noFill/>
        </p:spPr>
        <p:txBody>
          <a:bodyPr wrap="square" rtlCol="0">
            <a:spAutoFit/>
          </a:bodyPr>
          <a:lstStyle/>
          <a:p>
            <a:pPr marL="457200" indent="-457200">
              <a:buFont typeface="Arial" panose="020B0604020202020204" pitchFamily="34" charset="0"/>
              <a:buChar char="•"/>
            </a:pPr>
            <a:r>
              <a:rPr lang="en-US" sz="2700" dirty="0"/>
              <a:t>PERMNO - unique permanent security identification number assigned by CRSP to each security. </a:t>
            </a:r>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r>
              <a:rPr lang="en-US" sz="2700" dirty="0"/>
              <a:t>As opposed to the ticker and the CUSIP, the PERMNO does not change during an issue’s trading history, nor is it reassigned when an issue stops trading.</a:t>
            </a:r>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r>
              <a:rPr lang="en-US" sz="2700" dirty="0"/>
              <a:t>Note, the PERMNO is an identifier for a specific </a:t>
            </a:r>
            <a:r>
              <a:rPr lang="en-US" sz="2700" i="1" dirty="0"/>
              <a:t>security </a:t>
            </a:r>
            <a:r>
              <a:rPr lang="en-US" sz="2700" dirty="0"/>
              <a:t>issued by a company, not the company itself. </a:t>
            </a:r>
          </a:p>
        </p:txBody>
      </p:sp>
    </p:spTree>
    <p:extLst>
      <p:ext uri="{BB962C8B-B14F-4D97-AF65-F5344CB8AC3E}">
        <p14:creationId xmlns:p14="http://schemas.microsoft.com/office/powerpoint/2010/main" val="3917792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Company Changes in CRSP (cont.)</a:t>
            </a:r>
          </a:p>
        </p:txBody>
      </p:sp>
      <p:sp>
        <p:nvSpPr>
          <p:cNvPr id="3" name="Content Placeholder 2"/>
          <p:cNvSpPr>
            <a:spLocks noGrp="1"/>
          </p:cNvSpPr>
          <p:nvPr>
            <p:ph idx="1"/>
          </p:nvPr>
        </p:nvSpPr>
        <p:spPr>
          <a:xfrm>
            <a:off x="628650" y="1253331"/>
            <a:ext cx="7886700" cy="4351338"/>
          </a:xfrm>
        </p:spPr>
        <p:txBody>
          <a:bodyPr>
            <a:normAutofit/>
          </a:bodyPr>
          <a:lstStyle/>
          <a:p>
            <a:endParaRPr lang="en-US" dirty="0"/>
          </a:p>
          <a:p>
            <a:endParaRPr lang="en-US" dirty="0"/>
          </a:p>
          <a:p>
            <a:endParaRPr lang="en-US" dirty="0"/>
          </a:p>
        </p:txBody>
      </p:sp>
      <p:sp>
        <p:nvSpPr>
          <p:cNvPr id="5" name="TextBox 4">
            <a:extLst>
              <a:ext uri="{FF2B5EF4-FFF2-40B4-BE49-F238E27FC236}">
                <a16:creationId xmlns:a16="http://schemas.microsoft.com/office/drawing/2014/main" id="{E70852CD-FD98-4CC1-A45C-BCE752C8890C}"/>
              </a:ext>
            </a:extLst>
          </p:cNvPr>
          <p:cNvSpPr txBox="1"/>
          <p:nvPr/>
        </p:nvSpPr>
        <p:spPr>
          <a:xfrm>
            <a:off x="357809" y="1075920"/>
            <a:ext cx="8428382"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t>In CRSP, when using the PERMNO identifier, you will be able to see the complete history of changes over time.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When one company acquires another, the surviving company keeps its PERMNO, PERMCO, and CUSIP.   Other identifiers may change.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Although the acquired company becomes inactive, its historical data remains in the CRSP database. Its old PERMNO remains visible, while its new PERMNO appears in the New PERMNO column.</a:t>
            </a:r>
          </a:p>
        </p:txBody>
      </p:sp>
    </p:spTree>
    <p:extLst>
      <p:ext uri="{BB962C8B-B14F-4D97-AF65-F5344CB8AC3E}">
        <p14:creationId xmlns:p14="http://schemas.microsoft.com/office/powerpoint/2010/main" val="3894222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9267"/>
            <a:ext cx="7886700" cy="1325563"/>
          </a:xfrm>
        </p:spPr>
        <p:txBody>
          <a:bodyPr/>
          <a:lstStyle/>
          <a:p>
            <a:r>
              <a:rPr lang="en-US" b="1" dirty="0"/>
              <a:t>Company Changes in CRSP (cont.)</a:t>
            </a:r>
          </a:p>
        </p:txBody>
      </p:sp>
      <p:pic>
        <p:nvPicPr>
          <p:cNvPr id="5" name="Picture 4"/>
          <p:cNvPicPr>
            <a:picLocks noChangeAspect="1"/>
          </p:cNvPicPr>
          <p:nvPr/>
        </p:nvPicPr>
        <p:blipFill>
          <a:blip r:embed="rId3"/>
          <a:stretch>
            <a:fillRect/>
          </a:stretch>
        </p:blipFill>
        <p:spPr>
          <a:xfrm>
            <a:off x="85552" y="1032514"/>
            <a:ext cx="8966528" cy="1238914"/>
          </a:xfrm>
          <a:prstGeom prst="rect">
            <a:avLst/>
          </a:prstGeom>
        </p:spPr>
      </p:pic>
      <p:sp>
        <p:nvSpPr>
          <p:cNvPr id="6" name="TextBox 5"/>
          <p:cNvSpPr txBox="1"/>
          <p:nvPr/>
        </p:nvSpPr>
        <p:spPr>
          <a:xfrm>
            <a:off x="225180" y="2343153"/>
            <a:ext cx="8687272" cy="3831818"/>
          </a:xfrm>
          <a:prstGeom prst="rect">
            <a:avLst/>
          </a:prstGeom>
          <a:noFill/>
        </p:spPr>
        <p:txBody>
          <a:bodyPr wrap="square" rtlCol="0">
            <a:spAutoFit/>
          </a:bodyPr>
          <a:lstStyle/>
          <a:p>
            <a:pPr marL="457200" indent="-457200">
              <a:buFont typeface="Arial" panose="020B0604020202020204" pitchFamily="34" charset="0"/>
              <a:buChar char="•"/>
            </a:pPr>
            <a:r>
              <a:rPr lang="en-US" sz="2600" dirty="0"/>
              <a:t>In March 2005, Kmart Holdings Corp. merged with Sears Roebuck &amp; Co.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Kmart changed its name to Sears Holdings Corp., and ticker symbol to SHLD. </a:t>
            </a:r>
            <a:br>
              <a:rPr lang="en-US" sz="2600" dirty="0"/>
            </a:br>
            <a:endParaRPr lang="en-US" sz="2600" dirty="0"/>
          </a:p>
          <a:p>
            <a:pPr marL="457200" indent="-457200">
              <a:buFont typeface="Arial" panose="020B0604020202020204" pitchFamily="34" charset="0"/>
              <a:buChar char="•"/>
            </a:pPr>
            <a:r>
              <a:rPr lang="en-US" sz="2600" dirty="0"/>
              <a:t>Sears Roebuck &amp; Co. was delisted after March 31</a:t>
            </a:r>
            <a:r>
              <a:rPr lang="en-US" sz="2600" baseline="30000" dirty="0"/>
              <a:t>st</a:t>
            </a:r>
            <a:r>
              <a:rPr lang="en-US" sz="2600" dirty="0"/>
              <a:t> 2005, and the New PERMNO column contains its new PERMNO, that of the acquiring company.</a:t>
            </a:r>
          </a:p>
        </p:txBody>
      </p:sp>
      <p:sp>
        <p:nvSpPr>
          <p:cNvPr id="12" name="Rectangle 11">
            <a:extLst>
              <a:ext uri="{FF2B5EF4-FFF2-40B4-BE49-F238E27FC236}">
                <a16:creationId xmlns:a16="http://schemas.microsoft.com/office/drawing/2014/main" id="{032238B5-526C-4DDF-B735-1ECF4E1501A6}"/>
              </a:ext>
            </a:extLst>
          </p:cNvPr>
          <p:cNvSpPr/>
          <p:nvPr/>
        </p:nvSpPr>
        <p:spPr>
          <a:xfrm>
            <a:off x="85552" y="1480643"/>
            <a:ext cx="8966528" cy="171328"/>
          </a:xfrm>
          <a:prstGeom prst="rect">
            <a:avLst/>
          </a:prstGeom>
          <a:solidFill>
            <a:srgbClr val="FFFF0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75624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384313" y="-115662"/>
            <a:ext cx="8312088" cy="1325563"/>
          </a:xfrm>
        </p:spPr>
        <p:txBody>
          <a:bodyPr/>
          <a:lstStyle/>
          <a:p>
            <a:r>
              <a:rPr lang="en-US" b="1" dirty="0"/>
              <a:t>Tracking Companies in Compustat</a:t>
            </a:r>
          </a:p>
        </p:txBody>
      </p:sp>
      <p:sp>
        <p:nvSpPr>
          <p:cNvPr id="8" name="TextBox 7">
            <a:extLst>
              <a:ext uri="{FF2B5EF4-FFF2-40B4-BE49-F238E27FC236}">
                <a16:creationId xmlns:a16="http://schemas.microsoft.com/office/drawing/2014/main" id="{A6705AB7-EAE9-432D-99BF-F1EA9A133D3F}"/>
              </a:ext>
            </a:extLst>
          </p:cNvPr>
          <p:cNvSpPr txBox="1"/>
          <p:nvPr/>
        </p:nvSpPr>
        <p:spPr>
          <a:xfrm>
            <a:off x="278297" y="1072219"/>
            <a:ext cx="4342420" cy="6955750"/>
          </a:xfrm>
          <a:prstGeom prst="rect">
            <a:avLst/>
          </a:prstGeom>
          <a:noFill/>
        </p:spPr>
        <p:txBody>
          <a:bodyPr wrap="square" rtlCol="0">
            <a:spAutoFit/>
          </a:bodyPr>
          <a:lstStyle/>
          <a:p>
            <a:pPr marL="285750" indent="-285750">
              <a:buFont typeface="Arial" panose="020B0604020202020204" pitchFamily="34" charset="0"/>
              <a:buChar char="•"/>
            </a:pPr>
            <a:r>
              <a:rPr lang="en-US" sz="2600" dirty="0"/>
              <a:t>In Compustat, the Global Company Key (GVKEY), CIK, and CUSIP are valuable identifiers you can use to track companies.</a:t>
            </a:r>
            <a:br>
              <a:rPr lang="en-US" sz="2600" dirty="0"/>
            </a:br>
            <a:endParaRPr lang="en-US" sz="2600" dirty="0"/>
          </a:p>
          <a:p>
            <a:pPr marL="285750" indent="-285750">
              <a:buFont typeface="Arial" panose="020B0604020202020204" pitchFamily="34" charset="0"/>
              <a:buChar char="•"/>
            </a:pPr>
            <a:r>
              <a:rPr lang="en-US" sz="2600" dirty="0"/>
              <a:t>The GVKEY is a unique identifier assigned to each company (as well as issue, currency, and index) in the Capital IQ Compustat database.</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500" dirty="0"/>
          </a:p>
          <a:p>
            <a:pPr marL="285750" indent="-285750">
              <a:buFont typeface="Arial" panose="020B0604020202020204" pitchFamily="34" charset="0"/>
              <a:buChar char="•"/>
            </a:pPr>
            <a:endParaRPr lang="en-US" sz="2500" dirty="0"/>
          </a:p>
        </p:txBody>
      </p:sp>
      <p:pic>
        <p:nvPicPr>
          <p:cNvPr id="5" name="Picture 4">
            <a:extLst>
              <a:ext uri="{FF2B5EF4-FFF2-40B4-BE49-F238E27FC236}">
                <a16:creationId xmlns:a16="http://schemas.microsoft.com/office/drawing/2014/main" id="{2F33D4DF-75AB-4642-8691-8F200F155B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4157" y="1258172"/>
            <a:ext cx="4236403" cy="4341656"/>
          </a:xfrm>
          <a:prstGeom prst="rect">
            <a:avLst/>
          </a:prstGeom>
        </p:spPr>
      </p:pic>
    </p:spTree>
    <p:extLst>
      <p:ext uri="{BB962C8B-B14F-4D97-AF65-F5344CB8AC3E}">
        <p14:creationId xmlns:p14="http://schemas.microsoft.com/office/powerpoint/2010/main" val="4253005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lstStyle/>
          <a:p>
            <a:r>
              <a:rPr lang="en-US" b="1" dirty="0"/>
              <a:t>Tracking Companies in Compustat (cont.)</a:t>
            </a:r>
          </a:p>
        </p:txBody>
      </p:sp>
      <p:sp>
        <p:nvSpPr>
          <p:cNvPr id="3" name="Content Placeholder 2"/>
          <p:cNvSpPr>
            <a:spLocks noGrp="1"/>
          </p:cNvSpPr>
          <p:nvPr>
            <p:ph idx="1"/>
          </p:nvPr>
        </p:nvSpPr>
        <p:spPr>
          <a:xfrm>
            <a:off x="777323" y="3412572"/>
            <a:ext cx="7886700" cy="4351338"/>
          </a:xfrm>
        </p:spPr>
        <p:txBody>
          <a:bodyPr>
            <a:normAutofit/>
          </a:bodyPr>
          <a:lstStyle/>
          <a:p>
            <a:pPr marL="0" indent="0">
              <a:buNone/>
            </a:pPr>
            <a:r>
              <a:rPr lang="en-US" dirty="0"/>
              <a:t>.</a:t>
            </a:r>
          </a:p>
          <a:p>
            <a:r>
              <a:rPr lang="en-US" dirty="0"/>
              <a:t>Note, Compustat only keeps the most current state of the data. Historical records are not fully listed, making it difficult to recreate exactly what occurred over time.</a:t>
            </a:r>
          </a:p>
          <a:p>
            <a:pPr marL="0" indent="0">
              <a:buNone/>
            </a:pPr>
            <a:endParaRPr lang="en-US" dirty="0"/>
          </a:p>
        </p:txBody>
      </p:sp>
      <p:sp>
        <p:nvSpPr>
          <p:cNvPr id="5" name="TextBox 4">
            <a:extLst>
              <a:ext uri="{FF2B5EF4-FFF2-40B4-BE49-F238E27FC236}">
                <a16:creationId xmlns:a16="http://schemas.microsoft.com/office/drawing/2014/main" id="{38C674B0-5652-43B9-B4F9-4A8B80AEAF40}"/>
              </a:ext>
            </a:extLst>
          </p:cNvPr>
          <p:cNvSpPr txBox="1"/>
          <p:nvPr/>
        </p:nvSpPr>
        <p:spPr>
          <a:xfrm>
            <a:off x="4516093" y="1582340"/>
            <a:ext cx="4147930" cy="1969770"/>
          </a:xfrm>
          <a:prstGeom prst="rect">
            <a:avLst/>
          </a:prstGeom>
          <a:noFill/>
        </p:spPr>
        <p:txBody>
          <a:bodyPr wrap="square" rtlCol="0">
            <a:spAutoFit/>
          </a:bodyPr>
          <a:lstStyle/>
          <a:p>
            <a:r>
              <a:rPr lang="en-US" sz="2600" dirty="0"/>
              <a:t>All three of these remain the same for the </a:t>
            </a:r>
            <a:r>
              <a:rPr lang="en-US" sz="2600" i="1" dirty="0"/>
              <a:t>acquiring </a:t>
            </a:r>
            <a:r>
              <a:rPr lang="en-US" sz="2600" dirty="0"/>
              <a:t>company after a merger/acquisition.</a:t>
            </a:r>
          </a:p>
          <a:p>
            <a:endParaRPr lang="en-US" dirty="0"/>
          </a:p>
        </p:txBody>
      </p:sp>
      <p:sp>
        <p:nvSpPr>
          <p:cNvPr id="7" name="TextBox 6">
            <a:extLst>
              <a:ext uri="{FF2B5EF4-FFF2-40B4-BE49-F238E27FC236}">
                <a16:creationId xmlns:a16="http://schemas.microsoft.com/office/drawing/2014/main" id="{9CC73DE8-9281-4D97-B9F2-1DFD95AC3F7D}"/>
              </a:ext>
            </a:extLst>
          </p:cNvPr>
          <p:cNvSpPr txBox="1"/>
          <p:nvPr/>
        </p:nvSpPr>
        <p:spPr>
          <a:xfrm>
            <a:off x="1577008" y="1643896"/>
            <a:ext cx="2663687" cy="1846659"/>
          </a:xfrm>
          <a:prstGeom prst="rect">
            <a:avLst/>
          </a:prstGeom>
          <a:noFill/>
        </p:spPr>
        <p:txBody>
          <a:bodyPr wrap="square" rtlCol="0">
            <a:spAutoFit/>
          </a:bodyPr>
          <a:lstStyle/>
          <a:p>
            <a:pPr algn="ctr"/>
            <a:r>
              <a:rPr lang="en-US" sz="3200" b="1" dirty="0"/>
              <a:t>GVKEY</a:t>
            </a:r>
          </a:p>
          <a:p>
            <a:pPr algn="ctr"/>
            <a:r>
              <a:rPr lang="en-US" sz="3200" b="1" dirty="0"/>
              <a:t>CIK</a:t>
            </a:r>
          </a:p>
          <a:p>
            <a:pPr algn="ctr"/>
            <a:r>
              <a:rPr lang="en-US" sz="3200" b="1" dirty="0"/>
              <a:t>CUSIP</a:t>
            </a:r>
          </a:p>
          <a:p>
            <a:endParaRPr lang="en-US" dirty="0"/>
          </a:p>
        </p:txBody>
      </p:sp>
      <p:sp>
        <p:nvSpPr>
          <p:cNvPr id="8" name="Right Brace 7">
            <a:extLst>
              <a:ext uri="{FF2B5EF4-FFF2-40B4-BE49-F238E27FC236}">
                <a16:creationId xmlns:a16="http://schemas.microsoft.com/office/drawing/2014/main" id="{21CAC7DC-002D-4244-8F42-8FD22426C193}"/>
              </a:ext>
            </a:extLst>
          </p:cNvPr>
          <p:cNvSpPr/>
          <p:nvPr/>
        </p:nvSpPr>
        <p:spPr>
          <a:xfrm>
            <a:off x="3750365" y="1690689"/>
            <a:ext cx="285750" cy="1619179"/>
          </a:xfrm>
          <a:prstGeom prst="rightBrace">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794048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96976" y="142567"/>
            <a:ext cx="8111140" cy="1325563"/>
          </a:xfrm>
        </p:spPr>
        <p:txBody>
          <a:bodyPr/>
          <a:lstStyle/>
          <a:p>
            <a:r>
              <a:rPr lang="en-US" b="1" dirty="0"/>
              <a:t>Tracking Companies in Compustat (cont.)</a:t>
            </a:r>
          </a:p>
        </p:txBody>
      </p:sp>
      <p:pic>
        <p:nvPicPr>
          <p:cNvPr id="6" name="Picture 5"/>
          <p:cNvPicPr>
            <a:picLocks noChangeAspect="1"/>
          </p:cNvPicPr>
          <p:nvPr/>
        </p:nvPicPr>
        <p:blipFill>
          <a:blip r:embed="rId3"/>
          <a:stretch>
            <a:fillRect/>
          </a:stretch>
        </p:blipFill>
        <p:spPr>
          <a:xfrm>
            <a:off x="199063" y="1622985"/>
            <a:ext cx="8865175" cy="1014198"/>
          </a:xfrm>
          <a:prstGeom prst="rect">
            <a:avLst/>
          </a:prstGeom>
        </p:spPr>
      </p:pic>
      <p:sp>
        <p:nvSpPr>
          <p:cNvPr id="7" name="TextBox 6"/>
          <p:cNvSpPr txBox="1"/>
          <p:nvPr/>
        </p:nvSpPr>
        <p:spPr>
          <a:xfrm>
            <a:off x="496976" y="2792038"/>
            <a:ext cx="8528602" cy="4154984"/>
          </a:xfrm>
          <a:prstGeom prst="rect">
            <a:avLst/>
          </a:prstGeom>
          <a:noFill/>
        </p:spPr>
        <p:txBody>
          <a:bodyPr wrap="square" rtlCol="0">
            <a:spAutoFit/>
          </a:bodyPr>
          <a:lstStyle/>
          <a:p>
            <a:pPr marL="457200" indent="-457200">
              <a:buFont typeface="Arial" panose="020B0604020202020204" pitchFamily="34" charset="0"/>
              <a:buChar char="•"/>
            </a:pPr>
            <a:r>
              <a:rPr lang="en-US" sz="2800" dirty="0"/>
              <a:t>Recall, in March 2005, Kmart finalized its merger with Sears Roebuck &amp; Co., creating Sears Holdings Corp. </a:t>
            </a:r>
            <a:br>
              <a:rPr lang="en-US" sz="2800" dirty="0"/>
            </a:br>
            <a:endParaRPr lang="en-US" sz="2800" dirty="0"/>
          </a:p>
          <a:p>
            <a:pPr marL="457200" indent="-457200">
              <a:buFont typeface="Arial" panose="020B0604020202020204" pitchFamily="34" charset="0"/>
              <a:buChar char="•"/>
            </a:pPr>
            <a:r>
              <a:rPr lang="en-US" sz="2800" dirty="0"/>
              <a:t>Running the Compustat query after the merger, we see that Sears Roebuck &amp; Co. is now indicated as inactive. All of its historical records will also show this inactive status. </a:t>
            </a:r>
          </a:p>
          <a:p>
            <a:pPr marL="285750" indent="-285750">
              <a:buFont typeface="Arial" panose="020B0604020202020204" pitchFamily="34" charset="0"/>
              <a:buChar char="•"/>
            </a:pPr>
            <a:endParaRPr lang="en-US" sz="2500" dirty="0"/>
          </a:p>
          <a:p>
            <a:pPr marL="285750" indent="-285750">
              <a:buFont typeface="Arial" panose="020B0604020202020204" pitchFamily="34" charset="0"/>
              <a:buChar char="•"/>
            </a:pPr>
            <a:endParaRPr lang="en-US" sz="2500" dirty="0"/>
          </a:p>
          <a:p>
            <a:endParaRPr lang="en-US" dirty="0"/>
          </a:p>
        </p:txBody>
      </p:sp>
      <p:sp>
        <p:nvSpPr>
          <p:cNvPr id="3" name="TextBox 2">
            <a:extLst>
              <a:ext uri="{FF2B5EF4-FFF2-40B4-BE49-F238E27FC236}">
                <a16:creationId xmlns:a16="http://schemas.microsoft.com/office/drawing/2014/main" id="{95F2E046-E788-4090-BBB8-EDAE09E4AF99}"/>
              </a:ext>
            </a:extLst>
          </p:cNvPr>
          <p:cNvSpPr txBox="1"/>
          <p:nvPr/>
        </p:nvSpPr>
        <p:spPr>
          <a:xfrm>
            <a:off x="3763617" y="2389758"/>
            <a:ext cx="1611815" cy="258457"/>
          </a:xfrm>
          <a:prstGeom prst="rect">
            <a:avLst/>
          </a:prstGeom>
          <a:solidFill>
            <a:srgbClr val="FFFF00">
              <a:alpha val="27843"/>
            </a:srgbClr>
          </a:solidFill>
        </p:spPr>
        <p:txBody>
          <a:bodyPr wrap="square" rtlCol="0">
            <a:spAutoFit/>
          </a:bodyPr>
          <a:lstStyle/>
          <a:p>
            <a:endParaRPr lang="en-US" dirty="0"/>
          </a:p>
        </p:txBody>
      </p:sp>
    </p:spTree>
    <p:extLst>
      <p:ext uri="{BB962C8B-B14F-4D97-AF65-F5344CB8AC3E}">
        <p14:creationId xmlns:p14="http://schemas.microsoft.com/office/powerpoint/2010/main" val="2655604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5544"/>
            <a:ext cx="9144000" cy="6415100"/>
          </a:xfrm>
          <a:prstGeom prst="rect">
            <a:avLst/>
          </a:prstGeom>
        </p:spPr>
      </p:pic>
      <p:sp>
        <p:nvSpPr>
          <p:cNvPr id="2" name="Title 1"/>
          <p:cNvSpPr>
            <a:spLocks noGrp="1"/>
          </p:cNvSpPr>
          <p:nvPr>
            <p:ph type="title"/>
          </p:nvPr>
        </p:nvSpPr>
        <p:spPr>
          <a:xfrm>
            <a:off x="496976" y="142567"/>
            <a:ext cx="8111140" cy="1325563"/>
          </a:xfrm>
        </p:spPr>
        <p:txBody>
          <a:bodyPr/>
          <a:lstStyle/>
          <a:p>
            <a:r>
              <a:rPr lang="en-US" b="1" dirty="0"/>
              <a:t>Tracking Companies in Compustat (cont.)</a:t>
            </a:r>
          </a:p>
        </p:txBody>
      </p:sp>
      <p:pic>
        <p:nvPicPr>
          <p:cNvPr id="6" name="Picture 5"/>
          <p:cNvPicPr>
            <a:picLocks noChangeAspect="1"/>
          </p:cNvPicPr>
          <p:nvPr/>
        </p:nvPicPr>
        <p:blipFill>
          <a:blip r:embed="rId3"/>
          <a:stretch>
            <a:fillRect/>
          </a:stretch>
        </p:blipFill>
        <p:spPr>
          <a:xfrm>
            <a:off x="307699" y="1529119"/>
            <a:ext cx="8749330" cy="1000945"/>
          </a:xfrm>
          <a:prstGeom prst="rect">
            <a:avLst/>
          </a:prstGeom>
        </p:spPr>
      </p:pic>
      <p:sp>
        <p:nvSpPr>
          <p:cNvPr id="7" name="TextBox 6"/>
          <p:cNvSpPr txBox="1"/>
          <p:nvPr/>
        </p:nvSpPr>
        <p:spPr>
          <a:xfrm>
            <a:off x="496976" y="2211306"/>
            <a:ext cx="8528602" cy="4201150"/>
          </a:xfrm>
          <a:prstGeom prst="rect">
            <a:avLst/>
          </a:prstGeom>
          <a:noFill/>
        </p:spPr>
        <p:txBody>
          <a:bodyPr wrap="square" rtlCol="0">
            <a:spAutoFit/>
          </a:bodyPr>
          <a:lstStyle/>
          <a:p>
            <a:pPr marL="285750" indent="-285750">
              <a:buFont typeface="Arial" panose="020B0604020202020204" pitchFamily="34" charset="0"/>
              <a:buChar char="•"/>
            </a:pPr>
            <a:endParaRPr lang="en-US" sz="2500" dirty="0"/>
          </a:p>
          <a:p>
            <a:pPr marL="285750" indent="-285750">
              <a:buFont typeface="Arial" panose="020B0604020202020204" pitchFamily="34" charset="0"/>
              <a:buChar char="•"/>
            </a:pPr>
            <a:r>
              <a:rPr lang="en-US" sz="2700" dirty="0"/>
              <a:t>Sears Holdings Corp., the new company, is active, yet its pre-merger financial history is that of Kmart Holding Corp.</a:t>
            </a:r>
            <a:br>
              <a:rPr lang="en-US" sz="2700" dirty="0"/>
            </a:br>
            <a:endParaRPr lang="en-US" sz="2700" dirty="0"/>
          </a:p>
          <a:p>
            <a:pPr marL="285750" indent="-285750">
              <a:buFont typeface="Arial" panose="020B0604020202020204" pitchFamily="34" charset="0"/>
              <a:buChar char="•"/>
            </a:pPr>
            <a:r>
              <a:rPr lang="en-US" sz="2700" dirty="0"/>
              <a:t>Note, the Kmart name is no longer listed. </a:t>
            </a:r>
          </a:p>
          <a:p>
            <a:pPr marL="285750" indent="-285750">
              <a:buFont typeface="Arial" panose="020B0604020202020204" pitchFamily="34" charset="0"/>
              <a:buChar char="•"/>
            </a:pPr>
            <a:endParaRPr lang="en-US" sz="2700" dirty="0"/>
          </a:p>
          <a:p>
            <a:pPr marL="285750" indent="-285750">
              <a:buFont typeface="Arial" panose="020B0604020202020204" pitchFamily="34" charset="0"/>
              <a:buChar char="•"/>
            </a:pPr>
            <a:r>
              <a:rPr lang="en-US" sz="2700" dirty="0"/>
              <a:t>Compustat only contains the most recent versions of company names and other identifiers.</a:t>
            </a:r>
          </a:p>
          <a:p>
            <a:endParaRPr lang="en-US" dirty="0"/>
          </a:p>
        </p:txBody>
      </p:sp>
      <p:sp>
        <p:nvSpPr>
          <p:cNvPr id="3" name="TextBox 2">
            <a:extLst>
              <a:ext uri="{FF2B5EF4-FFF2-40B4-BE49-F238E27FC236}">
                <a16:creationId xmlns:a16="http://schemas.microsoft.com/office/drawing/2014/main" id="{966F6583-623C-482B-970F-9A9E1A3CEDF6}"/>
              </a:ext>
            </a:extLst>
          </p:cNvPr>
          <p:cNvSpPr txBox="1"/>
          <p:nvPr/>
        </p:nvSpPr>
        <p:spPr>
          <a:xfrm>
            <a:off x="5420140" y="1885713"/>
            <a:ext cx="1802296" cy="660407"/>
          </a:xfrm>
          <a:prstGeom prst="rect">
            <a:avLst/>
          </a:prstGeom>
          <a:solidFill>
            <a:srgbClr val="FFFF00">
              <a:alpha val="36863"/>
            </a:srgbClr>
          </a:solidFill>
        </p:spPr>
        <p:txBody>
          <a:bodyPr wrap="square" rtlCol="0">
            <a:spAutoFit/>
          </a:bodyPr>
          <a:lstStyle/>
          <a:p>
            <a:endParaRPr lang="en-US" dirty="0"/>
          </a:p>
        </p:txBody>
      </p:sp>
    </p:spTree>
    <p:extLst>
      <p:ext uri="{BB962C8B-B14F-4D97-AF65-F5344CB8AC3E}">
        <p14:creationId xmlns:p14="http://schemas.microsoft.com/office/powerpoint/2010/main" val="4027658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278297" y="365126"/>
            <a:ext cx="8666920" cy="1325563"/>
          </a:xfrm>
        </p:spPr>
        <p:txBody>
          <a:bodyPr/>
          <a:lstStyle/>
          <a:p>
            <a:r>
              <a:rPr lang="en-US" b="1" dirty="0"/>
              <a:t>Tracking Companies Using Compustat Snapshot</a:t>
            </a:r>
          </a:p>
        </p:txBody>
      </p:sp>
      <p:sp>
        <p:nvSpPr>
          <p:cNvPr id="3" name="Content Placeholder 2"/>
          <p:cNvSpPr>
            <a:spLocks noGrp="1"/>
          </p:cNvSpPr>
          <p:nvPr>
            <p:ph idx="1"/>
          </p:nvPr>
        </p:nvSpPr>
        <p:spPr>
          <a:xfrm>
            <a:off x="668407" y="1984997"/>
            <a:ext cx="7886700" cy="4351338"/>
          </a:xfrm>
        </p:spPr>
        <p:txBody>
          <a:bodyPr>
            <a:normAutofit/>
          </a:bodyPr>
          <a:lstStyle/>
          <a:p>
            <a:r>
              <a:rPr lang="en-US" dirty="0"/>
              <a:t>Compustat Snapshot is a separate database provided by S&amp;P that enables users to view data with a historical perspective. </a:t>
            </a:r>
            <a:br>
              <a:rPr lang="en-US" dirty="0"/>
            </a:br>
            <a:endParaRPr lang="en-US" dirty="0"/>
          </a:p>
          <a:p>
            <a:r>
              <a:rPr lang="en-US" dirty="0"/>
              <a:t>Company identifiers in Compustat Snapshot correspond with their date ranges. For example, historical versions of a company’s GVKEY, CUSIP (and other identification variables) are available in Compustat Snapshot.</a:t>
            </a:r>
          </a:p>
        </p:txBody>
      </p:sp>
    </p:spTree>
    <p:extLst>
      <p:ext uri="{BB962C8B-B14F-4D97-AF65-F5344CB8AC3E}">
        <p14:creationId xmlns:p14="http://schemas.microsoft.com/office/powerpoint/2010/main" val="231856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9108"/>
            <a:ext cx="9144000" cy="6415100"/>
          </a:xfrm>
          <a:prstGeom prst="rect">
            <a:avLst/>
          </a:prstGeom>
        </p:spPr>
      </p:pic>
      <p:sp>
        <p:nvSpPr>
          <p:cNvPr id="2" name="Title 1"/>
          <p:cNvSpPr>
            <a:spLocks noGrp="1"/>
          </p:cNvSpPr>
          <p:nvPr>
            <p:ph type="title"/>
          </p:nvPr>
        </p:nvSpPr>
        <p:spPr>
          <a:xfrm>
            <a:off x="238540" y="7663"/>
            <a:ext cx="8666920" cy="1325563"/>
          </a:xfrm>
        </p:spPr>
        <p:txBody>
          <a:bodyPr/>
          <a:lstStyle/>
          <a:p>
            <a:r>
              <a:rPr lang="en-US" b="1" dirty="0"/>
              <a:t>Tracking Companies Using Compustat Snapshot (cont.)</a:t>
            </a:r>
          </a:p>
        </p:txBody>
      </p:sp>
      <p:sp>
        <p:nvSpPr>
          <p:cNvPr id="3" name="Content Placeholder 2"/>
          <p:cNvSpPr>
            <a:spLocks noGrp="1"/>
          </p:cNvSpPr>
          <p:nvPr>
            <p:ph idx="1"/>
          </p:nvPr>
        </p:nvSpPr>
        <p:spPr>
          <a:xfrm>
            <a:off x="509381" y="2720887"/>
            <a:ext cx="7886700" cy="3447015"/>
          </a:xfrm>
        </p:spPr>
        <p:txBody>
          <a:bodyPr>
            <a:normAutofit/>
          </a:bodyPr>
          <a:lstStyle/>
          <a:p>
            <a:r>
              <a:rPr lang="en-US" dirty="0"/>
              <a:t>In Compustat Snapshot the history of the company, before and after the merger, can be traced. </a:t>
            </a:r>
          </a:p>
          <a:p>
            <a:endParaRPr lang="en-US" dirty="0"/>
          </a:p>
          <a:p>
            <a:r>
              <a:rPr lang="en-US" dirty="0"/>
              <a:t>Here, we see the same GVKEY over time. The company name changed from Kmart Corp. to Kmart Holding Corp. in 2004, then changed to Sears Holdings Corp. after the merger. </a:t>
            </a:r>
          </a:p>
        </p:txBody>
      </p:sp>
      <p:pic>
        <p:nvPicPr>
          <p:cNvPr id="6" name="Picture 5">
            <a:extLst>
              <a:ext uri="{FF2B5EF4-FFF2-40B4-BE49-F238E27FC236}">
                <a16:creationId xmlns:a16="http://schemas.microsoft.com/office/drawing/2014/main" id="{8C7ACBE5-2B0D-472D-81CE-271E48E169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40" y="1452150"/>
            <a:ext cx="8816720" cy="1253562"/>
          </a:xfrm>
          <a:prstGeom prst="rect">
            <a:avLst/>
          </a:prstGeom>
        </p:spPr>
      </p:pic>
    </p:spTree>
    <p:extLst>
      <p:ext uri="{BB962C8B-B14F-4D97-AF65-F5344CB8AC3E}">
        <p14:creationId xmlns:p14="http://schemas.microsoft.com/office/powerpoint/2010/main" val="3381298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82876" y="182166"/>
            <a:ext cx="7886700" cy="1325563"/>
          </a:xfrm>
        </p:spPr>
        <p:txBody>
          <a:bodyPr/>
          <a:lstStyle/>
          <a:p>
            <a:r>
              <a:rPr lang="en-US" b="1" dirty="0"/>
              <a:t>Tracking Companies in IBES</a:t>
            </a:r>
          </a:p>
        </p:txBody>
      </p:sp>
      <p:sp>
        <p:nvSpPr>
          <p:cNvPr id="3" name="Content Placeholder 2"/>
          <p:cNvSpPr>
            <a:spLocks noGrp="1"/>
          </p:cNvSpPr>
          <p:nvPr>
            <p:ph idx="1"/>
          </p:nvPr>
        </p:nvSpPr>
        <p:spPr>
          <a:xfrm>
            <a:off x="257589" y="1667919"/>
            <a:ext cx="3975411" cy="2785504"/>
          </a:xfrm>
        </p:spPr>
        <p:txBody>
          <a:bodyPr>
            <a:normAutofit/>
          </a:bodyPr>
          <a:lstStyle/>
          <a:p>
            <a:r>
              <a:rPr lang="en-US" dirty="0"/>
              <a:t>The IBES Ticker is a valuable identifier for tracking companies in IBES.</a:t>
            </a:r>
            <a:br>
              <a:rPr lang="en-US" dirty="0"/>
            </a:br>
            <a:r>
              <a:rPr lang="en-US" dirty="0"/>
              <a:t> </a:t>
            </a:r>
          </a:p>
        </p:txBody>
      </p:sp>
      <p:pic>
        <p:nvPicPr>
          <p:cNvPr id="6" name="Picture 5">
            <a:extLst>
              <a:ext uri="{FF2B5EF4-FFF2-40B4-BE49-F238E27FC236}">
                <a16:creationId xmlns:a16="http://schemas.microsoft.com/office/drawing/2014/main" id="{8E59C868-63B2-40E7-82CA-847BD3030F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2912" y="1468443"/>
            <a:ext cx="4685714" cy="2609524"/>
          </a:xfrm>
          <a:prstGeom prst="rect">
            <a:avLst/>
          </a:prstGeom>
        </p:spPr>
      </p:pic>
      <p:sp>
        <p:nvSpPr>
          <p:cNvPr id="7" name="TextBox 6">
            <a:extLst>
              <a:ext uri="{FF2B5EF4-FFF2-40B4-BE49-F238E27FC236}">
                <a16:creationId xmlns:a16="http://schemas.microsoft.com/office/drawing/2014/main" id="{F13F8C04-E0BF-45B7-93AB-C5DAC424E40C}"/>
              </a:ext>
            </a:extLst>
          </p:cNvPr>
          <p:cNvSpPr txBox="1"/>
          <p:nvPr/>
        </p:nvSpPr>
        <p:spPr>
          <a:xfrm>
            <a:off x="164823" y="4299784"/>
            <a:ext cx="788670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During a merger or acquisition, the acquiring company will keep the IBES Ticker. The CUSIP, company name, or official ticker may all change.</a:t>
            </a:r>
          </a:p>
        </p:txBody>
      </p:sp>
    </p:spTree>
    <p:extLst>
      <p:ext uri="{BB962C8B-B14F-4D97-AF65-F5344CB8AC3E}">
        <p14:creationId xmlns:p14="http://schemas.microsoft.com/office/powerpoint/2010/main" val="3338176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514349" y="0"/>
            <a:ext cx="7886700" cy="1325563"/>
          </a:xfrm>
        </p:spPr>
        <p:txBody>
          <a:bodyPr/>
          <a:lstStyle/>
          <a:p>
            <a:r>
              <a:rPr lang="en-US" b="1" dirty="0"/>
              <a:t>Tracking Companies in IBES (cont.)</a:t>
            </a:r>
            <a:endParaRPr lang="en-US" dirty="0"/>
          </a:p>
        </p:txBody>
      </p:sp>
      <p:sp>
        <p:nvSpPr>
          <p:cNvPr id="5" name="TextBox 4"/>
          <p:cNvSpPr txBox="1"/>
          <p:nvPr/>
        </p:nvSpPr>
        <p:spPr>
          <a:xfrm>
            <a:off x="384312" y="2990460"/>
            <a:ext cx="8415130"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Looking at data in IBES, in 2005, when Kmart and Sears Roebuck &amp; Co. merged, the CUSIP, official ticker symbol, and company named all changed.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However, the IBES ticker (KMRT) remained the same after the merger.</a:t>
            </a:r>
          </a:p>
        </p:txBody>
      </p:sp>
      <p:pic>
        <p:nvPicPr>
          <p:cNvPr id="14" name="Picture 13">
            <a:extLst>
              <a:ext uri="{FF2B5EF4-FFF2-40B4-BE49-F238E27FC236}">
                <a16:creationId xmlns:a16="http://schemas.microsoft.com/office/drawing/2014/main" id="{308C5B43-CD52-4D67-B3B4-7B997377E04F}"/>
              </a:ext>
            </a:extLst>
          </p:cNvPr>
          <p:cNvPicPr>
            <a:picLocks noChangeAspect="1"/>
          </p:cNvPicPr>
          <p:nvPr/>
        </p:nvPicPr>
        <p:blipFill>
          <a:blip r:embed="rId3"/>
          <a:stretch>
            <a:fillRect/>
          </a:stretch>
        </p:blipFill>
        <p:spPr>
          <a:xfrm>
            <a:off x="19877" y="1020102"/>
            <a:ext cx="9144000" cy="1828800"/>
          </a:xfrm>
          <a:prstGeom prst="rect">
            <a:avLst/>
          </a:prstGeom>
        </p:spPr>
      </p:pic>
      <p:sp>
        <p:nvSpPr>
          <p:cNvPr id="3" name="TextBox 2">
            <a:extLst>
              <a:ext uri="{FF2B5EF4-FFF2-40B4-BE49-F238E27FC236}">
                <a16:creationId xmlns:a16="http://schemas.microsoft.com/office/drawing/2014/main" id="{4AE392BF-326A-44A8-B6E4-DC26E27A3931}"/>
              </a:ext>
            </a:extLst>
          </p:cNvPr>
          <p:cNvSpPr txBox="1"/>
          <p:nvPr/>
        </p:nvSpPr>
        <p:spPr>
          <a:xfrm>
            <a:off x="82379" y="1979289"/>
            <a:ext cx="8717063" cy="237350"/>
          </a:xfrm>
          <a:prstGeom prst="rect">
            <a:avLst/>
          </a:prstGeom>
          <a:solidFill>
            <a:srgbClr val="FFFF00">
              <a:alpha val="34902"/>
            </a:srgbClr>
          </a:solidFill>
        </p:spPr>
        <p:txBody>
          <a:bodyPr wrap="square" rtlCol="0">
            <a:spAutoFit/>
          </a:bodyPr>
          <a:lstStyle/>
          <a:p>
            <a:endParaRPr lang="en-US" dirty="0"/>
          </a:p>
        </p:txBody>
      </p:sp>
    </p:spTree>
    <p:extLst>
      <p:ext uri="{BB962C8B-B14F-4D97-AF65-F5344CB8AC3E}">
        <p14:creationId xmlns:p14="http://schemas.microsoft.com/office/powerpoint/2010/main" val="3780580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0825"/>
            <a:ext cx="9144000" cy="6415100"/>
          </a:xfrm>
          <a:prstGeom prst="rect">
            <a:avLst/>
          </a:prstGeom>
        </p:spPr>
      </p:pic>
      <p:sp>
        <p:nvSpPr>
          <p:cNvPr id="2" name="Title 1"/>
          <p:cNvSpPr>
            <a:spLocks noGrp="1"/>
          </p:cNvSpPr>
          <p:nvPr>
            <p:ph type="title"/>
          </p:nvPr>
        </p:nvSpPr>
        <p:spPr>
          <a:xfrm>
            <a:off x="721415" y="78771"/>
            <a:ext cx="7886700" cy="1325563"/>
          </a:xfrm>
        </p:spPr>
        <p:txBody>
          <a:bodyPr/>
          <a:lstStyle/>
          <a:p>
            <a:r>
              <a:rPr lang="en-US" b="1" dirty="0"/>
              <a:t>Tracking Companies in TAQ</a:t>
            </a:r>
          </a:p>
        </p:txBody>
      </p:sp>
      <p:sp>
        <p:nvSpPr>
          <p:cNvPr id="3" name="Content Placeholder 2"/>
          <p:cNvSpPr>
            <a:spLocks noGrp="1"/>
          </p:cNvSpPr>
          <p:nvPr>
            <p:ph idx="1"/>
          </p:nvPr>
        </p:nvSpPr>
        <p:spPr>
          <a:xfrm>
            <a:off x="110781" y="1404334"/>
            <a:ext cx="4221646" cy="4351338"/>
          </a:xfrm>
        </p:spPr>
        <p:txBody>
          <a:bodyPr>
            <a:normAutofit/>
          </a:bodyPr>
          <a:lstStyle/>
          <a:p>
            <a:r>
              <a:rPr lang="en-US" dirty="0"/>
              <a:t>TAQ uses the official trading ticker as its main identifier. On the query screen this is called the SYMBOL.</a:t>
            </a:r>
            <a:br>
              <a:rPr lang="en-US" dirty="0"/>
            </a:br>
            <a:endParaRPr lang="en-US" dirty="0"/>
          </a:p>
          <a:p>
            <a:r>
              <a:rPr lang="en-US" dirty="0"/>
              <a:t>Since official trading tickers can be reused, you must be aware of the dates of the tickers.</a:t>
            </a:r>
          </a:p>
          <a:p>
            <a:pPr marL="0" indent="0">
              <a:buNone/>
            </a:pPr>
            <a:endParaRPr lang="en-US" dirty="0"/>
          </a:p>
        </p:txBody>
      </p:sp>
      <p:pic>
        <p:nvPicPr>
          <p:cNvPr id="6" name="Picture 5">
            <a:extLst>
              <a:ext uri="{FF2B5EF4-FFF2-40B4-BE49-F238E27FC236}">
                <a16:creationId xmlns:a16="http://schemas.microsoft.com/office/drawing/2014/main" id="{98E1AE5D-A3EF-451D-9BC8-85E3F55F6C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3208" y="1598185"/>
            <a:ext cx="4479233" cy="3319804"/>
          </a:xfrm>
          <a:prstGeom prst="rect">
            <a:avLst/>
          </a:prstGeom>
        </p:spPr>
      </p:pic>
    </p:spTree>
    <p:extLst>
      <p:ext uri="{BB962C8B-B14F-4D97-AF65-F5344CB8AC3E}">
        <p14:creationId xmlns:p14="http://schemas.microsoft.com/office/powerpoint/2010/main" val="1973840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Tracking Companies in TAQ (cont.)</a:t>
            </a:r>
          </a:p>
        </p:txBody>
      </p:sp>
      <p:sp>
        <p:nvSpPr>
          <p:cNvPr id="3" name="Content Placeholder 2"/>
          <p:cNvSpPr>
            <a:spLocks noGrp="1"/>
          </p:cNvSpPr>
          <p:nvPr>
            <p:ph idx="1"/>
          </p:nvPr>
        </p:nvSpPr>
        <p:spPr>
          <a:xfrm>
            <a:off x="628649" y="1137140"/>
            <a:ext cx="8165757" cy="4351338"/>
          </a:xfrm>
        </p:spPr>
        <p:txBody>
          <a:bodyPr>
            <a:normAutofit/>
          </a:bodyPr>
          <a:lstStyle/>
          <a:p>
            <a:r>
              <a:rPr lang="en-US" dirty="0"/>
              <a:t>In TAQ, the CUSIP is available in the “master” files, along with the ticker symbol and company name. </a:t>
            </a:r>
            <a:br>
              <a:rPr lang="en-US" dirty="0"/>
            </a:br>
            <a:endParaRPr lang="en-US" dirty="0"/>
          </a:p>
          <a:p>
            <a:r>
              <a:rPr lang="en-US" dirty="0"/>
              <a:t>To access the master files you will have to connect to the UNIX server and look at the “MAST_yyyymm” files.</a:t>
            </a:r>
          </a:p>
          <a:p>
            <a:endParaRPr lang="en-US" dirty="0"/>
          </a:p>
          <a:p>
            <a:pPr marL="0" indent="0">
              <a:buNone/>
            </a:pPr>
            <a:endParaRPr lang="en-US" dirty="0"/>
          </a:p>
        </p:txBody>
      </p:sp>
      <p:pic>
        <p:nvPicPr>
          <p:cNvPr id="6" name="Picture 5">
            <a:extLst>
              <a:ext uri="{FF2B5EF4-FFF2-40B4-BE49-F238E27FC236}">
                <a16:creationId xmlns:a16="http://schemas.microsoft.com/office/drawing/2014/main" id="{D373C3A1-4787-4468-8425-C1C99F2E3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6423" y="3504605"/>
            <a:ext cx="6917984" cy="2420436"/>
          </a:xfrm>
          <a:prstGeom prst="rect">
            <a:avLst/>
          </a:prstGeom>
        </p:spPr>
      </p:pic>
    </p:spTree>
    <p:extLst>
      <p:ext uri="{BB962C8B-B14F-4D97-AF65-F5344CB8AC3E}">
        <p14:creationId xmlns:p14="http://schemas.microsoft.com/office/powerpoint/2010/main" val="3941525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384312" y="89590"/>
            <a:ext cx="8574157" cy="1325563"/>
          </a:xfrm>
        </p:spPr>
        <p:txBody>
          <a:bodyPr/>
          <a:lstStyle/>
          <a:p>
            <a:r>
              <a:rPr lang="en-US" b="1" dirty="0"/>
              <a:t>Tracking Companies in OptionMetrics</a:t>
            </a:r>
          </a:p>
        </p:txBody>
      </p:sp>
      <p:sp>
        <p:nvSpPr>
          <p:cNvPr id="3" name="Content Placeholder 2"/>
          <p:cNvSpPr>
            <a:spLocks noGrp="1"/>
          </p:cNvSpPr>
          <p:nvPr>
            <p:ph idx="1"/>
          </p:nvPr>
        </p:nvSpPr>
        <p:spPr>
          <a:xfrm>
            <a:off x="628649" y="1468444"/>
            <a:ext cx="3718063" cy="4351338"/>
          </a:xfrm>
        </p:spPr>
        <p:txBody>
          <a:bodyPr/>
          <a:lstStyle/>
          <a:p>
            <a:r>
              <a:rPr lang="en-US" dirty="0"/>
              <a:t>In OptionMetrics, the Security ID (SECID) is a valuable identifier for tracking companies. </a:t>
            </a:r>
          </a:p>
          <a:p>
            <a:pPr marL="0" indent="0">
              <a:buNone/>
            </a:pPr>
            <a:endParaRPr lang="en-US" dirty="0"/>
          </a:p>
          <a:p>
            <a:r>
              <a:rPr lang="en-US" dirty="0"/>
              <a:t>The Security ID remains unique over a security’s lifetime.</a:t>
            </a:r>
          </a:p>
          <a:p>
            <a:endParaRPr lang="en-US" dirty="0"/>
          </a:p>
        </p:txBody>
      </p:sp>
      <p:pic>
        <p:nvPicPr>
          <p:cNvPr id="8" name="Picture 7">
            <a:extLst>
              <a:ext uri="{FF2B5EF4-FFF2-40B4-BE49-F238E27FC236}">
                <a16:creationId xmlns:a16="http://schemas.microsoft.com/office/drawing/2014/main" id="{6F8A6562-6AFE-4B3D-9D00-4A3D0FDFC3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7289" y="1714360"/>
            <a:ext cx="4123809" cy="2419048"/>
          </a:xfrm>
          <a:prstGeom prst="rect">
            <a:avLst/>
          </a:prstGeom>
        </p:spPr>
      </p:pic>
    </p:spTree>
    <p:extLst>
      <p:ext uri="{BB962C8B-B14F-4D97-AF65-F5344CB8AC3E}">
        <p14:creationId xmlns:p14="http://schemas.microsoft.com/office/powerpoint/2010/main" val="3552307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9721"/>
            <a:ext cx="9144000" cy="6415100"/>
          </a:xfrm>
          <a:prstGeom prst="rect">
            <a:avLst/>
          </a:prstGeom>
        </p:spPr>
      </p:pic>
      <p:sp>
        <p:nvSpPr>
          <p:cNvPr id="2" name="Title 1"/>
          <p:cNvSpPr>
            <a:spLocks noGrp="1"/>
          </p:cNvSpPr>
          <p:nvPr>
            <p:ph type="title"/>
          </p:nvPr>
        </p:nvSpPr>
        <p:spPr>
          <a:xfrm>
            <a:off x="182583" y="125380"/>
            <a:ext cx="8737632" cy="1325563"/>
          </a:xfrm>
        </p:spPr>
        <p:txBody>
          <a:bodyPr/>
          <a:lstStyle/>
          <a:p>
            <a:r>
              <a:rPr lang="en-US" b="1" dirty="0"/>
              <a:t>Tracking Companies in OptionMetrics (cont.)</a:t>
            </a:r>
          </a:p>
        </p:txBody>
      </p:sp>
      <p:sp>
        <p:nvSpPr>
          <p:cNvPr id="6" name="TextBox 5"/>
          <p:cNvSpPr txBox="1"/>
          <p:nvPr/>
        </p:nvSpPr>
        <p:spPr>
          <a:xfrm>
            <a:off x="215491" y="2763079"/>
            <a:ext cx="8737632" cy="3170099"/>
          </a:xfrm>
          <a:prstGeom prst="rect">
            <a:avLst/>
          </a:prstGeom>
          <a:noFill/>
        </p:spPr>
        <p:txBody>
          <a:bodyPr wrap="square" rtlCol="0">
            <a:spAutoFit/>
          </a:bodyPr>
          <a:lstStyle/>
          <a:p>
            <a:pPr marL="457200" indent="-457200">
              <a:buFont typeface="Arial" panose="020B0604020202020204" pitchFamily="34" charset="0"/>
              <a:buChar char="•"/>
            </a:pPr>
            <a:r>
              <a:rPr lang="en-US" sz="2500" dirty="0"/>
              <a:t>In OptionMetrics, the Sears Roebuck &amp; Co. Security ID was delisted after company merger with Kmart Holdings. On that same date, March 24, 2005, the Kmart Holding company’s Security ID became associated with Sears Holdings Corp.</a:t>
            </a:r>
            <a:br>
              <a:rPr lang="en-US" sz="2500" dirty="0"/>
            </a:br>
            <a:endParaRPr lang="en-US" sz="2500" dirty="0"/>
          </a:p>
          <a:p>
            <a:pPr marL="457200" indent="-457200">
              <a:buFont typeface="Arial" panose="020B0604020202020204" pitchFamily="34" charset="0"/>
              <a:buChar char="•"/>
            </a:pPr>
            <a:r>
              <a:rPr lang="en-US" sz="2500" dirty="0"/>
              <a:t>The name Kmart Holdings is no longer visible in OptionMetrics, as the system only retains the most current identifying information for the issuing company.</a:t>
            </a:r>
          </a:p>
        </p:txBody>
      </p:sp>
      <p:pic>
        <p:nvPicPr>
          <p:cNvPr id="3" name="Picture 2">
            <a:extLst>
              <a:ext uri="{FF2B5EF4-FFF2-40B4-BE49-F238E27FC236}">
                <a16:creationId xmlns:a16="http://schemas.microsoft.com/office/drawing/2014/main" id="{237DBB31-8F0A-4134-99C3-12FF8BC6B7FF}"/>
              </a:ext>
            </a:extLst>
          </p:cNvPr>
          <p:cNvPicPr>
            <a:picLocks noChangeAspect="1"/>
          </p:cNvPicPr>
          <p:nvPr/>
        </p:nvPicPr>
        <p:blipFill>
          <a:blip r:embed="rId3"/>
          <a:stretch>
            <a:fillRect/>
          </a:stretch>
        </p:blipFill>
        <p:spPr>
          <a:xfrm>
            <a:off x="311649" y="1450943"/>
            <a:ext cx="8561905" cy="1323810"/>
          </a:xfrm>
          <a:prstGeom prst="rect">
            <a:avLst/>
          </a:prstGeom>
        </p:spPr>
      </p:pic>
    </p:spTree>
    <p:extLst>
      <p:ext uri="{BB962C8B-B14F-4D97-AF65-F5344CB8AC3E}">
        <p14:creationId xmlns:p14="http://schemas.microsoft.com/office/powerpoint/2010/main" val="2768118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19050" y="0"/>
            <a:ext cx="8496300" cy="1325563"/>
          </a:xfrm>
        </p:spPr>
        <p:txBody>
          <a:bodyPr/>
          <a:lstStyle/>
          <a:p>
            <a:r>
              <a:rPr lang="en-US" b="1" dirty="0"/>
              <a:t>Tracking Companies in AuditAnalytics</a:t>
            </a:r>
          </a:p>
        </p:txBody>
      </p:sp>
      <p:sp>
        <p:nvSpPr>
          <p:cNvPr id="3" name="Content Placeholder 2"/>
          <p:cNvSpPr>
            <a:spLocks noGrp="1"/>
          </p:cNvSpPr>
          <p:nvPr>
            <p:ph idx="1"/>
          </p:nvPr>
        </p:nvSpPr>
        <p:spPr>
          <a:xfrm>
            <a:off x="222858" y="1468445"/>
            <a:ext cx="4320040" cy="1566304"/>
          </a:xfrm>
        </p:spPr>
        <p:txBody>
          <a:bodyPr>
            <a:noAutofit/>
          </a:bodyPr>
          <a:lstStyle/>
          <a:p>
            <a:r>
              <a:rPr lang="en-US" dirty="0"/>
              <a:t>The CIK and the official ticker symbol are the two main identifiers in AuditAnalytics. </a:t>
            </a:r>
            <a:br>
              <a:rPr lang="en-US" dirty="0"/>
            </a:br>
            <a:endParaRPr lang="en-US" dirty="0"/>
          </a:p>
        </p:txBody>
      </p:sp>
      <p:pic>
        <p:nvPicPr>
          <p:cNvPr id="8" name="Picture 7">
            <a:extLst>
              <a:ext uri="{FF2B5EF4-FFF2-40B4-BE49-F238E27FC236}">
                <a16:creationId xmlns:a16="http://schemas.microsoft.com/office/drawing/2014/main" id="{821DCA12-D14A-4490-A9CE-F5DA12B6F7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971074"/>
            <a:ext cx="4219048" cy="2573883"/>
          </a:xfrm>
          <a:prstGeom prst="rect">
            <a:avLst/>
          </a:prstGeom>
        </p:spPr>
      </p:pic>
      <p:sp>
        <p:nvSpPr>
          <p:cNvPr id="9" name="TextBox 8">
            <a:extLst>
              <a:ext uri="{FF2B5EF4-FFF2-40B4-BE49-F238E27FC236}">
                <a16:creationId xmlns:a16="http://schemas.microsoft.com/office/drawing/2014/main" id="{A3DD2FD0-1C07-462A-831C-86171AB776B4}"/>
              </a:ext>
            </a:extLst>
          </p:cNvPr>
          <p:cNvSpPr txBox="1"/>
          <p:nvPr/>
        </p:nvSpPr>
        <p:spPr>
          <a:xfrm>
            <a:off x="212806" y="3607027"/>
            <a:ext cx="8902092"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Because tickers change over time, the CIK may be a better identifier to track companies.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However, keep in mind that CIKs also sometimes change due to changes in a company’s legal status.</a:t>
            </a:r>
          </a:p>
        </p:txBody>
      </p:sp>
    </p:spTree>
    <p:extLst>
      <p:ext uri="{BB962C8B-B14F-4D97-AF65-F5344CB8AC3E}">
        <p14:creationId xmlns:p14="http://schemas.microsoft.com/office/powerpoint/2010/main" val="3610805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42900"/>
            <a:ext cx="9144000" cy="6415100"/>
          </a:xfrm>
          <a:prstGeom prst="rect">
            <a:avLst/>
          </a:prstGeom>
        </p:spPr>
      </p:pic>
      <p:sp>
        <p:nvSpPr>
          <p:cNvPr id="2" name="Title 1"/>
          <p:cNvSpPr>
            <a:spLocks noGrp="1"/>
          </p:cNvSpPr>
          <p:nvPr>
            <p:ph type="title"/>
          </p:nvPr>
        </p:nvSpPr>
        <p:spPr>
          <a:xfrm>
            <a:off x="352811" y="120506"/>
            <a:ext cx="8496300" cy="1325563"/>
          </a:xfrm>
        </p:spPr>
        <p:txBody>
          <a:bodyPr/>
          <a:lstStyle/>
          <a:p>
            <a:r>
              <a:rPr lang="en-US" b="1" dirty="0"/>
              <a:t>Tracking Companies in AuditAnalytics</a:t>
            </a:r>
          </a:p>
        </p:txBody>
      </p:sp>
      <p:sp>
        <p:nvSpPr>
          <p:cNvPr id="5" name="TextBox 4"/>
          <p:cNvSpPr txBox="1"/>
          <p:nvPr/>
        </p:nvSpPr>
        <p:spPr>
          <a:xfrm>
            <a:off x="275452" y="2844966"/>
            <a:ext cx="7954148"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In 2002, Kmart filed for bankruptcy before its 2005 merger with Sears.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Here, in AuditAnalytics, the CIK code for Kmart Corp (indicated in the column “Company fkey”) can be used to locate the bankruptcy data.</a:t>
            </a:r>
          </a:p>
        </p:txBody>
      </p:sp>
      <p:pic>
        <p:nvPicPr>
          <p:cNvPr id="6" name="Picture 5"/>
          <p:cNvPicPr>
            <a:picLocks noChangeAspect="1"/>
          </p:cNvPicPr>
          <p:nvPr/>
        </p:nvPicPr>
        <p:blipFill>
          <a:blip r:embed="rId3"/>
          <a:stretch>
            <a:fillRect/>
          </a:stretch>
        </p:blipFill>
        <p:spPr>
          <a:xfrm>
            <a:off x="294888" y="1762126"/>
            <a:ext cx="8554223" cy="450727"/>
          </a:xfrm>
          <a:prstGeom prst="rect">
            <a:avLst/>
          </a:prstGeom>
        </p:spPr>
      </p:pic>
    </p:spTree>
    <p:extLst>
      <p:ext uri="{BB962C8B-B14F-4D97-AF65-F5344CB8AC3E}">
        <p14:creationId xmlns:p14="http://schemas.microsoft.com/office/powerpoint/2010/main" val="3453977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lstStyle/>
          <a:p>
            <a:r>
              <a:rPr lang="en-US" b="1" dirty="0"/>
              <a:t>Case Study: Tracking General Motors 2009-2010 (cont.)</a:t>
            </a:r>
          </a:p>
        </p:txBody>
      </p:sp>
      <p:sp>
        <p:nvSpPr>
          <p:cNvPr id="8" name="TextBox 7">
            <a:extLst>
              <a:ext uri="{FF2B5EF4-FFF2-40B4-BE49-F238E27FC236}">
                <a16:creationId xmlns:a16="http://schemas.microsoft.com/office/drawing/2014/main" id="{9938F317-9250-45FF-B0FD-79C38269298A}"/>
              </a:ext>
            </a:extLst>
          </p:cNvPr>
          <p:cNvSpPr txBox="1"/>
          <p:nvPr/>
        </p:nvSpPr>
        <p:spPr>
          <a:xfrm>
            <a:off x="715617" y="1967246"/>
            <a:ext cx="7712765" cy="4124206"/>
          </a:xfrm>
          <a:prstGeom prst="rect">
            <a:avLst/>
          </a:prstGeom>
          <a:noFill/>
        </p:spPr>
        <p:txBody>
          <a:bodyPr wrap="square" rtlCol="0">
            <a:spAutoFit/>
          </a:bodyPr>
          <a:lstStyle/>
          <a:p>
            <a:pPr marL="457200" indent="-457200">
              <a:buFont typeface="Arial" panose="020B0604020202020204" pitchFamily="34" charset="0"/>
              <a:buChar char="•"/>
            </a:pPr>
            <a:r>
              <a:rPr lang="en-US" sz="2600" dirty="0"/>
              <a:t>Track General Motors during its period of bankruptcy and reorganization (from 2009-2010) using your organization’s available datasets. </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Start with CRSP and Compustat, if available. </a:t>
            </a:r>
          </a:p>
          <a:p>
            <a:pPr marL="285750" indent="-285750">
              <a:buFont typeface="Arial" panose="020B0604020202020204" pitchFamily="34" charset="0"/>
              <a:buChar char="•"/>
            </a:pPr>
            <a:endParaRPr lang="en-US" sz="2600" dirty="0"/>
          </a:p>
          <a:p>
            <a:pPr lvl="3"/>
            <a:r>
              <a:rPr lang="en-US" sz="2600" dirty="0"/>
              <a:t>Ticker: </a:t>
            </a:r>
            <a:r>
              <a:rPr lang="en-US" sz="2600" b="1" dirty="0"/>
              <a:t>GM</a:t>
            </a:r>
          </a:p>
          <a:p>
            <a:pPr lvl="3"/>
            <a:r>
              <a:rPr lang="en-US" sz="2600" dirty="0"/>
              <a:t>CUSIP: </a:t>
            </a:r>
            <a:r>
              <a:rPr lang="en-US" sz="2600" b="1" dirty="0"/>
              <a:t>3704420</a:t>
            </a:r>
            <a:r>
              <a:rPr lang="en-US" sz="2600" dirty="0"/>
              <a:t> (pre-bankruptcy)</a:t>
            </a:r>
          </a:p>
          <a:p>
            <a:pPr lvl="3"/>
            <a:r>
              <a:rPr lang="en-US" sz="2600" dirty="0"/>
              <a:t>GVKEY: </a:t>
            </a:r>
            <a:r>
              <a:rPr lang="en-US" sz="2600" b="1" dirty="0"/>
              <a:t>005073</a:t>
            </a:r>
          </a:p>
          <a:p>
            <a:endParaRPr lang="en-US" sz="2800" dirty="0"/>
          </a:p>
        </p:txBody>
      </p:sp>
    </p:spTree>
    <p:extLst>
      <p:ext uri="{BB962C8B-B14F-4D97-AF65-F5344CB8AC3E}">
        <p14:creationId xmlns:p14="http://schemas.microsoft.com/office/powerpoint/2010/main" val="3386868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lstStyle/>
          <a:p>
            <a:r>
              <a:rPr lang="en-US" b="1" dirty="0"/>
              <a:t>Example: Tracking GM in CRSP</a:t>
            </a:r>
          </a:p>
        </p:txBody>
      </p:sp>
      <p:sp>
        <p:nvSpPr>
          <p:cNvPr id="3" name="Content Placeholder 2"/>
          <p:cNvSpPr>
            <a:spLocks noGrp="1"/>
          </p:cNvSpPr>
          <p:nvPr>
            <p:ph idx="1"/>
          </p:nvPr>
        </p:nvSpPr>
        <p:spPr>
          <a:xfrm>
            <a:off x="0" y="1468444"/>
            <a:ext cx="8515350" cy="4351338"/>
          </a:xfrm>
        </p:spPr>
        <p:txBody>
          <a:bodyPr>
            <a:normAutofit fontScale="92500" lnSpcReduction="10000"/>
          </a:bodyPr>
          <a:lstStyle/>
          <a:p>
            <a:pPr marL="0" indent="0">
              <a:buNone/>
            </a:pPr>
            <a:endParaRPr lang="en-US" b="1" dirty="0"/>
          </a:p>
          <a:p>
            <a:endParaRPr lang="en-US" dirty="0"/>
          </a:p>
          <a:p>
            <a:endParaRPr lang="en-US" dirty="0"/>
          </a:p>
          <a:p>
            <a:pPr lvl="1"/>
            <a:endParaRPr lang="en-US" dirty="0"/>
          </a:p>
          <a:p>
            <a:pPr lvl="1"/>
            <a:r>
              <a:rPr lang="en-US" sz="2800" dirty="0"/>
              <a:t>Note, when GM declared bankruptcy in 2009, it was assigned a Delisting Code in CRSP.  </a:t>
            </a:r>
          </a:p>
          <a:p>
            <a:pPr lvl="1"/>
            <a:endParaRPr lang="en-US" sz="2800" dirty="0"/>
          </a:p>
          <a:p>
            <a:pPr lvl="1"/>
            <a:r>
              <a:rPr lang="en-US" sz="2800" dirty="0"/>
              <a:t>The “0” in the New PERMNO field next to the Delisting Code indicated that there was not a new PERMNO at that time. The delisting was not the result of a merger or acquisition. </a:t>
            </a:r>
            <a:endParaRPr lang="en-US" dirty="0"/>
          </a:p>
          <a:p>
            <a:pPr marL="0" indent="0">
              <a:buNone/>
            </a:pPr>
            <a:endParaRPr lang="en-US" dirty="0"/>
          </a:p>
          <a:p>
            <a:endParaRPr lang="en-US" dirty="0"/>
          </a:p>
          <a:p>
            <a:endParaRPr lang="en-US" dirty="0"/>
          </a:p>
        </p:txBody>
      </p:sp>
      <p:pic>
        <p:nvPicPr>
          <p:cNvPr id="7" name="Picture 6"/>
          <p:cNvPicPr>
            <a:picLocks noChangeAspect="1"/>
          </p:cNvPicPr>
          <p:nvPr/>
        </p:nvPicPr>
        <p:blipFill>
          <a:blip r:embed="rId3"/>
          <a:stretch>
            <a:fillRect/>
          </a:stretch>
        </p:blipFill>
        <p:spPr>
          <a:xfrm>
            <a:off x="196719" y="1825625"/>
            <a:ext cx="8538525" cy="936171"/>
          </a:xfrm>
          <a:prstGeom prst="rect">
            <a:avLst/>
          </a:prstGeom>
        </p:spPr>
      </p:pic>
      <p:sp>
        <p:nvSpPr>
          <p:cNvPr id="6" name="Rectangle 5">
            <a:extLst>
              <a:ext uri="{FF2B5EF4-FFF2-40B4-BE49-F238E27FC236}">
                <a16:creationId xmlns:a16="http://schemas.microsoft.com/office/drawing/2014/main" id="{FF9CC6D8-09E4-4AA9-88F6-8C161E4732E5}"/>
              </a:ext>
            </a:extLst>
          </p:cNvPr>
          <p:cNvSpPr/>
          <p:nvPr/>
        </p:nvSpPr>
        <p:spPr>
          <a:xfrm>
            <a:off x="6639339" y="2199860"/>
            <a:ext cx="2072730" cy="179197"/>
          </a:xfrm>
          <a:prstGeom prst="rect">
            <a:avLst/>
          </a:prstGeom>
          <a:solidFill>
            <a:srgbClr val="FFFF0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6009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lstStyle/>
          <a:p>
            <a:r>
              <a:rPr lang="en-US" b="1" dirty="0"/>
              <a:t>Example: Tracking GM in CRSP</a:t>
            </a:r>
          </a:p>
        </p:txBody>
      </p:sp>
      <p:sp>
        <p:nvSpPr>
          <p:cNvPr id="3" name="Content Placeholder 2"/>
          <p:cNvSpPr>
            <a:spLocks noGrp="1"/>
          </p:cNvSpPr>
          <p:nvPr>
            <p:ph idx="1"/>
          </p:nvPr>
        </p:nvSpPr>
        <p:spPr>
          <a:xfrm>
            <a:off x="0" y="1468444"/>
            <a:ext cx="8515350" cy="4351338"/>
          </a:xfrm>
        </p:spPr>
        <p:txBody>
          <a:bodyPr>
            <a:normAutofit/>
          </a:bodyPr>
          <a:lstStyle/>
          <a:p>
            <a:pPr marL="0" indent="0">
              <a:buNone/>
            </a:pPr>
            <a:endParaRPr lang="en-US" b="1" dirty="0"/>
          </a:p>
          <a:p>
            <a:endParaRPr lang="en-US" dirty="0"/>
          </a:p>
          <a:p>
            <a:endParaRPr lang="en-US" dirty="0"/>
          </a:p>
          <a:p>
            <a:pPr lvl="1"/>
            <a:endParaRPr lang="en-US" dirty="0"/>
          </a:p>
          <a:p>
            <a:pPr lvl="1"/>
            <a:r>
              <a:rPr lang="en-US" sz="2800" dirty="0"/>
              <a:t>However, GM did come back as a new company in 2010. At that time it was issued a new PERMNO and CUSIP. It kept its pre-bankruptcy company name and ticker symbol.</a:t>
            </a:r>
          </a:p>
          <a:p>
            <a:endParaRPr lang="en-US" dirty="0"/>
          </a:p>
          <a:p>
            <a:pPr marL="0" indent="0">
              <a:buNone/>
            </a:pPr>
            <a:endParaRPr lang="en-US" dirty="0"/>
          </a:p>
          <a:p>
            <a:endParaRPr lang="en-US" dirty="0"/>
          </a:p>
          <a:p>
            <a:endParaRPr lang="en-US" dirty="0"/>
          </a:p>
        </p:txBody>
      </p:sp>
      <p:pic>
        <p:nvPicPr>
          <p:cNvPr id="7" name="Picture 6"/>
          <p:cNvPicPr>
            <a:picLocks noChangeAspect="1"/>
          </p:cNvPicPr>
          <p:nvPr/>
        </p:nvPicPr>
        <p:blipFill>
          <a:blip r:embed="rId3"/>
          <a:stretch>
            <a:fillRect/>
          </a:stretch>
        </p:blipFill>
        <p:spPr>
          <a:xfrm>
            <a:off x="196719" y="1825625"/>
            <a:ext cx="8538525" cy="936171"/>
          </a:xfrm>
          <a:prstGeom prst="rect">
            <a:avLst/>
          </a:prstGeom>
        </p:spPr>
      </p:pic>
      <p:sp>
        <p:nvSpPr>
          <p:cNvPr id="5" name="Rectangle 4">
            <a:extLst>
              <a:ext uri="{FF2B5EF4-FFF2-40B4-BE49-F238E27FC236}">
                <a16:creationId xmlns:a16="http://schemas.microsoft.com/office/drawing/2014/main" id="{3B77ABF2-EFA6-4E82-808F-19A017919F79}"/>
              </a:ext>
            </a:extLst>
          </p:cNvPr>
          <p:cNvSpPr/>
          <p:nvPr/>
        </p:nvSpPr>
        <p:spPr>
          <a:xfrm>
            <a:off x="196719" y="2358887"/>
            <a:ext cx="6422566" cy="402909"/>
          </a:xfrm>
          <a:prstGeom prst="rect">
            <a:avLst/>
          </a:prstGeom>
          <a:solidFill>
            <a:srgbClr val="FFFF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63238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239367" y="365126"/>
            <a:ext cx="8904633" cy="1325563"/>
          </a:xfrm>
        </p:spPr>
        <p:txBody>
          <a:bodyPr/>
          <a:lstStyle/>
          <a:p>
            <a:r>
              <a:rPr lang="en-US" b="1" dirty="0"/>
              <a:t>Example: Tracking GM in Compustat</a:t>
            </a:r>
          </a:p>
        </p:txBody>
      </p:sp>
      <p:sp>
        <p:nvSpPr>
          <p:cNvPr id="3" name="Content Placeholder 2"/>
          <p:cNvSpPr>
            <a:spLocks noGrp="1"/>
          </p:cNvSpPr>
          <p:nvPr>
            <p:ph idx="1"/>
          </p:nvPr>
        </p:nvSpPr>
        <p:spPr>
          <a:xfrm>
            <a:off x="-14469" y="1825625"/>
            <a:ext cx="8529819" cy="4351338"/>
          </a:xfrm>
        </p:spPr>
        <p:txBody>
          <a:bodyPr>
            <a:normAutofit lnSpcReduction="10000"/>
          </a:bodyPr>
          <a:lstStyle/>
          <a:p>
            <a:endParaRPr lang="en-US" dirty="0"/>
          </a:p>
          <a:p>
            <a:endParaRPr lang="en-US" dirty="0"/>
          </a:p>
          <a:p>
            <a:endParaRPr lang="en-US" dirty="0"/>
          </a:p>
          <a:p>
            <a:pPr lvl="1"/>
            <a:endParaRPr lang="en-US" dirty="0"/>
          </a:p>
          <a:p>
            <a:pPr lvl="1"/>
            <a:endParaRPr lang="en-US" sz="2800" dirty="0"/>
          </a:p>
          <a:p>
            <a:pPr lvl="1"/>
            <a:r>
              <a:rPr lang="en-US" sz="2800" dirty="0"/>
              <a:t>In Compustat the only record of General Motors is the most recent incarnation of the company. </a:t>
            </a:r>
          </a:p>
          <a:p>
            <a:pPr lvl="1"/>
            <a:endParaRPr lang="en-US" sz="2800" dirty="0"/>
          </a:p>
          <a:p>
            <a:pPr lvl="1"/>
            <a:r>
              <a:rPr lang="en-US" sz="2800" dirty="0"/>
              <a:t>The old CUSIP (3704420) does not exist in Compustat. </a:t>
            </a:r>
          </a:p>
        </p:txBody>
      </p:sp>
      <p:pic>
        <p:nvPicPr>
          <p:cNvPr id="5" name="Picture 4"/>
          <p:cNvPicPr>
            <a:picLocks noChangeAspect="1"/>
          </p:cNvPicPr>
          <p:nvPr/>
        </p:nvPicPr>
        <p:blipFill>
          <a:blip r:embed="rId3"/>
          <a:stretch>
            <a:fillRect/>
          </a:stretch>
        </p:blipFill>
        <p:spPr>
          <a:xfrm>
            <a:off x="112449" y="1726370"/>
            <a:ext cx="8904633" cy="2116759"/>
          </a:xfrm>
          <a:prstGeom prst="rect">
            <a:avLst/>
          </a:prstGeom>
        </p:spPr>
      </p:pic>
    </p:spTree>
    <p:extLst>
      <p:ext uri="{BB962C8B-B14F-4D97-AF65-F5344CB8AC3E}">
        <p14:creationId xmlns:p14="http://schemas.microsoft.com/office/powerpoint/2010/main" val="789715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782619" y="158664"/>
            <a:ext cx="7886700" cy="1325563"/>
          </a:xfrm>
        </p:spPr>
        <p:txBody>
          <a:bodyPr/>
          <a:lstStyle/>
          <a:p>
            <a:r>
              <a:rPr lang="en-US" b="1" dirty="0"/>
              <a:t>Example: Tracking GM in IBES</a:t>
            </a:r>
            <a:endParaRPr lang="en-US" dirty="0"/>
          </a:p>
        </p:txBody>
      </p:sp>
      <p:sp>
        <p:nvSpPr>
          <p:cNvPr id="3" name="Content Placeholder 2"/>
          <p:cNvSpPr>
            <a:spLocks noGrp="1"/>
          </p:cNvSpPr>
          <p:nvPr>
            <p:ph idx="1"/>
          </p:nvPr>
        </p:nvSpPr>
        <p:spPr>
          <a:xfrm>
            <a:off x="294207" y="2869322"/>
            <a:ext cx="8378209" cy="2232765"/>
          </a:xfrm>
        </p:spPr>
        <p:txBody>
          <a:bodyPr>
            <a:noAutofit/>
          </a:bodyPr>
          <a:lstStyle/>
          <a:p>
            <a:pPr lvl="1"/>
            <a:endParaRPr lang="en-US" sz="2800" dirty="0"/>
          </a:p>
          <a:p>
            <a:pPr lvl="1"/>
            <a:r>
              <a:rPr lang="en-US" sz="2800" dirty="0"/>
              <a:t>IBES considered General Motors a new company after it reorganized and made an initial public offering in 2010.  </a:t>
            </a:r>
          </a:p>
          <a:p>
            <a:pPr lvl="1"/>
            <a:endParaRPr lang="en-US" sz="2800" dirty="0"/>
          </a:p>
          <a:p>
            <a:pPr lvl="1"/>
            <a:r>
              <a:rPr lang="en-US" sz="2800" dirty="0"/>
              <a:t>In 2011, the company was assigned a new IBES Ticker and CUSIP.</a:t>
            </a:r>
          </a:p>
        </p:txBody>
      </p:sp>
      <p:pic>
        <p:nvPicPr>
          <p:cNvPr id="5" name="Picture 4"/>
          <p:cNvPicPr>
            <a:picLocks noChangeAspect="1"/>
          </p:cNvPicPr>
          <p:nvPr/>
        </p:nvPicPr>
        <p:blipFill>
          <a:blip r:embed="rId3"/>
          <a:stretch>
            <a:fillRect/>
          </a:stretch>
        </p:blipFill>
        <p:spPr>
          <a:xfrm>
            <a:off x="458332" y="1576708"/>
            <a:ext cx="8535275" cy="1200133"/>
          </a:xfrm>
          <a:prstGeom prst="rect">
            <a:avLst/>
          </a:prstGeom>
        </p:spPr>
      </p:pic>
    </p:spTree>
    <p:extLst>
      <p:ext uri="{BB962C8B-B14F-4D97-AF65-F5344CB8AC3E}">
        <p14:creationId xmlns:p14="http://schemas.microsoft.com/office/powerpoint/2010/main" val="2964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49" y="365126"/>
            <a:ext cx="8011767" cy="1325563"/>
          </a:xfrm>
        </p:spPr>
        <p:txBody>
          <a:bodyPr/>
          <a:lstStyle/>
          <a:p>
            <a:r>
              <a:rPr lang="en-US" b="1" dirty="0"/>
              <a:t>Example: Tracking GM in OptionMetrics</a:t>
            </a:r>
          </a:p>
        </p:txBody>
      </p:sp>
      <p:sp>
        <p:nvSpPr>
          <p:cNvPr id="7" name="TextBox 6">
            <a:extLst>
              <a:ext uri="{FF2B5EF4-FFF2-40B4-BE49-F238E27FC236}">
                <a16:creationId xmlns:a16="http://schemas.microsoft.com/office/drawing/2014/main" id="{C5B17438-F076-41B4-8B94-F611C46183BB}"/>
              </a:ext>
            </a:extLst>
          </p:cNvPr>
          <p:cNvSpPr txBox="1"/>
          <p:nvPr/>
        </p:nvSpPr>
        <p:spPr>
          <a:xfrm>
            <a:off x="201143" y="2715769"/>
            <a:ext cx="8666631" cy="3708708"/>
          </a:xfrm>
          <a:prstGeom prst="rect">
            <a:avLst/>
          </a:prstGeom>
          <a:noFill/>
        </p:spPr>
        <p:txBody>
          <a:bodyPr wrap="square" rtlCol="0">
            <a:spAutoFit/>
          </a:bodyPr>
          <a:lstStyle/>
          <a:p>
            <a:pPr marL="742950" lvl="1" indent="-285750">
              <a:buFont typeface="Arial" panose="020B0604020202020204" pitchFamily="34" charset="0"/>
              <a:buChar char="•"/>
            </a:pPr>
            <a:r>
              <a:rPr lang="en-US" sz="2700" dirty="0"/>
              <a:t>When General Motors declared bankruptcy they changed the name of their company to “Motors Liquidation Company,” and their ticker was invalidated.</a:t>
            </a:r>
          </a:p>
          <a:p>
            <a:pPr marL="742950" lvl="1" indent="-285750">
              <a:buFont typeface="Arial" panose="020B0604020202020204" pitchFamily="34" charset="0"/>
              <a:buChar char="•"/>
            </a:pPr>
            <a:endParaRPr lang="en-US" sz="2700" dirty="0"/>
          </a:p>
          <a:p>
            <a:pPr marL="742950" lvl="1" indent="-285750">
              <a:buFont typeface="Arial" panose="020B0604020202020204" pitchFamily="34" charset="0"/>
              <a:buChar char="•"/>
            </a:pPr>
            <a:r>
              <a:rPr lang="en-US" sz="2700" dirty="0"/>
              <a:t>This is visible in OptionMetrics as the name of the issuing company for the old General Motors Security ID (105175). </a:t>
            </a:r>
          </a:p>
          <a:p>
            <a:pPr marL="742950" lvl="1" indent="-285750">
              <a:buFont typeface="Arial" panose="020B0604020202020204" pitchFamily="34" charset="0"/>
              <a:buChar char="•"/>
            </a:pPr>
            <a:endParaRPr lang="en-US" sz="2800" dirty="0"/>
          </a:p>
          <a:p>
            <a:endParaRPr lang="en-US" dirty="0"/>
          </a:p>
        </p:txBody>
      </p:sp>
      <p:pic>
        <p:nvPicPr>
          <p:cNvPr id="3" name="Picture 2">
            <a:extLst>
              <a:ext uri="{FF2B5EF4-FFF2-40B4-BE49-F238E27FC236}">
                <a16:creationId xmlns:a16="http://schemas.microsoft.com/office/drawing/2014/main" id="{4F02C9C3-3E55-4075-8119-46F27F80D143}"/>
              </a:ext>
            </a:extLst>
          </p:cNvPr>
          <p:cNvPicPr>
            <a:picLocks noChangeAspect="1"/>
          </p:cNvPicPr>
          <p:nvPr/>
        </p:nvPicPr>
        <p:blipFill>
          <a:blip r:embed="rId3"/>
          <a:stretch>
            <a:fillRect/>
          </a:stretch>
        </p:blipFill>
        <p:spPr>
          <a:xfrm>
            <a:off x="201143" y="1568708"/>
            <a:ext cx="8942857" cy="1038095"/>
          </a:xfrm>
          <a:prstGeom prst="rect">
            <a:avLst/>
          </a:prstGeom>
        </p:spPr>
      </p:pic>
    </p:spTree>
    <p:extLst>
      <p:ext uri="{BB962C8B-B14F-4D97-AF65-F5344CB8AC3E}">
        <p14:creationId xmlns:p14="http://schemas.microsoft.com/office/powerpoint/2010/main" val="2757519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lstStyle/>
          <a:p>
            <a:r>
              <a:rPr lang="en-US" b="1" dirty="0"/>
              <a:t>Example: Tracking GM in OptionMetrics (cont.)</a:t>
            </a:r>
          </a:p>
        </p:txBody>
      </p:sp>
      <p:sp>
        <p:nvSpPr>
          <p:cNvPr id="7" name="TextBox 6">
            <a:extLst>
              <a:ext uri="{FF2B5EF4-FFF2-40B4-BE49-F238E27FC236}">
                <a16:creationId xmlns:a16="http://schemas.microsoft.com/office/drawing/2014/main" id="{C5B17438-F076-41B4-8B94-F611C46183BB}"/>
              </a:ext>
            </a:extLst>
          </p:cNvPr>
          <p:cNvSpPr txBox="1"/>
          <p:nvPr/>
        </p:nvSpPr>
        <p:spPr>
          <a:xfrm>
            <a:off x="200393" y="2810969"/>
            <a:ext cx="8039100" cy="2954655"/>
          </a:xfrm>
          <a:prstGeom prst="rect">
            <a:avLst/>
          </a:prstGeom>
          <a:noFill/>
        </p:spPr>
        <p:txBody>
          <a:bodyPr wrap="square" rtlCol="0">
            <a:spAutoFit/>
          </a:bodyPr>
          <a:lstStyle/>
          <a:p>
            <a:pPr marL="742950" lvl="1" indent="-285750">
              <a:buFont typeface="Arial" panose="020B0604020202020204" pitchFamily="34" charset="0"/>
              <a:buChar char="•"/>
            </a:pPr>
            <a:endParaRPr lang="en-US" sz="2800" dirty="0"/>
          </a:p>
          <a:p>
            <a:pPr marL="742950" lvl="1" indent="-285750">
              <a:buFont typeface="Arial" panose="020B0604020202020204" pitchFamily="34" charset="0"/>
              <a:buChar char="•"/>
            </a:pPr>
            <a:r>
              <a:rPr lang="en-US" sz="2800" dirty="0"/>
              <a:t>In 2010, when General Motors reorganized as a company, they reused their old ticker, GM.</a:t>
            </a:r>
            <a:br>
              <a:rPr lang="en-US" sz="2800" dirty="0"/>
            </a:br>
            <a:endParaRPr lang="en-US" sz="2800" dirty="0"/>
          </a:p>
          <a:p>
            <a:pPr marL="742950" lvl="1" indent="-285750">
              <a:buFont typeface="Arial" panose="020B0604020202020204" pitchFamily="34" charset="0"/>
              <a:buChar char="•"/>
            </a:pPr>
            <a:r>
              <a:rPr lang="en-US" sz="2800" dirty="0"/>
              <a:t>However, their new Security ID (144671) is visible here in OptionMetrics. </a:t>
            </a:r>
            <a:endParaRPr lang="en-US" sz="2800" i="1" dirty="0"/>
          </a:p>
          <a:p>
            <a:endParaRPr lang="en-US" dirty="0"/>
          </a:p>
        </p:txBody>
      </p:sp>
      <p:pic>
        <p:nvPicPr>
          <p:cNvPr id="3" name="Picture 2">
            <a:extLst>
              <a:ext uri="{FF2B5EF4-FFF2-40B4-BE49-F238E27FC236}">
                <a16:creationId xmlns:a16="http://schemas.microsoft.com/office/drawing/2014/main" id="{0E66F0C9-35F8-45D1-99DD-84DBB6D32474}"/>
              </a:ext>
            </a:extLst>
          </p:cNvPr>
          <p:cNvPicPr>
            <a:picLocks noChangeAspect="1"/>
          </p:cNvPicPr>
          <p:nvPr/>
        </p:nvPicPr>
        <p:blipFill>
          <a:blip r:embed="rId3"/>
          <a:stretch>
            <a:fillRect/>
          </a:stretch>
        </p:blipFill>
        <p:spPr>
          <a:xfrm>
            <a:off x="200393" y="1768463"/>
            <a:ext cx="8943607" cy="1042506"/>
          </a:xfrm>
          <a:prstGeom prst="rect">
            <a:avLst/>
          </a:prstGeom>
        </p:spPr>
      </p:pic>
    </p:spTree>
    <p:extLst>
      <p:ext uri="{BB962C8B-B14F-4D97-AF65-F5344CB8AC3E}">
        <p14:creationId xmlns:p14="http://schemas.microsoft.com/office/powerpoint/2010/main" val="1989891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lstStyle/>
          <a:p>
            <a:r>
              <a:rPr lang="en-US" b="1" dirty="0"/>
              <a:t>Example: Tracking GM in AuditAnalytics</a:t>
            </a:r>
            <a:endParaRPr lang="en-US" dirty="0"/>
          </a:p>
        </p:txBody>
      </p:sp>
      <p:sp>
        <p:nvSpPr>
          <p:cNvPr id="3" name="Content Placeholder 2"/>
          <p:cNvSpPr>
            <a:spLocks noGrp="1"/>
          </p:cNvSpPr>
          <p:nvPr>
            <p:ph idx="1"/>
          </p:nvPr>
        </p:nvSpPr>
        <p:spPr/>
        <p:txBody>
          <a:bodyPr>
            <a:normAutofit fontScale="92500" lnSpcReduction="10000"/>
          </a:bodyPr>
          <a:lstStyle/>
          <a:p>
            <a:endParaRPr lang="en-US" dirty="0"/>
          </a:p>
          <a:p>
            <a:endParaRPr lang="en-US" dirty="0"/>
          </a:p>
          <a:p>
            <a:pPr lvl="1"/>
            <a:endParaRPr lang="en-US" sz="2800" dirty="0"/>
          </a:p>
          <a:p>
            <a:pPr lvl="1"/>
            <a:r>
              <a:rPr lang="en-US" sz="3000" dirty="0"/>
              <a:t> AuditAnalytics tracks name changes associated with bankruptcies. </a:t>
            </a:r>
          </a:p>
          <a:p>
            <a:pPr lvl="1"/>
            <a:endParaRPr lang="en-US" sz="3000" dirty="0"/>
          </a:p>
          <a:p>
            <a:pPr lvl="1"/>
            <a:r>
              <a:rPr lang="en-US" sz="3000" dirty="0"/>
              <a:t>Note, in AuditAnalytics we can see the company’s former name, as well as when the company changed its name </a:t>
            </a:r>
            <a:r>
              <a:rPr lang="en-US" sz="2800" dirty="0"/>
              <a:t>to Motors Liquidation Co. after the bankruptcy.</a:t>
            </a:r>
            <a:br>
              <a:rPr lang="en-US" sz="2800" dirty="0"/>
            </a:br>
            <a:endParaRPr lang="en-US" sz="2800" dirty="0"/>
          </a:p>
          <a:p>
            <a:endParaRPr lang="en-US" dirty="0"/>
          </a:p>
        </p:txBody>
      </p:sp>
      <p:pic>
        <p:nvPicPr>
          <p:cNvPr id="7" name="Picture 6"/>
          <p:cNvPicPr>
            <a:picLocks noChangeAspect="1"/>
          </p:cNvPicPr>
          <p:nvPr/>
        </p:nvPicPr>
        <p:blipFill>
          <a:blip r:embed="rId3"/>
          <a:stretch>
            <a:fillRect/>
          </a:stretch>
        </p:blipFill>
        <p:spPr>
          <a:xfrm>
            <a:off x="157590" y="2027584"/>
            <a:ext cx="8828819" cy="636104"/>
          </a:xfrm>
          <a:prstGeom prst="rect">
            <a:avLst/>
          </a:prstGeom>
        </p:spPr>
      </p:pic>
    </p:spTree>
    <p:extLst>
      <p:ext uri="{BB962C8B-B14F-4D97-AF65-F5344CB8AC3E}">
        <p14:creationId xmlns:p14="http://schemas.microsoft.com/office/powerpoint/2010/main" val="2779757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42881"/>
            <a:ext cx="7886700" cy="1325563"/>
          </a:xfrm>
        </p:spPr>
        <p:txBody>
          <a:bodyPr/>
          <a:lstStyle/>
          <a:p>
            <a:r>
              <a:rPr lang="en-US" b="1" dirty="0"/>
              <a:t>Conclusion</a:t>
            </a:r>
          </a:p>
        </p:txBody>
      </p:sp>
      <p:sp>
        <p:nvSpPr>
          <p:cNvPr id="3" name="Content Placeholder 2"/>
          <p:cNvSpPr>
            <a:spLocks noGrp="1"/>
          </p:cNvSpPr>
          <p:nvPr>
            <p:ph idx="1"/>
          </p:nvPr>
        </p:nvSpPr>
        <p:spPr>
          <a:xfrm>
            <a:off x="628650" y="1468444"/>
            <a:ext cx="7886700" cy="4351338"/>
          </a:xfrm>
        </p:spPr>
        <p:txBody>
          <a:bodyPr>
            <a:normAutofit fontScale="92500" lnSpcReduction="10000"/>
          </a:bodyPr>
          <a:lstStyle/>
          <a:p>
            <a:r>
              <a:rPr lang="en-US" dirty="0"/>
              <a:t>Companies filing with the SEC can change their legal company names, as well as other identification information, such as CIK, CUSIP, and ticker symbol. </a:t>
            </a:r>
          </a:p>
          <a:p>
            <a:endParaRPr lang="en-US" dirty="0"/>
          </a:p>
          <a:p>
            <a:r>
              <a:rPr lang="en-US" dirty="0"/>
              <a:t>When tracking companies in WRDS datasets, you should be aware of which company identifiers can change and which do not change. This is especially important if your research involves linking datasets.</a:t>
            </a:r>
            <a:br>
              <a:rPr lang="en-US" sz="3200" dirty="0"/>
            </a:br>
            <a:endParaRPr lang="en-US" dirty="0"/>
          </a:p>
          <a:p>
            <a:r>
              <a:rPr lang="en-US" dirty="0"/>
              <a:t>Because of the use of PERMNOs and PERMCOs, CRSP is a good dataset to use to see historical changes when tracking companies. </a:t>
            </a:r>
          </a:p>
        </p:txBody>
      </p:sp>
    </p:spTree>
    <p:extLst>
      <p:ext uri="{BB962C8B-B14F-4D97-AF65-F5344CB8AC3E}">
        <p14:creationId xmlns:p14="http://schemas.microsoft.com/office/powerpoint/2010/main" val="34987573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11975</TotalTime>
  <Words>1838</Words>
  <Application>Microsoft Office PowerPoint</Application>
  <PresentationFormat>On-screen Show (4:3)</PresentationFormat>
  <Paragraphs>189</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Identifiers: Tracking Companies</vt:lpstr>
      <vt:lpstr>Learning Objectives</vt:lpstr>
      <vt:lpstr>Why Do Company Identifiers Change? </vt:lpstr>
      <vt:lpstr>Company Identifiers</vt:lpstr>
      <vt:lpstr>Two Commonly Used Identifiers: CUSIP and CIK </vt:lpstr>
      <vt:lpstr>Two Commonly Used Identifiers: CUSIP and CIK  (cont.)</vt:lpstr>
      <vt:lpstr>Six Finance/Accounting Datasets</vt:lpstr>
      <vt:lpstr>Tracking Companies in CRSP</vt:lpstr>
      <vt:lpstr>Tracking Companies in CRSP: PERMCO and PERMNO</vt:lpstr>
      <vt:lpstr>Tracking Companies in CRSP: PERMCO and PERMNO (cont.)</vt:lpstr>
      <vt:lpstr>Company Changes in CRSP (cont.)</vt:lpstr>
      <vt:lpstr>Company Changes in CRSP (cont.)</vt:lpstr>
      <vt:lpstr>Tracking Companies in Compustat</vt:lpstr>
      <vt:lpstr>Tracking Companies in Compustat (cont.)</vt:lpstr>
      <vt:lpstr>Tracking Companies in Compustat (cont.)</vt:lpstr>
      <vt:lpstr>Tracking Companies in Compustat (cont.)</vt:lpstr>
      <vt:lpstr>Tracking Companies Using Compustat Snapshot</vt:lpstr>
      <vt:lpstr>Tracking Companies Using Compustat Snapshot (cont.)</vt:lpstr>
      <vt:lpstr>Tracking Companies in IBES</vt:lpstr>
      <vt:lpstr>Tracking Companies in IBES (cont.)</vt:lpstr>
      <vt:lpstr>Tracking Companies in TAQ</vt:lpstr>
      <vt:lpstr>Tracking Companies in TAQ (cont.)</vt:lpstr>
      <vt:lpstr>Tracking Companies in OptionMetrics</vt:lpstr>
      <vt:lpstr>Tracking Companies in OptionMetrics (cont.)</vt:lpstr>
      <vt:lpstr>Tracking Companies in AuditAnalytics</vt:lpstr>
      <vt:lpstr>Tracking Companies in AuditAnalytics</vt:lpstr>
      <vt:lpstr>Case Study: Tracking General Motors 2009-2010 (cont.)</vt:lpstr>
      <vt:lpstr>Example: Tracking GM in CRSP</vt:lpstr>
      <vt:lpstr>Example: Tracking GM in CRSP</vt:lpstr>
      <vt:lpstr>Example: Tracking GM in Compustat</vt:lpstr>
      <vt:lpstr>Example: Tracking GM in IBES</vt:lpstr>
      <vt:lpstr>Example: Tracking GM in OptionMetrics</vt:lpstr>
      <vt:lpstr>Example: Tracking GM in OptionMetrics (cont.)</vt:lpstr>
      <vt:lpstr>Example: Tracking GM in AuditAnalytics</vt:lpstr>
      <vt:lpstr>Conclusion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Flores, Yadira</dc:creator>
  <cp:lastModifiedBy>Mary Obropta</cp:lastModifiedBy>
  <cp:revision>166</cp:revision>
  <dcterms:created xsi:type="dcterms:W3CDTF">2015-10-21T15:27:15Z</dcterms:created>
  <dcterms:modified xsi:type="dcterms:W3CDTF">2020-01-10T19:08:01Z</dcterms:modified>
</cp:coreProperties>
</file>