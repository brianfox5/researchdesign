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30"/>
  </p:notesMasterIdLst>
  <p:sldIdLst>
    <p:sldId id="256" r:id="rId2"/>
    <p:sldId id="379" r:id="rId3"/>
    <p:sldId id="405" r:id="rId4"/>
    <p:sldId id="456" r:id="rId5"/>
    <p:sldId id="450" r:id="rId6"/>
    <p:sldId id="452" r:id="rId7"/>
    <p:sldId id="446" r:id="rId8"/>
    <p:sldId id="455" r:id="rId9"/>
    <p:sldId id="429" r:id="rId10"/>
    <p:sldId id="457" r:id="rId11"/>
    <p:sldId id="445" r:id="rId12"/>
    <p:sldId id="458" r:id="rId13"/>
    <p:sldId id="447" r:id="rId14"/>
    <p:sldId id="464" r:id="rId15"/>
    <p:sldId id="465" r:id="rId16"/>
    <p:sldId id="459" r:id="rId17"/>
    <p:sldId id="454" r:id="rId18"/>
    <p:sldId id="468" r:id="rId19"/>
    <p:sldId id="448" r:id="rId20"/>
    <p:sldId id="453" r:id="rId21"/>
    <p:sldId id="469" r:id="rId22"/>
    <p:sldId id="421" r:id="rId23"/>
    <p:sldId id="415" r:id="rId24"/>
    <p:sldId id="472" r:id="rId25"/>
    <p:sldId id="420" r:id="rId26"/>
    <p:sldId id="467" r:id="rId27"/>
    <p:sldId id="471" r:id="rId28"/>
    <p:sldId id="474" r:id="rId2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FFCC"/>
    <a:srgbClr val="DFE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86894" autoAdjust="0"/>
  </p:normalViewPr>
  <p:slideViewPr>
    <p:cSldViewPr snapToGrid="0">
      <p:cViewPr varScale="1">
        <p:scale>
          <a:sx n="72" d="100"/>
          <a:sy n="72" d="100"/>
        </p:scale>
        <p:origin x="114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835D6CBB-E2B6-4759-9A9F-B613DFBCB6BE}" type="datetimeFigureOut">
              <a:rPr lang="en-US" smtClean="0"/>
              <a:t>4/26/2019</a:t>
            </a:fld>
            <a:endParaRPr lang="en-US"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369AA66E-49A6-4B80-8BB7-A521F084C151}" type="slidenum">
              <a:rPr lang="en-US" smtClean="0"/>
              <a:t>‹#›</a:t>
            </a:fld>
            <a:endParaRPr lang="en-US" dirty="0"/>
          </a:p>
        </p:txBody>
      </p:sp>
    </p:spTree>
    <p:extLst>
      <p:ext uri="{BB962C8B-B14F-4D97-AF65-F5344CB8AC3E}">
        <p14:creationId xmlns:p14="http://schemas.microsoft.com/office/powerpoint/2010/main" val="3567374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9AA66E-49A6-4B80-8BB7-A521F084C151}" type="slidenum">
              <a:rPr lang="en-US" smtClean="0"/>
              <a:t>7</a:t>
            </a:fld>
            <a:endParaRPr lang="en-US" dirty="0"/>
          </a:p>
        </p:txBody>
      </p:sp>
    </p:spTree>
    <p:extLst>
      <p:ext uri="{BB962C8B-B14F-4D97-AF65-F5344CB8AC3E}">
        <p14:creationId xmlns:p14="http://schemas.microsoft.com/office/powerpoint/2010/main" val="193221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9AA66E-49A6-4B80-8BB7-A521F084C151}" type="slidenum">
              <a:rPr lang="en-US" smtClean="0"/>
              <a:t>17</a:t>
            </a:fld>
            <a:endParaRPr lang="en-US" dirty="0"/>
          </a:p>
        </p:txBody>
      </p:sp>
    </p:spTree>
    <p:extLst>
      <p:ext uri="{BB962C8B-B14F-4D97-AF65-F5344CB8AC3E}">
        <p14:creationId xmlns:p14="http://schemas.microsoft.com/office/powerpoint/2010/main" val="4247891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9AA66E-49A6-4B80-8BB7-A521F084C151}" type="slidenum">
              <a:rPr lang="en-US" smtClean="0"/>
              <a:t>18</a:t>
            </a:fld>
            <a:endParaRPr lang="en-US" dirty="0"/>
          </a:p>
        </p:txBody>
      </p:sp>
    </p:spTree>
    <p:extLst>
      <p:ext uri="{BB962C8B-B14F-4D97-AF65-F5344CB8AC3E}">
        <p14:creationId xmlns:p14="http://schemas.microsoft.com/office/powerpoint/2010/main" val="3123913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9AA66E-49A6-4B80-8BB7-A521F084C151}" type="slidenum">
              <a:rPr lang="en-US" smtClean="0"/>
              <a:t>19</a:t>
            </a:fld>
            <a:endParaRPr lang="en-US" dirty="0"/>
          </a:p>
        </p:txBody>
      </p:sp>
    </p:spTree>
    <p:extLst>
      <p:ext uri="{BB962C8B-B14F-4D97-AF65-F5344CB8AC3E}">
        <p14:creationId xmlns:p14="http://schemas.microsoft.com/office/powerpoint/2010/main" val="898776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9AA66E-49A6-4B80-8BB7-A521F084C151}" type="slidenum">
              <a:rPr lang="en-US" smtClean="0"/>
              <a:t>20</a:t>
            </a:fld>
            <a:endParaRPr lang="en-US" dirty="0"/>
          </a:p>
        </p:txBody>
      </p:sp>
    </p:spTree>
    <p:extLst>
      <p:ext uri="{BB962C8B-B14F-4D97-AF65-F5344CB8AC3E}">
        <p14:creationId xmlns:p14="http://schemas.microsoft.com/office/powerpoint/2010/main" val="3260857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9AA66E-49A6-4B80-8BB7-A521F084C151}" type="slidenum">
              <a:rPr lang="en-US" smtClean="0"/>
              <a:t>21</a:t>
            </a:fld>
            <a:endParaRPr lang="en-US" dirty="0"/>
          </a:p>
        </p:txBody>
      </p:sp>
    </p:spTree>
    <p:extLst>
      <p:ext uri="{BB962C8B-B14F-4D97-AF65-F5344CB8AC3E}">
        <p14:creationId xmlns:p14="http://schemas.microsoft.com/office/powerpoint/2010/main" val="1989810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30674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83976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67764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726625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449032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256968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4001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33526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66512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725446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4/26/2019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934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8BCC4-9B94-4BEF-91A3-495F4E4A73E7}" type="datetimeFigureOut">
              <a:rPr lang="en-US" smtClean="0"/>
              <a:t>4/26/2019</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657CA-DE46-4F37-9012-4185F813808C}" type="slidenum">
              <a:rPr lang="en-US" smtClean="0"/>
              <a:t>‹#›</a:t>
            </a:fld>
            <a:endParaRPr lang="en-US" dirty="0"/>
          </a:p>
        </p:txBody>
      </p:sp>
    </p:spTree>
    <p:extLst>
      <p:ext uri="{BB962C8B-B14F-4D97-AF65-F5344CB8AC3E}">
        <p14:creationId xmlns:p14="http://schemas.microsoft.com/office/powerpoint/2010/main" val="9099079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rds-www.wharton.upenn.edu/classroom/named-entity-recognition/"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ctrTitle"/>
          </p:nvPr>
        </p:nvSpPr>
        <p:spPr/>
        <p:txBody>
          <a:bodyPr>
            <a:normAutofit fontScale="90000"/>
          </a:bodyPr>
          <a:lstStyle/>
          <a:p>
            <a:br>
              <a:rPr lang="en-US" b="1" dirty="0"/>
            </a:br>
            <a:r>
              <a:rPr lang="en-US" b="1" dirty="0"/>
              <a:t>Named-Entity Recognition</a:t>
            </a:r>
          </a:p>
        </p:txBody>
      </p:sp>
    </p:spTree>
    <p:extLst>
      <p:ext uri="{BB962C8B-B14F-4D97-AF65-F5344CB8AC3E}">
        <p14:creationId xmlns:p14="http://schemas.microsoft.com/office/powerpoint/2010/main" val="3717743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Learning Objectives</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850900" y="1325563"/>
            <a:ext cx="7664450" cy="4401205"/>
          </a:xfrm>
          <a:prstGeom prst="rect">
            <a:avLst/>
          </a:prstGeom>
          <a:noFill/>
        </p:spPr>
        <p:txBody>
          <a:bodyPr wrap="square" rtlCol="0">
            <a:spAutoFit/>
          </a:bodyPr>
          <a:lstStyle/>
          <a:p>
            <a:r>
              <a:rPr lang="en-US" sz="2800" dirty="0"/>
              <a:t>Upon completing this assignment, students will:</a:t>
            </a:r>
          </a:p>
          <a:p>
            <a:endParaRPr lang="en-US" sz="2800" dirty="0"/>
          </a:p>
          <a:p>
            <a:pPr marL="457200" indent="-457200">
              <a:buFont typeface="Arial" panose="020B0604020202020204" pitchFamily="34" charset="0"/>
              <a:buChar char="•"/>
            </a:pPr>
            <a:r>
              <a:rPr lang="en-US" sz="2800" dirty="0"/>
              <a:t>Learn what named-entity recognition (NER) is, and some of its applications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Learn some of the “features” commonly used in NER</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Consider different approaches for NER as well as some of the challenges</a:t>
            </a:r>
            <a:endParaRPr lang="en-US" sz="2600" dirty="0"/>
          </a:p>
        </p:txBody>
      </p:sp>
    </p:spTree>
    <p:extLst>
      <p:ext uri="{BB962C8B-B14F-4D97-AF65-F5344CB8AC3E}">
        <p14:creationId xmlns:p14="http://schemas.microsoft.com/office/powerpoint/2010/main" val="144336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Named-Entity Recognition </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6737"/>
            <a:ext cx="7664450" cy="5216813"/>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process of finding and classifying named entities in text into defined categories is known as named-entity recognition (NER).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 named entity is something that has a specifically assigned name--for example, a person, a country, a company, a product or a book title. </a:t>
            </a:r>
            <a:br>
              <a:rPr lang="en-US" sz="2800" dirty="0"/>
            </a:br>
            <a:endParaRPr lang="en-US" sz="2800" dirty="0"/>
          </a:p>
          <a:p>
            <a:pPr marL="457200" indent="-457200">
              <a:buFont typeface="Arial" panose="020B0604020202020204" pitchFamily="34" charset="0"/>
              <a:buChar char="•"/>
            </a:pPr>
            <a:r>
              <a:rPr lang="en-US" sz="2800" dirty="0"/>
              <a:t>Proper nouns are named entities.</a:t>
            </a:r>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398955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Named-Entity Recognition (cont.) </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088210"/>
            <a:ext cx="7664450" cy="5124480"/>
          </a:xfrm>
          <a:prstGeom prst="rect">
            <a:avLst/>
          </a:prstGeom>
          <a:noFill/>
        </p:spPr>
        <p:txBody>
          <a:bodyPr wrap="square" rtlCol="0">
            <a:spAutoFit/>
          </a:bodyPr>
          <a:lstStyle/>
          <a:p>
            <a:pPr marL="457200" indent="-457200">
              <a:buFont typeface="Arial" panose="020B0604020202020204" pitchFamily="34" charset="0"/>
              <a:buChar char="•"/>
            </a:pPr>
            <a:r>
              <a:rPr lang="en-US" sz="2600" dirty="0">
                <a:cs typeface="Courier New" panose="02070309020205020404" pitchFamily="49" charset="0"/>
              </a:rPr>
              <a:t>Example:</a:t>
            </a:r>
            <a:br>
              <a:rPr lang="en-US" sz="2600" dirty="0">
                <a:cs typeface="Courier New" panose="02070309020205020404" pitchFamily="49" charset="0"/>
              </a:rPr>
            </a:br>
            <a:endParaRPr lang="en-US" sz="2600" dirty="0">
              <a:cs typeface="Courier New" panose="02070309020205020404" pitchFamily="49" charset="0"/>
            </a:endParaRPr>
          </a:p>
          <a:p>
            <a:r>
              <a:rPr lang="en-US" sz="2600" dirty="0">
                <a:cs typeface="Courier New" panose="02070309020205020404" pitchFamily="49" charset="0"/>
              </a:rPr>
              <a:t>Michael R. Bloomberg, the former mayor of New York City, founded Bloomberg L.P. in 1981.</a:t>
            </a:r>
          </a:p>
          <a:p>
            <a:br>
              <a:rPr lang="en-US" sz="2600" dirty="0"/>
            </a:br>
            <a:endParaRPr lang="en-US" sz="2600" dirty="0"/>
          </a:p>
          <a:p>
            <a:r>
              <a:rPr lang="en-US" sz="2400" b="1" dirty="0">
                <a:latin typeface="Courier New" panose="02070309020205020404" pitchFamily="49" charset="0"/>
                <a:cs typeface="Courier New" panose="02070309020205020404" pitchFamily="49" charset="0"/>
              </a:rPr>
              <a:t>&lt;person&gt; </a:t>
            </a:r>
            <a:r>
              <a:rPr lang="en-US" sz="2400" b="1" dirty="0">
                <a:solidFill>
                  <a:srgbClr val="0070C0"/>
                </a:solidFill>
                <a:latin typeface="Courier New" panose="02070309020205020404" pitchFamily="49" charset="0"/>
                <a:cs typeface="Courier New" panose="02070309020205020404" pitchFamily="49" charset="0"/>
              </a:rPr>
              <a:t>Michael R. Bloomberg </a:t>
            </a:r>
            <a:r>
              <a:rPr lang="en-US" sz="2400" b="1" dirty="0">
                <a:latin typeface="Courier New" panose="02070309020205020404" pitchFamily="49" charset="0"/>
                <a:cs typeface="Courier New" panose="02070309020205020404" pitchFamily="49" charset="0"/>
              </a:rPr>
              <a:t>&lt;/person&gt;</a:t>
            </a:r>
            <a:r>
              <a:rPr lang="en-US" sz="2400" b="1" dirty="0">
                <a:solidFill>
                  <a:schemeClr val="bg2">
                    <a:lumMod val="75000"/>
                  </a:schemeClr>
                </a:solidFill>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the former mayor of &lt;location&gt; </a:t>
            </a:r>
            <a:r>
              <a:rPr lang="en-US" sz="2400" b="1" dirty="0">
                <a:solidFill>
                  <a:srgbClr val="0070C0"/>
                </a:solidFill>
                <a:latin typeface="Courier New" panose="02070309020205020404" pitchFamily="49" charset="0"/>
                <a:cs typeface="Courier New" panose="02070309020205020404" pitchFamily="49" charset="0"/>
              </a:rPr>
              <a:t>New York City</a:t>
            </a:r>
            <a:r>
              <a:rPr lang="en-US" sz="2400" b="1" dirty="0">
                <a:latin typeface="Courier New" panose="02070309020205020404" pitchFamily="49" charset="0"/>
                <a:cs typeface="Courier New" panose="02070309020205020404" pitchFamily="49" charset="0"/>
              </a:rPr>
              <a:t> &lt;/location&gt;, founded</a:t>
            </a:r>
            <a:r>
              <a:rPr lang="en-US" sz="2400" b="1" dirty="0">
                <a:solidFill>
                  <a:schemeClr val="bg2">
                    <a:lumMod val="75000"/>
                  </a:schemeClr>
                </a:solidFill>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&lt;organization&gt; </a:t>
            </a:r>
            <a:r>
              <a:rPr lang="en-US" sz="2400" b="1" dirty="0">
                <a:solidFill>
                  <a:srgbClr val="0070C0"/>
                </a:solidFill>
                <a:latin typeface="Courier New" panose="02070309020205020404" pitchFamily="49" charset="0"/>
                <a:cs typeface="Courier New" panose="02070309020205020404" pitchFamily="49" charset="0"/>
              </a:rPr>
              <a:t>Bloomberg L.P. </a:t>
            </a:r>
            <a:r>
              <a:rPr lang="en-US" sz="2400" b="1" dirty="0">
                <a:latin typeface="Courier New" panose="02070309020205020404" pitchFamily="49" charset="0"/>
                <a:cs typeface="Courier New" panose="02070309020205020404" pitchFamily="49" charset="0"/>
              </a:rPr>
              <a:t>&lt;/organization&gt; in &lt;date&gt; </a:t>
            </a:r>
            <a:r>
              <a:rPr lang="en-US" sz="2400" b="1" dirty="0">
                <a:solidFill>
                  <a:srgbClr val="0070C0"/>
                </a:solidFill>
                <a:latin typeface="Courier New" panose="02070309020205020404" pitchFamily="49" charset="0"/>
                <a:cs typeface="Courier New" panose="02070309020205020404" pitchFamily="49" charset="0"/>
              </a:rPr>
              <a:t>1981</a:t>
            </a:r>
            <a:r>
              <a:rPr lang="en-US" sz="2400" b="1" dirty="0">
                <a:latin typeface="Courier New" panose="02070309020205020404" pitchFamily="49" charset="0"/>
                <a:cs typeface="Courier New" panose="02070309020205020404" pitchFamily="49" charset="0"/>
              </a:rPr>
              <a:t> &lt;/date&gt;.</a:t>
            </a:r>
            <a:br>
              <a:rPr lang="en-US" sz="2400" b="1" dirty="0">
                <a:solidFill>
                  <a:schemeClr val="bg2">
                    <a:lumMod val="75000"/>
                  </a:schemeClr>
                </a:solidFill>
                <a:latin typeface="Courier New" panose="02070309020205020404" pitchFamily="49" charset="0"/>
                <a:cs typeface="Courier New" panose="02070309020205020404" pitchFamily="49" charset="0"/>
              </a:rPr>
            </a:br>
            <a:endParaRPr lang="en-US" sz="2400" b="1" dirty="0">
              <a:solidFill>
                <a:schemeClr val="bg2">
                  <a:lumMod val="75000"/>
                </a:schemeClr>
              </a:solidFill>
              <a:latin typeface="Courier New" panose="02070309020205020404" pitchFamily="49" charset="0"/>
              <a:cs typeface="Courier New" panose="02070309020205020404" pitchFamily="49" charset="0"/>
            </a:endParaRPr>
          </a:p>
          <a:p>
            <a:endParaRPr lang="en-US" sz="2700" dirty="0"/>
          </a:p>
        </p:txBody>
      </p:sp>
      <p:sp>
        <p:nvSpPr>
          <p:cNvPr id="8" name="Down Arrow 7"/>
          <p:cNvSpPr/>
          <p:nvPr/>
        </p:nvSpPr>
        <p:spPr>
          <a:xfrm>
            <a:off x="3749675" y="2911586"/>
            <a:ext cx="1041400" cy="571500"/>
          </a:xfrm>
          <a:prstGeom prst="down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6292850" y="5148858"/>
            <a:ext cx="2006600" cy="769441"/>
          </a:xfrm>
          <a:prstGeom prst="rect">
            <a:avLst/>
          </a:prstGeom>
          <a:solidFill>
            <a:schemeClr val="bg1">
              <a:lumMod val="95000"/>
            </a:schemeClr>
          </a:solidFill>
        </p:spPr>
        <p:txBody>
          <a:bodyPr wrap="square" rtlCol="0">
            <a:spAutoFit/>
          </a:bodyPr>
          <a:lstStyle/>
          <a:p>
            <a:r>
              <a:rPr lang="en-US" sz="2200" dirty="0">
                <a:solidFill>
                  <a:srgbClr val="0070C0"/>
                </a:solidFill>
              </a:rPr>
              <a:t>Blue </a:t>
            </a:r>
            <a:r>
              <a:rPr lang="en-US" sz="2200" dirty="0"/>
              <a:t>= the named entities. </a:t>
            </a:r>
          </a:p>
        </p:txBody>
      </p:sp>
    </p:spTree>
    <p:extLst>
      <p:ext uri="{BB962C8B-B14F-4D97-AF65-F5344CB8AC3E}">
        <p14:creationId xmlns:p14="http://schemas.microsoft.com/office/powerpoint/2010/main" val="35348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Named-Entity Recognition (cont.) </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160463"/>
            <a:ext cx="7664450" cy="6509474"/>
          </a:xfrm>
          <a:prstGeom prst="rect">
            <a:avLst/>
          </a:prstGeom>
          <a:noFill/>
        </p:spPr>
        <p:txBody>
          <a:bodyPr wrap="square" rtlCol="0">
            <a:spAutoFit/>
          </a:bodyPr>
          <a:lstStyle/>
          <a:p>
            <a:pPr marL="457200" indent="-457200">
              <a:buFont typeface="Arial" panose="020B0604020202020204" pitchFamily="34" charset="0"/>
              <a:buChar char="•"/>
            </a:pPr>
            <a:r>
              <a:rPr lang="en-US" sz="2800" dirty="0"/>
              <a:t>Named-entity recognition is a subtask of information extraction.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Early research used NER to extract factual (i.e., who, where, when) information from the unstructured text of newspaper articles.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In the community of NER researchers, numbers referring to specific times, dates, amounts of currency, and percentages are also considered named entities. </a:t>
            </a:r>
          </a:p>
          <a:p>
            <a:br>
              <a:rPr lang="en-US" sz="2800" dirty="0"/>
            </a:br>
            <a:endParaRPr lang="en-US" sz="2800" dirty="0"/>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3676238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6729"/>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Uses of NER</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91286" y="4641411"/>
            <a:ext cx="3896514" cy="923330"/>
          </a:xfrm>
          <a:prstGeom prst="rect">
            <a:avLst/>
          </a:prstGeom>
          <a:noFill/>
        </p:spPr>
        <p:txBody>
          <a:bodyPr wrap="square" rtlCol="0">
            <a:spAutoFit/>
          </a:bodyPr>
          <a:lstStyle/>
          <a:p>
            <a:pPr marL="457200" indent="-457200">
              <a:buFont typeface="Arial" panose="020B0604020202020204" pitchFamily="34" charset="0"/>
              <a:buChar char="•"/>
            </a:pPr>
            <a:r>
              <a:rPr lang="en-US" sz="2700" dirty="0"/>
              <a:t>Powers content recommendations</a:t>
            </a:r>
            <a:endParaRPr lang="en-US" sz="2600" dirty="0"/>
          </a:p>
        </p:txBody>
      </p:sp>
      <p:sp>
        <p:nvSpPr>
          <p:cNvPr id="6" name="TextBox 5"/>
          <p:cNvSpPr txBox="1"/>
          <p:nvPr/>
        </p:nvSpPr>
        <p:spPr>
          <a:xfrm>
            <a:off x="5545137" y="4465578"/>
            <a:ext cx="3405976" cy="1107996"/>
          </a:xfrm>
          <a:prstGeom prst="rect">
            <a:avLst/>
          </a:prstGeom>
          <a:solidFill>
            <a:srgbClr val="FFFF99"/>
          </a:solidFill>
        </p:spPr>
        <p:txBody>
          <a:bodyPr wrap="square" rtlCol="0">
            <a:spAutoFit/>
          </a:bodyPr>
          <a:lstStyle/>
          <a:p>
            <a:r>
              <a:rPr lang="en-US" sz="2200" b="1" dirty="0">
                <a:latin typeface="Courier New" panose="02070309020205020404" pitchFamily="49" charset="0"/>
                <a:cs typeface="Courier New" panose="02070309020205020404" pitchFamily="49" charset="0"/>
              </a:rPr>
              <a:t>List of recommended products based on previous interests</a:t>
            </a:r>
          </a:p>
        </p:txBody>
      </p:sp>
      <p:sp>
        <p:nvSpPr>
          <p:cNvPr id="7" name="TextBox 6"/>
          <p:cNvSpPr txBox="1"/>
          <p:nvPr/>
        </p:nvSpPr>
        <p:spPr>
          <a:xfrm>
            <a:off x="192887" y="2984991"/>
            <a:ext cx="4036213" cy="1292662"/>
          </a:xfrm>
          <a:prstGeom prst="rect">
            <a:avLst/>
          </a:prstGeom>
          <a:noFill/>
        </p:spPr>
        <p:txBody>
          <a:bodyPr wrap="square" rtlCol="0">
            <a:spAutoFit/>
          </a:bodyPr>
          <a:lstStyle/>
          <a:p>
            <a:pPr marL="285750" indent="-285750">
              <a:buFont typeface="Arial" panose="020B0604020202020204" pitchFamily="34" charset="0"/>
              <a:buChar char="•"/>
            </a:pPr>
            <a:r>
              <a:rPr lang="en-US" sz="2600" dirty="0"/>
              <a:t>Finds the main information about a company from its reports</a:t>
            </a:r>
          </a:p>
        </p:txBody>
      </p:sp>
      <p:sp>
        <p:nvSpPr>
          <p:cNvPr id="8" name="TextBox 7"/>
          <p:cNvSpPr txBox="1"/>
          <p:nvPr/>
        </p:nvSpPr>
        <p:spPr>
          <a:xfrm>
            <a:off x="5545137" y="2615135"/>
            <a:ext cx="2680501" cy="1446550"/>
          </a:xfrm>
          <a:prstGeom prst="rect">
            <a:avLst/>
          </a:prstGeom>
          <a:solidFill>
            <a:srgbClr val="FFFF99"/>
          </a:solidFill>
        </p:spPr>
        <p:txBody>
          <a:bodyPr wrap="square" rtlCol="0">
            <a:spAutoFit/>
          </a:bodyPr>
          <a:lstStyle/>
          <a:p>
            <a:r>
              <a:rPr lang="en-US" sz="2200" b="1" dirty="0">
                <a:latin typeface="Courier New" panose="02070309020205020404" pitchFamily="49" charset="0"/>
                <a:cs typeface="Courier New" panose="02070309020205020404" pitchFamily="49" charset="0"/>
              </a:rPr>
              <a:t>CEO </a:t>
            </a:r>
          </a:p>
          <a:p>
            <a:r>
              <a:rPr lang="en-US" sz="2200" b="1" dirty="0">
                <a:latin typeface="Courier New" panose="02070309020205020404" pitchFamily="49" charset="0"/>
                <a:cs typeface="Courier New" panose="02070309020205020404" pitchFamily="49" charset="0"/>
              </a:rPr>
              <a:t>Headquarters Board Members</a:t>
            </a:r>
          </a:p>
          <a:p>
            <a:r>
              <a:rPr lang="en-US" sz="2200" b="1" dirty="0">
                <a:latin typeface="Courier New" panose="02070309020205020404" pitchFamily="49" charset="0"/>
                <a:cs typeface="Courier New" panose="02070309020205020404" pitchFamily="49" charset="0"/>
              </a:rPr>
              <a:t>Profits</a:t>
            </a:r>
          </a:p>
        </p:txBody>
      </p:sp>
      <p:sp>
        <p:nvSpPr>
          <p:cNvPr id="11" name="TextBox 10"/>
          <p:cNvSpPr txBox="1"/>
          <p:nvPr/>
        </p:nvSpPr>
        <p:spPr>
          <a:xfrm>
            <a:off x="192886" y="1249195"/>
            <a:ext cx="4268569" cy="1292662"/>
          </a:xfrm>
          <a:prstGeom prst="rect">
            <a:avLst/>
          </a:prstGeom>
          <a:noFill/>
        </p:spPr>
        <p:txBody>
          <a:bodyPr wrap="square" rtlCol="0">
            <a:spAutoFit/>
          </a:bodyPr>
          <a:lstStyle/>
          <a:p>
            <a:pPr marL="285750" indent="-285750">
              <a:buFont typeface="Arial" panose="020B0604020202020204" pitchFamily="34" charset="0"/>
              <a:buChar char="•"/>
            </a:pPr>
            <a:r>
              <a:rPr lang="en-US" sz="2600" dirty="0"/>
              <a:t>Classifies content for news providers, creating more efficient search algorithms. </a:t>
            </a:r>
          </a:p>
        </p:txBody>
      </p:sp>
      <p:sp>
        <p:nvSpPr>
          <p:cNvPr id="12" name="TextBox 11"/>
          <p:cNvSpPr txBox="1"/>
          <p:nvPr/>
        </p:nvSpPr>
        <p:spPr>
          <a:xfrm>
            <a:off x="5571621" y="1172251"/>
            <a:ext cx="2462213" cy="1107996"/>
          </a:xfrm>
          <a:prstGeom prst="rect">
            <a:avLst/>
          </a:prstGeom>
          <a:solidFill>
            <a:srgbClr val="FFFF99"/>
          </a:solidFill>
        </p:spPr>
        <p:txBody>
          <a:bodyPr wrap="square" rtlCol="0">
            <a:spAutoFit/>
          </a:bodyPr>
          <a:lstStyle/>
          <a:p>
            <a:r>
              <a:rPr lang="en-US" sz="2200" b="1" dirty="0">
                <a:latin typeface="Courier New" panose="02070309020205020404" pitchFamily="49" charset="0"/>
                <a:cs typeface="Courier New" panose="02070309020205020404" pitchFamily="49" charset="0"/>
              </a:rPr>
              <a:t>People </a:t>
            </a:r>
          </a:p>
          <a:p>
            <a:r>
              <a:rPr lang="en-US" sz="2200" b="1" dirty="0">
                <a:latin typeface="Courier New" panose="02070309020205020404" pitchFamily="49" charset="0"/>
                <a:cs typeface="Courier New" panose="02070309020205020404" pitchFamily="49" charset="0"/>
              </a:rPr>
              <a:t>Organizations</a:t>
            </a:r>
          </a:p>
          <a:p>
            <a:r>
              <a:rPr lang="en-US" sz="2200" b="1" dirty="0">
                <a:latin typeface="Courier New" panose="02070309020205020404" pitchFamily="49" charset="0"/>
                <a:cs typeface="Courier New" panose="02070309020205020404" pitchFamily="49" charset="0"/>
              </a:rPr>
              <a:t>Locations</a:t>
            </a:r>
          </a:p>
        </p:txBody>
      </p:sp>
      <p:cxnSp>
        <p:nvCxnSpPr>
          <p:cNvPr id="14" name="Straight Arrow Connector 13"/>
          <p:cNvCxnSpPr/>
          <p:nvPr/>
        </p:nvCxnSpPr>
        <p:spPr>
          <a:xfrm>
            <a:off x="4648200" y="3317804"/>
            <a:ext cx="508000"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648200" y="4956104"/>
            <a:ext cx="508000"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648200" y="1781104"/>
            <a:ext cx="508000"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065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Uses of NER (cont.)</a:t>
            </a:r>
          </a:p>
        </p:txBody>
      </p:sp>
      <p:sp>
        <p:nvSpPr>
          <p:cNvPr id="5" name="TextBox 4"/>
          <p:cNvSpPr txBox="1"/>
          <p:nvPr/>
        </p:nvSpPr>
        <p:spPr>
          <a:xfrm>
            <a:off x="107950" y="2222566"/>
            <a:ext cx="7664450" cy="907941"/>
          </a:xfrm>
          <a:prstGeom prst="rect">
            <a:avLst/>
          </a:prstGeom>
          <a:noFill/>
        </p:spPr>
        <p:txBody>
          <a:bodyPr wrap="square" rtlCol="0">
            <a:spAutoFit/>
          </a:bodyPr>
          <a:lstStyle/>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600" dirty="0"/>
          </a:p>
        </p:txBody>
      </p:sp>
      <p:sp>
        <p:nvSpPr>
          <p:cNvPr id="6" name="Rectangle 5"/>
          <p:cNvSpPr/>
          <p:nvPr/>
        </p:nvSpPr>
        <p:spPr>
          <a:xfrm>
            <a:off x="229835" y="1357841"/>
            <a:ext cx="4621565" cy="1292662"/>
          </a:xfrm>
          <a:prstGeom prst="rect">
            <a:avLst/>
          </a:prstGeom>
        </p:spPr>
        <p:txBody>
          <a:bodyPr wrap="square">
            <a:spAutoFit/>
          </a:bodyPr>
          <a:lstStyle/>
          <a:p>
            <a:pPr marL="285750" indent="-285750">
              <a:buFont typeface="Arial" panose="020B0604020202020204" pitchFamily="34" charset="0"/>
              <a:buChar char="•"/>
            </a:pPr>
            <a:r>
              <a:rPr lang="en-US" sz="2600" dirty="0"/>
              <a:t>Locates relevant information in research (such as biomedical journal articles)</a:t>
            </a:r>
          </a:p>
        </p:txBody>
      </p:sp>
      <p:sp>
        <p:nvSpPr>
          <p:cNvPr id="7" name="TextBox 6"/>
          <p:cNvSpPr txBox="1"/>
          <p:nvPr/>
        </p:nvSpPr>
        <p:spPr>
          <a:xfrm>
            <a:off x="5593732" y="1476207"/>
            <a:ext cx="2477118" cy="1200329"/>
          </a:xfrm>
          <a:prstGeom prst="rect">
            <a:avLst/>
          </a:prstGeom>
          <a:solidFill>
            <a:srgbClr val="FFFF99"/>
          </a:solidFill>
        </p:spPr>
        <p:txBody>
          <a:bodyPr wrap="square" rtlCol="0">
            <a:spAutoFit/>
          </a:bodyPr>
          <a:lstStyle/>
          <a:p>
            <a:r>
              <a:rPr lang="en-US" sz="2400" b="1" dirty="0">
                <a:latin typeface="Courier New" panose="02070309020205020404" pitchFamily="49" charset="0"/>
                <a:cs typeface="Courier New" panose="02070309020205020404" pitchFamily="49" charset="0"/>
              </a:rPr>
              <a:t>Drug names</a:t>
            </a:r>
          </a:p>
          <a:p>
            <a:r>
              <a:rPr lang="en-US" sz="2400" b="1" dirty="0">
                <a:latin typeface="Courier New" panose="02070309020205020404" pitchFamily="49" charset="0"/>
                <a:cs typeface="Courier New" panose="02070309020205020404" pitchFamily="49" charset="0"/>
              </a:rPr>
              <a:t>Genes</a:t>
            </a:r>
          </a:p>
          <a:p>
            <a:r>
              <a:rPr lang="en-US" sz="2400" b="1" dirty="0">
                <a:latin typeface="Courier New" panose="02070309020205020404" pitchFamily="49" charset="0"/>
                <a:cs typeface="Courier New" panose="02070309020205020404" pitchFamily="49" charset="0"/>
              </a:rPr>
              <a:t>Diseases</a:t>
            </a:r>
          </a:p>
        </p:txBody>
      </p:sp>
      <p:sp>
        <p:nvSpPr>
          <p:cNvPr id="9" name="TextBox 8"/>
          <p:cNvSpPr txBox="1"/>
          <p:nvPr/>
        </p:nvSpPr>
        <p:spPr>
          <a:xfrm>
            <a:off x="299068" y="2940601"/>
            <a:ext cx="4050065" cy="1292662"/>
          </a:xfrm>
          <a:prstGeom prst="rect">
            <a:avLst/>
          </a:prstGeom>
          <a:noFill/>
        </p:spPr>
        <p:txBody>
          <a:bodyPr wrap="square" rtlCol="0">
            <a:spAutoFit/>
          </a:bodyPr>
          <a:lstStyle/>
          <a:p>
            <a:pPr marL="285750" indent="-285750">
              <a:buFont typeface="Arial" panose="020B0604020202020204" pitchFamily="34" charset="0"/>
              <a:buChar char="•"/>
            </a:pPr>
            <a:r>
              <a:rPr lang="en-US" sz="2600" dirty="0"/>
              <a:t>Finds the target of positive or negative sentiment in sentiment analysis</a:t>
            </a:r>
          </a:p>
        </p:txBody>
      </p:sp>
      <p:sp>
        <p:nvSpPr>
          <p:cNvPr id="10" name="TextBox 9"/>
          <p:cNvSpPr txBox="1"/>
          <p:nvPr/>
        </p:nvSpPr>
        <p:spPr>
          <a:xfrm>
            <a:off x="5593732" y="3171434"/>
            <a:ext cx="2699368" cy="830997"/>
          </a:xfrm>
          <a:prstGeom prst="rect">
            <a:avLst/>
          </a:prstGeom>
          <a:solidFill>
            <a:srgbClr val="FFFF99"/>
          </a:solidFill>
        </p:spPr>
        <p:txBody>
          <a:bodyPr wrap="square" rtlCol="0">
            <a:spAutoFit/>
          </a:bodyPr>
          <a:lstStyle/>
          <a:p>
            <a:r>
              <a:rPr lang="en-US" sz="2400" b="1" dirty="0">
                <a:latin typeface="Courier New" panose="02070309020205020404" pitchFamily="49" charset="0"/>
                <a:cs typeface="Courier New" panose="02070309020205020404" pitchFamily="49" charset="0"/>
              </a:rPr>
              <a:t>Brand names</a:t>
            </a:r>
          </a:p>
          <a:p>
            <a:r>
              <a:rPr lang="en-US" sz="2400" b="1" dirty="0">
                <a:latin typeface="Courier New" panose="02070309020205020404" pitchFamily="49" charset="0"/>
                <a:cs typeface="Courier New" panose="02070309020205020404" pitchFamily="49" charset="0"/>
              </a:rPr>
              <a:t>Company names</a:t>
            </a:r>
          </a:p>
        </p:txBody>
      </p:sp>
      <p:sp>
        <p:nvSpPr>
          <p:cNvPr id="11" name="TextBox 10"/>
          <p:cNvSpPr txBox="1"/>
          <p:nvPr/>
        </p:nvSpPr>
        <p:spPr>
          <a:xfrm>
            <a:off x="276182" y="4457342"/>
            <a:ext cx="4050065" cy="1292662"/>
          </a:xfrm>
          <a:prstGeom prst="rect">
            <a:avLst/>
          </a:prstGeom>
          <a:noFill/>
        </p:spPr>
        <p:txBody>
          <a:bodyPr wrap="square" rtlCol="0">
            <a:spAutoFit/>
          </a:bodyPr>
          <a:lstStyle/>
          <a:p>
            <a:pPr marL="285750" indent="-285750">
              <a:buFont typeface="Arial" panose="020B0604020202020204" pitchFamily="34" charset="0"/>
              <a:buChar char="•"/>
            </a:pPr>
            <a:r>
              <a:rPr lang="en-US" sz="2600" dirty="0"/>
              <a:t>Used as a component of question answering (QA) systems</a:t>
            </a:r>
          </a:p>
        </p:txBody>
      </p:sp>
      <p:sp>
        <p:nvSpPr>
          <p:cNvPr id="12" name="TextBox 11"/>
          <p:cNvSpPr txBox="1"/>
          <p:nvPr/>
        </p:nvSpPr>
        <p:spPr>
          <a:xfrm>
            <a:off x="5571507" y="4549675"/>
            <a:ext cx="3188318" cy="1200329"/>
          </a:xfrm>
          <a:prstGeom prst="rect">
            <a:avLst/>
          </a:prstGeom>
          <a:solidFill>
            <a:srgbClr val="FFFF99"/>
          </a:solidFill>
        </p:spPr>
        <p:txBody>
          <a:bodyPr wrap="square" rtlCol="0">
            <a:spAutoFit/>
          </a:bodyPr>
          <a:lstStyle/>
          <a:p>
            <a:r>
              <a:rPr lang="en-US" sz="2400" b="1" dirty="0">
                <a:latin typeface="Courier New" panose="02070309020205020404" pitchFamily="49" charset="0"/>
                <a:cs typeface="Courier New" panose="02070309020205020404" pitchFamily="49" charset="0"/>
              </a:rPr>
              <a:t>Factoid answers (e.g., Names, Dates, Amounts)</a:t>
            </a:r>
          </a:p>
        </p:txBody>
      </p:sp>
      <p:cxnSp>
        <p:nvCxnSpPr>
          <p:cNvPr id="14" name="Straight Arrow Connector 13"/>
          <p:cNvCxnSpPr/>
          <p:nvPr/>
        </p:nvCxnSpPr>
        <p:spPr>
          <a:xfrm>
            <a:off x="4686300" y="2027144"/>
            <a:ext cx="508000"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648200" y="3597204"/>
            <a:ext cx="508000"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648200" y="4798172"/>
            <a:ext cx="508000"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900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59468" y="-229351"/>
            <a:ext cx="8225064" cy="1325563"/>
          </a:xfrm>
        </p:spPr>
        <p:txBody>
          <a:bodyPr/>
          <a:lstStyle/>
          <a:p>
            <a:r>
              <a:rPr lang="en-US" b="1" dirty="0"/>
              <a:t>NER: Starting with Tokenization</a:t>
            </a:r>
          </a:p>
        </p:txBody>
      </p:sp>
      <p:sp>
        <p:nvSpPr>
          <p:cNvPr id="3" name="Content Placeholder 2"/>
          <p:cNvSpPr>
            <a:spLocks noGrp="1"/>
          </p:cNvSpPr>
          <p:nvPr>
            <p:ph idx="1"/>
          </p:nvPr>
        </p:nvSpPr>
        <p:spPr>
          <a:xfrm>
            <a:off x="459468" y="905713"/>
            <a:ext cx="7617732" cy="2218488"/>
          </a:xfrm>
        </p:spPr>
        <p:txBody>
          <a:bodyPr>
            <a:noAutofit/>
          </a:bodyPr>
          <a:lstStyle/>
          <a:p>
            <a:r>
              <a:rPr lang="en-US" dirty="0"/>
              <a:t>Tokenization is the process of converting a sequence of characters (such as a newspaper article) into a sequence of tokens. Tokens are typically the individual words, but they may also be sentences, phrases, or even syllables.</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734" y="3199019"/>
            <a:ext cx="8684532" cy="2511834"/>
          </a:xfrm>
          <a:prstGeom prst="rect">
            <a:avLst/>
          </a:prstGeom>
        </p:spPr>
      </p:pic>
    </p:spTree>
    <p:extLst>
      <p:ext uri="{BB962C8B-B14F-4D97-AF65-F5344CB8AC3E}">
        <p14:creationId xmlns:p14="http://schemas.microsoft.com/office/powerpoint/2010/main" val="208603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59468" y="-229351"/>
            <a:ext cx="8225064" cy="1325563"/>
          </a:xfrm>
        </p:spPr>
        <p:txBody>
          <a:bodyPr/>
          <a:lstStyle/>
          <a:p>
            <a:r>
              <a:rPr lang="en-US" b="1" dirty="0"/>
              <a:t>What is a Feature?</a:t>
            </a:r>
          </a:p>
        </p:txBody>
      </p:sp>
      <p:sp>
        <p:nvSpPr>
          <p:cNvPr id="3" name="Content Placeholder 2"/>
          <p:cNvSpPr>
            <a:spLocks noGrp="1"/>
          </p:cNvSpPr>
          <p:nvPr>
            <p:ph idx="1"/>
          </p:nvPr>
        </p:nvSpPr>
        <p:spPr>
          <a:xfrm>
            <a:off x="736600" y="804112"/>
            <a:ext cx="7947932" cy="5393488"/>
          </a:xfrm>
        </p:spPr>
        <p:txBody>
          <a:bodyPr>
            <a:noAutofit/>
          </a:bodyPr>
          <a:lstStyle/>
          <a:p>
            <a:pPr marL="0" indent="0">
              <a:buNone/>
            </a:pPr>
            <a:r>
              <a:rPr lang="en-US" sz="2700" dirty="0"/>
              <a:t>A feature is an aspect of the token stream you want your classification system to use in its NER decision making. Some common features used in NER classification include:</a:t>
            </a:r>
            <a:br>
              <a:rPr lang="en-US" sz="2700" dirty="0"/>
            </a:br>
            <a:endParaRPr lang="en-US" sz="2700" dirty="0"/>
          </a:p>
          <a:p>
            <a:r>
              <a:rPr lang="en-US" sz="2700" dirty="0"/>
              <a:t>Wordshape</a:t>
            </a:r>
          </a:p>
          <a:p>
            <a:r>
              <a:rPr lang="en-US" sz="2700" dirty="0"/>
              <a:t>Part of speech (POS) tagging</a:t>
            </a:r>
          </a:p>
          <a:p>
            <a:r>
              <a:rPr lang="en-US" sz="2700" dirty="0"/>
              <a:t>Prefixes/suffixes </a:t>
            </a:r>
          </a:p>
          <a:p>
            <a:r>
              <a:rPr lang="en-US" altLang="en-US" sz="2700" dirty="0"/>
              <a:t>Current word, previous word, next word, and words within a window</a:t>
            </a:r>
          </a:p>
          <a:p>
            <a:r>
              <a:rPr lang="en-US" altLang="en-US" sz="2700" dirty="0"/>
              <a:t>Document-level features such as multiple occurrences and meta-information</a:t>
            </a:r>
          </a:p>
          <a:p>
            <a:endParaRPr lang="en-US" dirty="0"/>
          </a:p>
        </p:txBody>
      </p:sp>
    </p:spTree>
    <p:extLst>
      <p:ext uri="{BB962C8B-B14F-4D97-AF65-F5344CB8AC3E}">
        <p14:creationId xmlns:p14="http://schemas.microsoft.com/office/powerpoint/2010/main" val="3398651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59468" y="-229351"/>
            <a:ext cx="8225064" cy="1325563"/>
          </a:xfrm>
        </p:spPr>
        <p:txBody>
          <a:bodyPr/>
          <a:lstStyle/>
          <a:p>
            <a:r>
              <a:rPr lang="en-US" b="1" dirty="0"/>
              <a:t>Features Used in NER:  Wordshape </a:t>
            </a:r>
          </a:p>
        </p:txBody>
      </p:sp>
      <p:sp>
        <p:nvSpPr>
          <p:cNvPr id="3" name="Content Placeholder 2"/>
          <p:cNvSpPr>
            <a:spLocks noGrp="1"/>
          </p:cNvSpPr>
          <p:nvPr>
            <p:ph idx="1"/>
          </p:nvPr>
        </p:nvSpPr>
        <p:spPr>
          <a:xfrm>
            <a:off x="268968" y="1096212"/>
            <a:ext cx="3972832" cy="4453687"/>
          </a:xfrm>
        </p:spPr>
        <p:txBody>
          <a:bodyPr>
            <a:noAutofit/>
          </a:bodyPr>
          <a:lstStyle/>
          <a:p>
            <a:r>
              <a:rPr lang="en-US" dirty="0"/>
              <a:t>Wordshape refers to the orthographic features such as capitalization or the use of digits or special characters. </a:t>
            </a:r>
            <a:br>
              <a:rPr lang="en-US" dirty="0"/>
            </a:br>
            <a:endParaRPr lang="en-US" dirty="0"/>
          </a:p>
          <a:p>
            <a:r>
              <a:rPr lang="en-US" dirty="0"/>
              <a:t>A process for mapping wordshape uses upper and lower-case Xs for letters, “d” for digits, and maintains the special characters. </a:t>
            </a:r>
          </a:p>
          <a:p>
            <a:pPr marL="0" indent="0">
              <a:buNone/>
            </a:pPr>
            <a:endParaRPr lang="en-US" dirty="0"/>
          </a:p>
        </p:txBody>
      </p:sp>
      <p:sp>
        <p:nvSpPr>
          <p:cNvPr id="6" name="TextBox 5"/>
          <p:cNvSpPr txBox="1"/>
          <p:nvPr/>
        </p:nvSpPr>
        <p:spPr>
          <a:xfrm>
            <a:off x="5689600" y="1096212"/>
            <a:ext cx="3068864" cy="4466388"/>
          </a:xfrm>
          <a:prstGeom prst="rect">
            <a:avLst/>
          </a:prstGeom>
          <a:noFill/>
        </p:spPr>
        <p:txBody>
          <a:bodyPr wrap="square" rtlCol="0">
            <a:spAutoFit/>
          </a:bodyPr>
          <a:lstStyle/>
          <a:p>
            <a:endParaRPr lang="en-US" dirty="0"/>
          </a:p>
        </p:txBody>
      </p:sp>
      <p:sp>
        <p:nvSpPr>
          <p:cNvPr id="7" name="TextBox 6"/>
          <p:cNvSpPr txBox="1"/>
          <p:nvPr/>
        </p:nvSpPr>
        <p:spPr>
          <a:xfrm>
            <a:off x="4876800" y="1096212"/>
            <a:ext cx="4267200" cy="4678204"/>
          </a:xfrm>
          <a:prstGeom prst="rect">
            <a:avLst/>
          </a:prstGeom>
          <a:noFill/>
        </p:spPr>
        <p:txBody>
          <a:bodyPr wrap="square" rtlCol="0">
            <a:spAutoFit/>
          </a:bodyPr>
          <a:lstStyle/>
          <a:p>
            <a:r>
              <a:rPr lang="en-US" sz="2800" b="1" u="sng" dirty="0">
                <a:latin typeface="Courier New" panose="02070309020205020404" pitchFamily="49" charset="0"/>
                <a:cs typeface="Courier New" panose="02070309020205020404" pitchFamily="49" charset="0"/>
              </a:rPr>
              <a:t> 	  	Wordshape</a:t>
            </a:r>
          </a:p>
          <a:p>
            <a:r>
              <a:rPr lang="en-US" sz="2800" b="1" dirty="0">
                <a:latin typeface="Courier New" panose="02070309020205020404" pitchFamily="49" charset="0"/>
                <a:cs typeface="Courier New" panose="02070309020205020404" pitchFamily="49" charset="0"/>
              </a:rPr>
              <a:t>IBM		XXX</a:t>
            </a:r>
          </a:p>
          <a:p>
            <a:r>
              <a:rPr lang="en-US" sz="2800" b="1" dirty="0">
                <a:latin typeface="Courier New" panose="02070309020205020404" pitchFamily="49" charset="0"/>
                <a:cs typeface="Courier New" panose="02070309020205020404" pitchFamily="49" charset="0"/>
              </a:rPr>
              <a:t>FileNet	XxxxXxx</a:t>
            </a:r>
          </a:p>
          <a:p>
            <a:r>
              <a:rPr lang="en-US" sz="2800" b="1" dirty="0">
                <a:latin typeface="Courier New" panose="02070309020205020404" pitchFamily="49" charset="0"/>
                <a:cs typeface="Courier New" panose="02070309020205020404" pitchFamily="49" charset="0"/>
              </a:rPr>
              <a:t>iPad		xXxx</a:t>
            </a:r>
          </a:p>
          <a:p>
            <a:r>
              <a:rPr lang="en-US" sz="2800" b="1" dirty="0">
                <a:latin typeface="Courier New" panose="02070309020205020404" pitchFamily="49" charset="0"/>
                <a:cs typeface="Courier New" panose="02070309020205020404" pitchFamily="49" charset="0"/>
              </a:rPr>
              <a:t>Jack		Xxxx</a:t>
            </a:r>
          </a:p>
          <a:p>
            <a:r>
              <a:rPr lang="en-US" sz="2800" b="1" dirty="0">
                <a:latin typeface="Courier New" panose="02070309020205020404" pitchFamily="49" charset="0"/>
                <a:cs typeface="Courier New" panose="02070309020205020404" pitchFamily="49" charset="0"/>
              </a:rPr>
              <a:t>O’Niell	X’Xxxxx</a:t>
            </a:r>
          </a:p>
          <a:p>
            <a:r>
              <a:rPr lang="en-US" sz="2800" b="1" dirty="0">
                <a:latin typeface="Courier New" panose="02070309020205020404" pitchFamily="49" charset="0"/>
                <a:cs typeface="Courier New" panose="02070309020205020404" pitchFamily="49" charset="0"/>
              </a:rPr>
              <a:t>U.K.		X.X.</a:t>
            </a:r>
          </a:p>
          <a:p>
            <a:r>
              <a:rPr lang="en-US" sz="2800" b="1" dirty="0">
                <a:latin typeface="Courier New" panose="02070309020205020404" pitchFamily="49" charset="0"/>
                <a:cs typeface="Courier New" panose="02070309020205020404" pitchFamily="49" charset="0"/>
              </a:rPr>
              <a:t>DC-10	XX-dd</a:t>
            </a:r>
          </a:p>
          <a:p>
            <a:r>
              <a:rPr lang="en-US" sz="2800" b="1" dirty="0">
                <a:latin typeface="Courier New" panose="02070309020205020404" pitchFamily="49" charset="0"/>
                <a:cs typeface="Courier New" panose="02070309020205020404" pitchFamily="49" charset="0"/>
              </a:rPr>
              <a:t>12:04	dd:dd</a:t>
            </a:r>
          </a:p>
          <a:p>
            <a:r>
              <a:rPr lang="en-US" sz="2800" b="1" dirty="0">
                <a:latin typeface="Courier New" panose="02070309020205020404" pitchFamily="49" charset="0"/>
                <a:cs typeface="Courier New" panose="02070309020205020404" pitchFamily="49" charset="0"/>
              </a:rPr>
              <a:t>$100.00	$ddd.dd</a:t>
            </a:r>
          </a:p>
          <a:p>
            <a:endParaRPr lang="en-US" dirty="0"/>
          </a:p>
        </p:txBody>
      </p:sp>
    </p:spTree>
    <p:extLst>
      <p:ext uri="{BB962C8B-B14F-4D97-AF65-F5344CB8AC3E}">
        <p14:creationId xmlns:p14="http://schemas.microsoft.com/office/powerpoint/2010/main" val="3289589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Approaches to NER</a:t>
            </a:r>
          </a:p>
        </p:txBody>
      </p:sp>
      <p:sp>
        <p:nvSpPr>
          <p:cNvPr id="5" name="TextBox 4"/>
          <p:cNvSpPr txBox="1"/>
          <p:nvPr/>
        </p:nvSpPr>
        <p:spPr>
          <a:xfrm>
            <a:off x="340178" y="1201676"/>
            <a:ext cx="8067222" cy="5647700"/>
          </a:xfrm>
          <a:prstGeom prst="rect">
            <a:avLst/>
          </a:prstGeom>
          <a:noFill/>
        </p:spPr>
        <p:txBody>
          <a:bodyPr wrap="square" rtlCol="0">
            <a:spAutoFit/>
          </a:bodyPr>
          <a:lstStyle/>
          <a:p>
            <a:pPr marL="457200" indent="-457200">
              <a:buFont typeface="Arial" panose="020B0604020202020204" pitchFamily="34" charset="0"/>
              <a:buChar char="•"/>
            </a:pPr>
            <a:r>
              <a:rPr lang="en-US" sz="2700" b="1" dirty="0"/>
              <a:t>Rule-based</a:t>
            </a:r>
            <a:r>
              <a:rPr lang="en-US" sz="2700" dirty="0"/>
              <a:t>: Uses </a:t>
            </a:r>
            <a:r>
              <a:rPr lang="en-US" sz="2800" dirty="0"/>
              <a:t>hand-coding software routines with instructions defined by human experts relying upon grammar conventions. Employs pattern-matching techniques in the text. Can be labor-intensive and costly. Often produces good results for domain-specific text (e.g., medical articles).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Rule example: “If a capitalized word follows a person’s title (i.e., Mr., Mrs., Ms., Miss), that capitalized word is classified as a person.”</a:t>
            </a:r>
          </a:p>
          <a:p>
            <a:endParaRPr lang="en-US" sz="2800" dirty="0"/>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2176681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Approaches to NER (cont.)</a:t>
            </a:r>
          </a:p>
        </p:txBody>
      </p:sp>
      <p:sp>
        <p:nvSpPr>
          <p:cNvPr id="5" name="TextBox 4"/>
          <p:cNvSpPr txBox="1"/>
          <p:nvPr/>
        </p:nvSpPr>
        <p:spPr>
          <a:xfrm>
            <a:off x="628650" y="1084263"/>
            <a:ext cx="8041822" cy="6509474"/>
          </a:xfrm>
          <a:prstGeom prst="rect">
            <a:avLst/>
          </a:prstGeom>
          <a:noFill/>
        </p:spPr>
        <p:txBody>
          <a:bodyPr wrap="square" rtlCol="0">
            <a:spAutoFit/>
          </a:bodyPr>
          <a:lstStyle/>
          <a:p>
            <a:pPr marL="457200" indent="-457200">
              <a:buFont typeface="Arial" panose="020B0604020202020204" pitchFamily="34" charset="0"/>
              <a:buChar char="•"/>
            </a:pPr>
            <a:r>
              <a:rPr lang="en-US" sz="2800" b="1" dirty="0"/>
              <a:t>Gazetteer-based</a:t>
            </a:r>
            <a:r>
              <a:rPr lang="en-US" sz="2800" dirty="0"/>
              <a:t>: A gazetteer is a s</a:t>
            </a:r>
            <a:r>
              <a:rPr lang="en-US" altLang="en-US" sz="2800" dirty="0"/>
              <a:t>et of lists containing names of entities such as cities, countries, organizations, days of the week, proteins, genes, etc. </a:t>
            </a:r>
          </a:p>
          <a:p>
            <a:pPr marL="457200" indent="-457200">
              <a:buFont typeface="Arial" panose="020B0604020202020204" pitchFamily="34" charset="0"/>
              <a:buChar char="•"/>
            </a:pPr>
            <a:endParaRPr lang="en-US" altLang="en-US" sz="2800" dirty="0"/>
          </a:p>
          <a:p>
            <a:pPr marL="457200" indent="-457200">
              <a:buFont typeface="Arial" panose="020B0604020202020204" pitchFamily="34" charset="0"/>
              <a:buChar char="•"/>
            </a:pPr>
            <a:r>
              <a:rPr lang="en-US" altLang="en-US" sz="2800" dirty="0"/>
              <a:t>A gazetteer is usually used in conjunction with other methods.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accuracy of this approach is dependent on the completeness of the gazetteer. One challenge of NER is that new names are coined all the time. </a:t>
            </a:r>
          </a:p>
          <a:p>
            <a:endParaRPr lang="en-US" sz="2800" dirty="0"/>
          </a:p>
          <a:p>
            <a:endParaRPr lang="en-US" sz="2800" dirty="0"/>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1730389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Approaches to NER (cont.)</a:t>
            </a:r>
          </a:p>
        </p:txBody>
      </p:sp>
      <p:sp>
        <p:nvSpPr>
          <p:cNvPr id="3" name="Content Placeholder 2"/>
          <p:cNvSpPr>
            <a:spLocks noGrp="1"/>
          </p:cNvSpPr>
          <p:nvPr>
            <p:ph idx="1"/>
          </p:nvPr>
        </p:nvSpPr>
        <p:spPr>
          <a:xfrm>
            <a:off x="628650" y="916563"/>
            <a:ext cx="7886700" cy="4755415"/>
          </a:xfrm>
        </p:spPr>
        <p:txBody>
          <a:bodyPr>
            <a:noAutofit/>
          </a:bodyPr>
          <a:lstStyle/>
          <a:p>
            <a:pPr marL="0" indent="0">
              <a:buNone/>
            </a:pPr>
            <a:endParaRPr lang="en-US" dirty="0"/>
          </a:p>
          <a:p>
            <a:r>
              <a:rPr lang="en-US" sz="2700" b="1" dirty="0"/>
              <a:t>Machine learning</a:t>
            </a:r>
            <a:r>
              <a:rPr lang="en-US" sz="2700" dirty="0"/>
              <a:t>: the computer uses statistical models and feature identification to make predictions about named entities in text. </a:t>
            </a:r>
          </a:p>
          <a:p>
            <a:pPr marL="0" indent="0">
              <a:buNone/>
            </a:pPr>
            <a:endParaRPr lang="en-US" sz="2700" dirty="0"/>
          </a:p>
          <a:p>
            <a:r>
              <a:rPr lang="en-US" sz="2700" dirty="0"/>
              <a:t>Many different statistical methods can be used in machine learning. Conditional random fields (CRFs) models are often preferred for NER because they combine the ability to compactly model multivariate outputs “y” with the ability to leverage a large quantity of input features “x” for prediction. </a:t>
            </a:r>
          </a:p>
        </p:txBody>
      </p:sp>
      <p:sp>
        <p:nvSpPr>
          <p:cNvPr id="5" name="TextBox 4"/>
          <p:cNvSpPr txBox="1"/>
          <p:nvPr/>
        </p:nvSpPr>
        <p:spPr>
          <a:xfrm>
            <a:off x="942975" y="916563"/>
            <a:ext cx="6517368" cy="492443"/>
          </a:xfrm>
          <a:prstGeom prst="rect">
            <a:avLst/>
          </a:prstGeom>
          <a:noFill/>
        </p:spPr>
        <p:txBody>
          <a:bodyPr wrap="square" rtlCol="0">
            <a:spAutoFit/>
          </a:bodyPr>
          <a:lstStyle/>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3870452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62779"/>
            <a:ext cx="7886700" cy="1325563"/>
          </a:xfrm>
        </p:spPr>
        <p:txBody>
          <a:bodyPr/>
          <a:lstStyle/>
          <a:p>
            <a:r>
              <a:rPr lang="en-US" b="1" dirty="0"/>
              <a:t>Some Approaches to NER (cont.)</a:t>
            </a:r>
          </a:p>
        </p:txBody>
      </p:sp>
      <p:sp>
        <p:nvSpPr>
          <p:cNvPr id="3" name="Content Placeholder 2"/>
          <p:cNvSpPr>
            <a:spLocks noGrp="1"/>
          </p:cNvSpPr>
          <p:nvPr>
            <p:ph idx="1"/>
          </p:nvPr>
        </p:nvSpPr>
        <p:spPr>
          <a:xfrm>
            <a:off x="419100" y="916563"/>
            <a:ext cx="8096250" cy="4755415"/>
          </a:xfrm>
        </p:spPr>
        <p:txBody>
          <a:bodyPr>
            <a:noAutofit/>
          </a:bodyPr>
          <a:lstStyle/>
          <a:p>
            <a:pPr marL="0" indent="0">
              <a:buNone/>
            </a:pPr>
            <a:endParaRPr lang="en-US" dirty="0"/>
          </a:p>
          <a:p>
            <a:r>
              <a:rPr lang="en-US" sz="2700" dirty="0"/>
              <a:t>Machine learning algorithms process features from the training data to automatically determine patterns for recognizing similar information from unseen data.</a:t>
            </a:r>
            <a:br>
              <a:rPr lang="en-US" sz="2700" dirty="0"/>
            </a:br>
            <a:endParaRPr lang="en-US" sz="2700" dirty="0"/>
          </a:p>
          <a:p>
            <a:r>
              <a:rPr lang="en-US" sz="2700" dirty="0"/>
              <a:t>For example, the system could induce that a capitalized word directly following the word “in” is statistically much more likely to be a location rather than a person. </a:t>
            </a:r>
            <a:br>
              <a:rPr lang="en-US" sz="2700" dirty="0"/>
            </a:br>
            <a:endParaRPr lang="en-US" sz="2700" dirty="0"/>
          </a:p>
          <a:p>
            <a:r>
              <a:rPr lang="en-US" sz="2700" dirty="0"/>
              <a:t>Machine learning approaches can be supervised, semi-supervised, or unsupervised. </a:t>
            </a:r>
          </a:p>
        </p:txBody>
      </p:sp>
      <p:sp>
        <p:nvSpPr>
          <p:cNvPr id="5" name="TextBox 4"/>
          <p:cNvSpPr txBox="1"/>
          <p:nvPr/>
        </p:nvSpPr>
        <p:spPr>
          <a:xfrm>
            <a:off x="942975" y="916563"/>
            <a:ext cx="6517368" cy="492443"/>
          </a:xfrm>
          <a:prstGeom prst="rect">
            <a:avLst/>
          </a:prstGeom>
          <a:noFill/>
        </p:spPr>
        <p:txBody>
          <a:bodyPr wrap="square" rtlCol="0">
            <a:spAutoFit/>
          </a:bodyPr>
          <a:lstStyle/>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2055301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Approaches to NER (cont.)</a:t>
            </a:r>
          </a:p>
        </p:txBody>
      </p:sp>
      <p:sp>
        <p:nvSpPr>
          <p:cNvPr id="3" name="Content Placeholder 2"/>
          <p:cNvSpPr>
            <a:spLocks noGrp="1"/>
          </p:cNvSpPr>
          <p:nvPr>
            <p:ph idx="1"/>
          </p:nvPr>
        </p:nvSpPr>
        <p:spPr>
          <a:xfrm>
            <a:off x="819150" y="1384300"/>
            <a:ext cx="7886700" cy="5473700"/>
          </a:xfrm>
        </p:spPr>
        <p:txBody>
          <a:bodyPr>
            <a:noAutofit/>
          </a:bodyPr>
          <a:lstStyle/>
          <a:p>
            <a:r>
              <a:rPr lang="en-US" dirty="0"/>
              <a:t>In supervised machine learning, the computer is trained upon a corpus of text that has already been annotated with the correct NER classifications. </a:t>
            </a:r>
            <a:br>
              <a:rPr lang="en-US" dirty="0"/>
            </a:br>
            <a:endParaRPr lang="en-US" dirty="0"/>
          </a:p>
          <a:p>
            <a:r>
              <a:rPr lang="en-US" dirty="0"/>
              <a:t>In semi-supervised machine learning a small set of seed examples of correct NER classifications are used. </a:t>
            </a:r>
            <a:br>
              <a:rPr lang="en-US" dirty="0"/>
            </a:br>
            <a:endParaRPr lang="en-US" dirty="0"/>
          </a:p>
          <a:p>
            <a:r>
              <a:rPr lang="en-US" dirty="0"/>
              <a:t>In unsupervised machine learning, the training set has not been pre-annotated with the correct NER classifications. </a:t>
            </a:r>
            <a:br>
              <a:rPr lang="en-US" dirty="0"/>
            </a:b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9890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Some Approaches to NER (cont.)</a:t>
            </a:r>
          </a:p>
        </p:txBody>
      </p:sp>
      <p:sp>
        <p:nvSpPr>
          <p:cNvPr id="3" name="Content Placeholder 2"/>
          <p:cNvSpPr>
            <a:spLocks noGrp="1"/>
          </p:cNvSpPr>
          <p:nvPr>
            <p:ph idx="1"/>
          </p:nvPr>
        </p:nvSpPr>
        <p:spPr>
          <a:xfrm>
            <a:off x="628650" y="584200"/>
            <a:ext cx="7886700" cy="5473700"/>
          </a:xfrm>
        </p:spPr>
        <p:txBody>
          <a:bodyPr>
            <a:noAutofit/>
          </a:bodyPr>
          <a:lstStyle/>
          <a:p>
            <a:pPr marL="0" indent="0">
              <a:buNone/>
            </a:pPr>
            <a:endParaRPr lang="en-US" dirty="0"/>
          </a:p>
          <a:p>
            <a:endParaRPr lang="en-US" dirty="0"/>
          </a:p>
          <a:p>
            <a:r>
              <a:rPr lang="en-US" dirty="0"/>
              <a:t>In all cases of machine learning, accuracy is higher when the training set is large and the test set is very similar to the training set. </a:t>
            </a:r>
          </a:p>
          <a:p>
            <a:endParaRPr lang="en-US" dirty="0"/>
          </a:p>
          <a:p>
            <a:r>
              <a:rPr lang="en-US" dirty="0"/>
              <a:t>This method typically does not generalize well to new domains. </a:t>
            </a:r>
          </a:p>
          <a:p>
            <a:pPr marL="0" indent="0">
              <a:buNone/>
            </a:pPr>
            <a:br>
              <a:rPr lang="en-US" dirty="0"/>
            </a:br>
            <a:endParaRPr lang="en-US" dirty="0"/>
          </a:p>
          <a:p>
            <a:pPr marL="0" indent="0">
              <a:buNone/>
            </a:pPr>
            <a:endParaRPr lang="en-US" dirty="0"/>
          </a:p>
          <a:p>
            <a:pPr marL="0" indent="0">
              <a:buNone/>
            </a:pPr>
            <a:endParaRPr lang="en-US" dirty="0"/>
          </a:p>
        </p:txBody>
      </p:sp>
      <p:sp>
        <p:nvSpPr>
          <p:cNvPr id="5" name="TextBox 4"/>
          <p:cNvSpPr txBox="1"/>
          <p:nvPr/>
        </p:nvSpPr>
        <p:spPr>
          <a:xfrm>
            <a:off x="942975" y="916563"/>
            <a:ext cx="6517368" cy="492443"/>
          </a:xfrm>
          <a:prstGeom prst="rect">
            <a:avLst/>
          </a:prstGeom>
          <a:noFill/>
        </p:spPr>
        <p:txBody>
          <a:bodyPr wrap="square" rtlCol="0">
            <a:spAutoFit/>
          </a:bodyPr>
          <a:lstStyle/>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3142945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35429" y="0"/>
            <a:ext cx="8261627" cy="1351563"/>
          </a:xfrm>
        </p:spPr>
        <p:txBody>
          <a:bodyPr/>
          <a:lstStyle/>
          <a:p>
            <a:r>
              <a:rPr lang="en-US" b="1" dirty="0"/>
              <a:t>Some Approaches to NER (cont.)</a:t>
            </a:r>
          </a:p>
        </p:txBody>
      </p:sp>
      <p:sp>
        <p:nvSpPr>
          <p:cNvPr id="10" name="TextBox 9"/>
          <p:cNvSpPr txBox="1"/>
          <p:nvPr/>
        </p:nvSpPr>
        <p:spPr>
          <a:xfrm>
            <a:off x="916667" y="1581013"/>
            <a:ext cx="7225847" cy="369332"/>
          </a:xfrm>
          <a:prstGeom prst="rect">
            <a:avLst/>
          </a:prstGeom>
          <a:noFill/>
        </p:spPr>
        <p:txBody>
          <a:bodyPr wrap="square" rtlCol="0">
            <a:spAutoFit/>
          </a:bodyPr>
          <a:lstStyle/>
          <a:p>
            <a:endParaRPr lang="en-US" dirty="0"/>
          </a:p>
        </p:txBody>
      </p:sp>
      <p:grpSp>
        <p:nvGrpSpPr>
          <p:cNvPr id="5" name="Group 4"/>
          <p:cNvGrpSpPr/>
          <p:nvPr/>
        </p:nvGrpSpPr>
        <p:grpSpPr>
          <a:xfrm>
            <a:off x="6064694" y="1581013"/>
            <a:ext cx="2193925" cy="2673307"/>
            <a:chOff x="1317625" y="1866874"/>
            <a:chExt cx="2193925" cy="2673307"/>
          </a:xfrm>
        </p:grpSpPr>
        <p:sp>
          <p:nvSpPr>
            <p:cNvPr id="6" name="Oval 5"/>
            <p:cNvSpPr/>
            <p:nvPr/>
          </p:nvSpPr>
          <p:spPr>
            <a:xfrm>
              <a:off x="1339850" y="18668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1339850" y="23113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327150" y="2718032"/>
              <a:ext cx="190500" cy="2159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p:cNvSpPr/>
            <p:nvPr/>
          </p:nvSpPr>
          <p:spPr>
            <a:xfrm>
              <a:off x="1339850" y="3092398"/>
              <a:ext cx="190500" cy="2159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p:cNvSpPr/>
            <p:nvPr/>
          </p:nvSpPr>
          <p:spPr>
            <a:xfrm>
              <a:off x="1339850" y="3454348"/>
              <a:ext cx="190500" cy="215900"/>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p:cNvSpPr/>
            <p:nvPr/>
          </p:nvSpPr>
          <p:spPr>
            <a:xfrm>
              <a:off x="1317625" y="384781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1339850" y="4324281"/>
              <a:ext cx="190500" cy="2159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p:cNvSpPr/>
            <p:nvPr/>
          </p:nvSpPr>
          <p:spPr>
            <a:xfrm>
              <a:off x="1981200" y="2133425"/>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2016125" y="2552401"/>
              <a:ext cx="190500" cy="215900"/>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2016125" y="2971748"/>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p:cNvSpPr/>
            <p:nvPr/>
          </p:nvSpPr>
          <p:spPr>
            <a:xfrm>
              <a:off x="2000250" y="3396854"/>
              <a:ext cx="190500" cy="2159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2000250" y="3784116"/>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2527300" y="2177712"/>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527300" y="25653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520950" y="2984441"/>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2520950" y="3365396"/>
              <a:ext cx="190500" cy="2159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2540000" y="3771985"/>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3321050" y="27050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3321050" y="3086074"/>
              <a:ext cx="190500" cy="215900"/>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3321050" y="346694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p:cNvSpPr/>
            <p:nvPr/>
          </p:nvSpPr>
          <p:spPr>
            <a:xfrm>
              <a:off x="3321050" y="3847814"/>
              <a:ext cx="190500" cy="2159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2000250" y="4178670"/>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2540000" y="4108381"/>
              <a:ext cx="190500" cy="215900"/>
            </a:xfrm>
            <a:prstGeom prst="ellipse">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Connector 29"/>
            <p:cNvCxnSpPr>
              <a:stCxn id="6" idx="6"/>
            </p:cNvCxnSpPr>
            <p:nvPr/>
          </p:nvCxnSpPr>
          <p:spPr>
            <a:xfrm>
              <a:off x="1530350" y="1974824"/>
              <a:ext cx="450850" cy="26655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6" idx="6"/>
              <a:endCxn id="15" idx="3"/>
            </p:cNvCxnSpPr>
            <p:nvPr/>
          </p:nvCxnSpPr>
          <p:spPr>
            <a:xfrm>
              <a:off x="1530350" y="1974824"/>
              <a:ext cx="513673" cy="7618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7" idx="5"/>
              <a:endCxn id="16" idx="1"/>
            </p:cNvCxnSpPr>
            <p:nvPr/>
          </p:nvCxnSpPr>
          <p:spPr>
            <a:xfrm>
              <a:off x="1502452" y="2495656"/>
              <a:ext cx="541571" cy="507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7" idx="5"/>
              <a:endCxn id="14" idx="1"/>
            </p:cNvCxnSpPr>
            <p:nvPr/>
          </p:nvCxnSpPr>
          <p:spPr>
            <a:xfrm flipV="1">
              <a:off x="1502452" y="2165043"/>
              <a:ext cx="506646" cy="330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endCxn id="16" idx="2"/>
            </p:cNvCxnSpPr>
            <p:nvPr/>
          </p:nvCxnSpPr>
          <p:spPr>
            <a:xfrm>
              <a:off x="1416388" y="1880901"/>
              <a:ext cx="599737" cy="11987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6" idx="2"/>
              <a:endCxn id="17" idx="2"/>
            </p:cNvCxnSpPr>
            <p:nvPr/>
          </p:nvCxnSpPr>
          <p:spPr>
            <a:xfrm>
              <a:off x="1339850" y="1974824"/>
              <a:ext cx="660400" cy="1529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6" idx="2"/>
              <a:endCxn id="18" idx="3"/>
            </p:cNvCxnSpPr>
            <p:nvPr/>
          </p:nvCxnSpPr>
          <p:spPr>
            <a:xfrm>
              <a:off x="1339850" y="1974824"/>
              <a:ext cx="688298" cy="19935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6" idx="2"/>
            </p:cNvCxnSpPr>
            <p:nvPr/>
          </p:nvCxnSpPr>
          <p:spPr>
            <a:xfrm>
              <a:off x="1339850" y="1974824"/>
              <a:ext cx="755650" cy="243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7" idx="6"/>
              <a:endCxn id="15" idx="0"/>
            </p:cNvCxnSpPr>
            <p:nvPr/>
          </p:nvCxnSpPr>
          <p:spPr>
            <a:xfrm>
              <a:off x="1530350" y="2419324"/>
              <a:ext cx="581025" cy="133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7" idx="6"/>
              <a:endCxn id="16" idx="4"/>
            </p:cNvCxnSpPr>
            <p:nvPr/>
          </p:nvCxnSpPr>
          <p:spPr>
            <a:xfrm>
              <a:off x="1530350" y="2419324"/>
              <a:ext cx="581025" cy="7683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7" idx="6"/>
              <a:endCxn id="17" idx="0"/>
            </p:cNvCxnSpPr>
            <p:nvPr/>
          </p:nvCxnSpPr>
          <p:spPr>
            <a:xfrm>
              <a:off x="1530350" y="2419324"/>
              <a:ext cx="565150" cy="97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367176" y="2394493"/>
              <a:ext cx="823002" cy="1549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7" idx="6"/>
              <a:endCxn id="28" idx="1"/>
            </p:cNvCxnSpPr>
            <p:nvPr/>
          </p:nvCxnSpPr>
          <p:spPr>
            <a:xfrm>
              <a:off x="1530350" y="2419324"/>
              <a:ext cx="497798" cy="1790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8" idx="6"/>
              <a:endCxn id="14" idx="7"/>
            </p:cNvCxnSpPr>
            <p:nvPr/>
          </p:nvCxnSpPr>
          <p:spPr>
            <a:xfrm flipV="1">
              <a:off x="1517650" y="2165043"/>
              <a:ext cx="626152" cy="6609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8" idx="6"/>
              <a:endCxn id="15" idx="2"/>
            </p:cNvCxnSpPr>
            <p:nvPr/>
          </p:nvCxnSpPr>
          <p:spPr>
            <a:xfrm flipV="1">
              <a:off x="1517650" y="2660351"/>
              <a:ext cx="498475" cy="1656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8" idx="6"/>
              <a:endCxn id="16" idx="6"/>
            </p:cNvCxnSpPr>
            <p:nvPr/>
          </p:nvCxnSpPr>
          <p:spPr>
            <a:xfrm>
              <a:off x="1517650" y="2825982"/>
              <a:ext cx="688975" cy="25371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9" idx="6"/>
              <a:endCxn id="17" idx="0"/>
            </p:cNvCxnSpPr>
            <p:nvPr/>
          </p:nvCxnSpPr>
          <p:spPr>
            <a:xfrm>
              <a:off x="1530350" y="3200348"/>
              <a:ext cx="565150" cy="196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8" idx="4"/>
              <a:endCxn id="17" idx="0"/>
            </p:cNvCxnSpPr>
            <p:nvPr/>
          </p:nvCxnSpPr>
          <p:spPr>
            <a:xfrm>
              <a:off x="1422400" y="2933932"/>
              <a:ext cx="673100" cy="4629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8" idx="4"/>
              <a:endCxn id="18" idx="5"/>
            </p:cNvCxnSpPr>
            <p:nvPr/>
          </p:nvCxnSpPr>
          <p:spPr>
            <a:xfrm>
              <a:off x="1422400" y="2933932"/>
              <a:ext cx="740452" cy="1034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8" idx="6"/>
              <a:endCxn id="28" idx="5"/>
            </p:cNvCxnSpPr>
            <p:nvPr/>
          </p:nvCxnSpPr>
          <p:spPr>
            <a:xfrm>
              <a:off x="1517650" y="2825982"/>
              <a:ext cx="645202" cy="15369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9" idx="6"/>
              <a:endCxn id="14" idx="0"/>
            </p:cNvCxnSpPr>
            <p:nvPr/>
          </p:nvCxnSpPr>
          <p:spPr>
            <a:xfrm flipV="1">
              <a:off x="1530350" y="2133425"/>
              <a:ext cx="546100" cy="10669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9" idx="7"/>
              <a:endCxn id="15" idx="3"/>
            </p:cNvCxnSpPr>
            <p:nvPr/>
          </p:nvCxnSpPr>
          <p:spPr>
            <a:xfrm flipV="1">
              <a:off x="1502452" y="2736683"/>
              <a:ext cx="541571" cy="3873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9" idx="4"/>
              <a:endCxn id="18" idx="1"/>
            </p:cNvCxnSpPr>
            <p:nvPr/>
          </p:nvCxnSpPr>
          <p:spPr>
            <a:xfrm>
              <a:off x="1435100" y="3308298"/>
              <a:ext cx="593048" cy="507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9" idx="4"/>
              <a:endCxn id="28" idx="5"/>
            </p:cNvCxnSpPr>
            <p:nvPr/>
          </p:nvCxnSpPr>
          <p:spPr>
            <a:xfrm>
              <a:off x="1435100" y="3308298"/>
              <a:ext cx="727752" cy="1054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1" idx="6"/>
              <a:endCxn id="14" idx="0"/>
            </p:cNvCxnSpPr>
            <p:nvPr/>
          </p:nvCxnSpPr>
          <p:spPr>
            <a:xfrm flipV="1">
              <a:off x="1530350" y="2133425"/>
              <a:ext cx="546100" cy="142887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12" idx="5"/>
              <a:endCxn id="15" idx="4"/>
            </p:cNvCxnSpPr>
            <p:nvPr/>
          </p:nvCxnSpPr>
          <p:spPr>
            <a:xfrm flipV="1">
              <a:off x="1480227" y="2768301"/>
              <a:ext cx="631148" cy="1263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endCxn id="16" idx="0"/>
            </p:cNvCxnSpPr>
            <p:nvPr/>
          </p:nvCxnSpPr>
          <p:spPr>
            <a:xfrm flipV="1">
              <a:off x="1526837" y="2971748"/>
              <a:ext cx="584538" cy="977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a:endCxn id="17" idx="2"/>
            </p:cNvCxnSpPr>
            <p:nvPr/>
          </p:nvCxnSpPr>
          <p:spPr>
            <a:xfrm flipV="1">
              <a:off x="1345523" y="3504804"/>
              <a:ext cx="654727" cy="4228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435100" y="3873228"/>
              <a:ext cx="749977" cy="362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12" idx="6"/>
              <a:endCxn id="18" idx="7"/>
            </p:cNvCxnSpPr>
            <p:nvPr/>
          </p:nvCxnSpPr>
          <p:spPr>
            <a:xfrm flipV="1">
              <a:off x="1508125" y="3815734"/>
              <a:ext cx="654727" cy="140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13" idx="6"/>
              <a:endCxn id="14" idx="0"/>
            </p:cNvCxnSpPr>
            <p:nvPr/>
          </p:nvCxnSpPr>
          <p:spPr>
            <a:xfrm flipV="1">
              <a:off x="1530350" y="2133425"/>
              <a:ext cx="546100" cy="22988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7"/>
              <a:endCxn id="15" idx="3"/>
            </p:cNvCxnSpPr>
            <p:nvPr/>
          </p:nvCxnSpPr>
          <p:spPr>
            <a:xfrm flipV="1">
              <a:off x="1502452" y="2736683"/>
              <a:ext cx="541571" cy="16192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13" idx="6"/>
              <a:endCxn id="16" idx="0"/>
            </p:cNvCxnSpPr>
            <p:nvPr/>
          </p:nvCxnSpPr>
          <p:spPr>
            <a:xfrm flipV="1">
              <a:off x="1530350" y="2971748"/>
              <a:ext cx="581025" cy="14604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13" idx="6"/>
              <a:endCxn id="17" idx="3"/>
            </p:cNvCxnSpPr>
            <p:nvPr/>
          </p:nvCxnSpPr>
          <p:spPr>
            <a:xfrm flipV="1">
              <a:off x="1530350" y="3581136"/>
              <a:ext cx="497798" cy="851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3" idx="6"/>
              <a:endCxn id="18" idx="2"/>
            </p:cNvCxnSpPr>
            <p:nvPr/>
          </p:nvCxnSpPr>
          <p:spPr>
            <a:xfrm flipV="1">
              <a:off x="1530350" y="3892066"/>
              <a:ext cx="469900" cy="5401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13" idx="5"/>
            </p:cNvCxnSpPr>
            <p:nvPr/>
          </p:nvCxnSpPr>
          <p:spPr>
            <a:xfrm flipV="1">
              <a:off x="1502452" y="4222989"/>
              <a:ext cx="535898" cy="285574"/>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14" idx="6"/>
              <a:endCxn id="19" idx="1"/>
            </p:cNvCxnSpPr>
            <p:nvPr/>
          </p:nvCxnSpPr>
          <p:spPr>
            <a:xfrm flipV="1">
              <a:off x="2171700" y="2209330"/>
              <a:ext cx="383498" cy="32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14" idx="7"/>
              <a:endCxn id="20" idx="2"/>
            </p:cNvCxnSpPr>
            <p:nvPr/>
          </p:nvCxnSpPr>
          <p:spPr>
            <a:xfrm>
              <a:off x="2143802" y="2165043"/>
              <a:ext cx="383498" cy="508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15" idx="6"/>
              <a:endCxn id="21" idx="3"/>
            </p:cNvCxnSpPr>
            <p:nvPr/>
          </p:nvCxnSpPr>
          <p:spPr>
            <a:xfrm>
              <a:off x="2206625" y="2660351"/>
              <a:ext cx="342223" cy="508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180315" y="2614569"/>
              <a:ext cx="348573" cy="89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a:endCxn id="19" idx="2"/>
            </p:cNvCxnSpPr>
            <p:nvPr/>
          </p:nvCxnSpPr>
          <p:spPr>
            <a:xfrm flipV="1">
              <a:off x="2219325" y="2285662"/>
              <a:ext cx="307975" cy="371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4" idx="7"/>
            </p:cNvCxnSpPr>
            <p:nvPr/>
          </p:nvCxnSpPr>
          <p:spPr>
            <a:xfrm>
              <a:off x="2143802" y="2165043"/>
              <a:ext cx="485098" cy="1028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14" idx="6"/>
              <a:endCxn id="22" idx="2"/>
            </p:cNvCxnSpPr>
            <p:nvPr/>
          </p:nvCxnSpPr>
          <p:spPr>
            <a:xfrm>
              <a:off x="2171700" y="2241375"/>
              <a:ext cx="349250" cy="1231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14" idx="5"/>
            </p:cNvCxnSpPr>
            <p:nvPr/>
          </p:nvCxnSpPr>
          <p:spPr>
            <a:xfrm>
              <a:off x="2143802" y="2317707"/>
              <a:ext cx="472398" cy="1682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4" idx="0"/>
            </p:cNvCxnSpPr>
            <p:nvPr/>
          </p:nvCxnSpPr>
          <p:spPr>
            <a:xfrm>
              <a:off x="2076450" y="2133425"/>
              <a:ext cx="622300" cy="2000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15" idx="5"/>
            </p:cNvCxnSpPr>
            <p:nvPr/>
          </p:nvCxnSpPr>
          <p:spPr>
            <a:xfrm>
              <a:off x="2178727" y="2736683"/>
              <a:ext cx="383498" cy="690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16" idx="5"/>
              <a:endCxn id="19" idx="1"/>
            </p:cNvCxnSpPr>
            <p:nvPr/>
          </p:nvCxnSpPr>
          <p:spPr>
            <a:xfrm flipV="1">
              <a:off x="2178727" y="2209330"/>
              <a:ext cx="376471" cy="946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16" idx="5"/>
              <a:endCxn id="20" idx="2"/>
            </p:cNvCxnSpPr>
            <p:nvPr/>
          </p:nvCxnSpPr>
          <p:spPr>
            <a:xfrm flipV="1">
              <a:off x="2178727" y="2673324"/>
              <a:ext cx="348573" cy="482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6" idx="6"/>
              <a:endCxn id="21" idx="5"/>
            </p:cNvCxnSpPr>
            <p:nvPr/>
          </p:nvCxnSpPr>
          <p:spPr>
            <a:xfrm>
              <a:off x="2206625" y="3079698"/>
              <a:ext cx="476927" cy="89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16" idx="7"/>
              <a:endCxn id="22" idx="1"/>
            </p:cNvCxnSpPr>
            <p:nvPr/>
          </p:nvCxnSpPr>
          <p:spPr>
            <a:xfrm>
              <a:off x="2178727" y="3003366"/>
              <a:ext cx="370121" cy="393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128499" y="2971631"/>
              <a:ext cx="428625" cy="908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16" idx="1"/>
              <a:endCxn id="29" idx="1"/>
            </p:cNvCxnSpPr>
            <p:nvPr/>
          </p:nvCxnSpPr>
          <p:spPr>
            <a:xfrm>
              <a:off x="2044023" y="3003366"/>
              <a:ext cx="523875" cy="1136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17" idx="7"/>
              <a:endCxn id="19" idx="7"/>
            </p:cNvCxnSpPr>
            <p:nvPr/>
          </p:nvCxnSpPr>
          <p:spPr>
            <a:xfrm flipV="1">
              <a:off x="2162852" y="2209330"/>
              <a:ext cx="527050" cy="1219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7" idx="6"/>
              <a:endCxn id="20" idx="7"/>
            </p:cNvCxnSpPr>
            <p:nvPr/>
          </p:nvCxnSpPr>
          <p:spPr>
            <a:xfrm flipV="1">
              <a:off x="2190750" y="2596992"/>
              <a:ext cx="499152" cy="907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17" idx="1"/>
              <a:endCxn id="21" idx="7"/>
            </p:cNvCxnSpPr>
            <p:nvPr/>
          </p:nvCxnSpPr>
          <p:spPr>
            <a:xfrm flipV="1">
              <a:off x="2028148" y="3016059"/>
              <a:ext cx="655404" cy="412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7" idx="7"/>
              <a:endCxn id="22" idx="2"/>
            </p:cNvCxnSpPr>
            <p:nvPr/>
          </p:nvCxnSpPr>
          <p:spPr>
            <a:xfrm>
              <a:off x="2162852" y="3428472"/>
              <a:ext cx="358098" cy="44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7" idx="7"/>
              <a:endCxn id="23" idx="6"/>
            </p:cNvCxnSpPr>
            <p:nvPr/>
          </p:nvCxnSpPr>
          <p:spPr>
            <a:xfrm>
              <a:off x="2162852" y="3428472"/>
              <a:ext cx="567648" cy="451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7" idx="6"/>
              <a:endCxn id="29" idx="0"/>
            </p:cNvCxnSpPr>
            <p:nvPr/>
          </p:nvCxnSpPr>
          <p:spPr>
            <a:xfrm>
              <a:off x="2190750" y="3504804"/>
              <a:ext cx="444500" cy="603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8" idx="7"/>
              <a:endCxn id="19" idx="0"/>
            </p:cNvCxnSpPr>
            <p:nvPr/>
          </p:nvCxnSpPr>
          <p:spPr>
            <a:xfrm flipV="1">
              <a:off x="2162852" y="2177712"/>
              <a:ext cx="459698" cy="1638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8" idx="1"/>
              <a:endCxn id="20" idx="5"/>
            </p:cNvCxnSpPr>
            <p:nvPr/>
          </p:nvCxnSpPr>
          <p:spPr>
            <a:xfrm flipV="1">
              <a:off x="2028148" y="2749656"/>
              <a:ext cx="661754" cy="1066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8" idx="3"/>
              <a:endCxn id="21" idx="7"/>
            </p:cNvCxnSpPr>
            <p:nvPr/>
          </p:nvCxnSpPr>
          <p:spPr>
            <a:xfrm flipV="1">
              <a:off x="2028148" y="3016059"/>
              <a:ext cx="655404" cy="95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8" idx="4"/>
              <a:endCxn id="22" idx="2"/>
            </p:cNvCxnSpPr>
            <p:nvPr/>
          </p:nvCxnSpPr>
          <p:spPr>
            <a:xfrm flipV="1">
              <a:off x="2095500" y="3473346"/>
              <a:ext cx="425450" cy="526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8" idx="6"/>
              <a:endCxn id="23" idx="2"/>
            </p:cNvCxnSpPr>
            <p:nvPr/>
          </p:nvCxnSpPr>
          <p:spPr>
            <a:xfrm flipV="1">
              <a:off x="2190750" y="3879935"/>
              <a:ext cx="349250" cy="12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8" idx="0"/>
              <a:endCxn id="29" idx="2"/>
            </p:cNvCxnSpPr>
            <p:nvPr/>
          </p:nvCxnSpPr>
          <p:spPr>
            <a:xfrm>
              <a:off x="2095500" y="3784116"/>
              <a:ext cx="444500" cy="432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28" idx="7"/>
              <a:endCxn id="19" idx="0"/>
            </p:cNvCxnSpPr>
            <p:nvPr/>
          </p:nvCxnSpPr>
          <p:spPr>
            <a:xfrm flipV="1">
              <a:off x="2162852" y="2177712"/>
              <a:ext cx="459698" cy="2032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28" idx="3"/>
              <a:endCxn id="20" idx="3"/>
            </p:cNvCxnSpPr>
            <p:nvPr/>
          </p:nvCxnSpPr>
          <p:spPr>
            <a:xfrm flipV="1">
              <a:off x="2028148" y="2749656"/>
              <a:ext cx="527050" cy="1613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28" idx="6"/>
              <a:endCxn id="21" idx="2"/>
            </p:cNvCxnSpPr>
            <p:nvPr/>
          </p:nvCxnSpPr>
          <p:spPr>
            <a:xfrm flipV="1">
              <a:off x="2190750" y="3092391"/>
              <a:ext cx="330200" cy="1194229"/>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28" idx="6"/>
              <a:endCxn id="22" idx="3"/>
            </p:cNvCxnSpPr>
            <p:nvPr/>
          </p:nvCxnSpPr>
          <p:spPr>
            <a:xfrm flipV="1">
              <a:off x="2190750" y="3549678"/>
              <a:ext cx="358098" cy="736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28" idx="2"/>
              <a:endCxn id="23" idx="3"/>
            </p:cNvCxnSpPr>
            <p:nvPr/>
          </p:nvCxnSpPr>
          <p:spPr>
            <a:xfrm flipV="1">
              <a:off x="2000250" y="3956267"/>
              <a:ext cx="567648" cy="330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28" idx="5"/>
              <a:endCxn id="29" idx="1"/>
            </p:cNvCxnSpPr>
            <p:nvPr/>
          </p:nvCxnSpPr>
          <p:spPr>
            <a:xfrm flipV="1">
              <a:off x="2162852" y="4139999"/>
              <a:ext cx="405046" cy="222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9" idx="6"/>
              <a:endCxn id="24" idx="3"/>
            </p:cNvCxnSpPr>
            <p:nvPr/>
          </p:nvCxnSpPr>
          <p:spPr>
            <a:xfrm>
              <a:off x="2717800" y="2285662"/>
              <a:ext cx="631148" cy="6036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9" idx="7"/>
              <a:endCxn id="25" idx="1"/>
            </p:cNvCxnSpPr>
            <p:nvPr/>
          </p:nvCxnSpPr>
          <p:spPr>
            <a:xfrm>
              <a:off x="2689902" y="2209330"/>
              <a:ext cx="659046" cy="9083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9" idx="6"/>
              <a:endCxn id="26" idx="5"/>
            </p:cNvCxnSpPr>
            <p:nvPr/>
          </p:nvCxnSpPr>
          <p:spPr>
            <a:xfrm>
              <a:off x="2717800" y="2285662"/>
              <a:ext cx="765852" cy="1365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19" idx="5"/>
              <a:endCxn id="27" idx="2"/>
            </p:cNvCxnSpPr>
            <p:nvPr/>
          </p:nvCxnSpPr>
          <p:spPr>
            <a:xfrm>
              <a:off x="2689902" y="2361994"/>
              <a:ext cx="631148" cy="15937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20" idx="6"/>
              <a:endCxn id="24" idx="7"/>
            </p:cNvCxnSpPr>
            <p:nvPr/>
          </p:nvCxnSpPr>
          <p:spPr>
            <a:xfrm>
              <a:off x="2717800" y="2673324"/>
              <a:ext cx="765852" cy="633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a:endCxn id="25" idx="1"/>
            </p:cNvCxnSpPr>
            <p:nvPr/>
          </p:nvCxnSpPr>
          <p:spPr>
            <a:xfrm>
              <a:off x="2642225" y="2616651"/>
              <a:ext cx="706723" cy="501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20" idx="4"/>
              <a:endCxn id="26" idx="2"/>
            </p:cNvCxnSpPr>
            <p:nvPr/>
          </p:nvCxnSpPr>
          <p:spPr>
            <a:xfrm>
              <a:off x="2622550" y="2781274"/>
              <a:ext cx="698500" cy="793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20" idx="2"/>
              <a:endCxn id="27" idx="0"/>
            </p:cNvCxnSpPr>
            <p:nvPr/>
          </p:nvCxnSpPr>
          <p:spPr>
            <a:xfrm>
              <a:off x="2527300" y="2673324"/>
              <a:ext cx="889000" cy="1174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21" idx="5"/>
              <a:endCxn id="24" idx="6"/>
            </p:cNvCxnSpPr>
            <p:nvPr/>
          </p:nvCxnSpPr>
          <p:spPr>
            <a:xfrm flipV="1">
              <a:off x="2683552" y="2813024"/>
              <a:ext cx="827998" cy="355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21" idx="4"/>
              <a:endCxn id="25" idx="2"/>
            </p:cNvCxnSpPr>
            <p:nvPr/>
          </p:nvCxnSpPr>
          <p:spPr>
            <a:xfrm flipV="1">
              <a:off x="2616200" y="3194024"/>
              <a:ext cx="704850" cy="6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21" idx="3"/>
              <a:endCxn id="26" idx="6"/>
            </p:cNvCxnSpPr>
            <p:nvPr/>
          </p:nvCxnSpPr>
          <p:spPr>
            <a:xfrm>
              <a:off x="2548848" y="3168723"/>
              <a:ext cx="962702" cy="4061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21" idx="6"/>
              <a:endCxn id="27" idx="7"/>
            </p:cNvCxnSpPr>
            <p:nvPr/>
          </p:nvCxnSpPr>
          <p:spPr>
            <a:xfrm>
              <a:off x="2711450" y="3092391"/>
              <a:ext cx="772202" cy="787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22" idx="7"/>
              <a:endCxn id="24" idx="3"/>
            </p:cNvCxnSpPr>
            <p:nvPr/>
          </p:nvCxnSpPr>
          <p:spPr>
            <a:xfrm flipV="1">
              <a:off x="2683552" y="2889356"/>
              <a:ext cx="665396" cy="507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22" idx="6"/>
              <a:endCxn id="25" idx="2"/>
            </p:cNvCxnSpPr>
            <p:nvPr/>
          </p:nvCxnSpPr>
          <p:spPr>
            <a:xfrm flipV="1">
              <a:off x="2711450" y="3194024"/>
              <a:ext cx="609600" cy="279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22" idx="5"/>
              <a:endCxn id="26" idx="6"/>
            </p:cNvCxnSpPr>
            <p:nvPr/>
          </p:nvCxnSpPr>
          <p:spPr>
            <a:xfrm>
              <a:off x="2683552" y="3549678"/>
              <a:ext cx="827998" cy="252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22" idx="6"/>
              <a:endCxn id="27" idx="7"/>
            </p:cNvCxnSpPr>
            <p:nvPr/>
          </p:nvCxnSpPr>
          <p:spPr>
            <a:xfrm>
              <a:off x="2711450" y="3473346"/>
              <a:ext cx="772202" cy="406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23" idx="3"/>
              <a:endCxn id="24" idx="7"/>
            </p:cNvCxnSpPr>
            <p:nvPr/>
          </p:nvCxnSpPr>
          <p:spPr>
            <a:xfrm flipV="1">
              <a:off x="2567898" y="2736692"/>
              <a:ext cx="915754" cy="1219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23" idx="6"/>
              <a:endCxn id="25" idx="3"/>
            </p:cNvCxnSpPr>
            <p:nvPr/>
          </p:nvCxnSpPr>
          <p:spPr>
            <a:xfrm flipV="1">
              <a:off x="2730500" y="3270356"/>
              <a:ext cx="618448" cy="6095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23" idx="7"/>
              <a:endCxn id="26" idx="6"/>
            </p:cNvCxnSpPr>
            <p:nvPr/>
          </p:nvCxnSpPr>
          <p:spPr>
            <a:xfrm flipV="1">
              <a:off x="2702602" y="3574894"/>
              <a:ext cx="808948" cy="2287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23" idx="5"/>
              <a:endCxn id="27" idx="2"/>
            </p:cNvCxnSpPr>
            <p:nvPr/>
          </p:nvCxnSpPr>
          <p:spPr>
            <a:xfrm flipV="1">
              <a:off x="2702602" y="3955764"/>
              <a:ext cx="618448" cy="5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p:cNvCxnSpPr>
              <a:stCxn id="29" idx="6"/>
              <a:endCxn id="24" idx="6"/>
            </p:cNvCxnSpPr>
            <p:nvPr/>
          </p:nvCxnSpPr>
          <p:spPr>
            <a:xfrm flipV="1">
              <a:off x="2730500" y="2813024"/>
              <a:ext cx="781050" cy="1403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p:cNvCxnSpPr>
              <a:stCxn id="29" idx="7"/>
              <a:endCxn id="25" idx="2"/>
            </p:cNvCxnSpPr>
            <p:nvPr/>
          </p:nvCxnSpPr>
          <p:spPr>
            <a:xfrm flipV="1">
              <a:off x="2702602" y="3194024"/>
              <a:ext cx="618448" cy="945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29" idx="7"/>
              <a:endCxn id="26" idx="7"/>
            </p:cNvCxnSpPr>
            <p:nvPr/>
          </p:nvCxnSpPr>
          <p:spPr>
            <a:xfrm flipV="1">
              <a:off x="2702602" y="3498562"/>
              <a:ext cx="781050" cy="64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29" idx="7"/>
              <a:endCxn id="27" idx="3"/>
            </p:cNvCxnSpPr>
            <p:nvPr/>
          </p:nvCxnSpPr>
          <p:spPr>
            <a:xfrm flipV="1">
              <a:off x="2702602" y="4032096"/>
              <a:ext cx="646346" cy="10790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407288" y="1149213"/>
            <a:ext cx="4772026"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t>Machine learning algorithms can be implemented using an artificial neural network design structure.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 </a:t>
            </a:r>
            <a:r>
              <a:rPr lang="en-US" sz="2800" b="1" dirty="0"/>
              <a:t>artificial neural network </a:t>
            </a:r>
            <a:r>
              <a:rPr lang="en-US" sz="2800" dirty="0"/>
              <a:t>is an information processing system with an operating mechanism inspired by biological neural circuits.</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1730733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4713"/>
            <a:ext cx="9144000" cy="6415100"/>
          </a:xfrm>
          <a:prstGeom prst="rect">
            <a:avLst/>
          </a:prstGeom>
        </p:spPr>
      </p:pic>
      <p:sp>
        <p:nvSpPr>
          <p:cNvPr id="2" name="Title 1"/>
          <p:cNvSpPr>
            <a:spLocks noGrp="1"/>
          </p:cNvSpPr>
          <p:nvPr>
            <p:ph type="title"/>
          </p:nvPr>
        </p:nvSpPr>
        <p:spPr>
          <a:xfrm>
            <a:off x="562429" y="-241717"/>
            <a:ext cx="8261627" cy="1351563"/>
          </a:xfrm>
        </p:spPr>
        <p:txBody>
          <a:bodyPr/>
          <a:lstStyle/>
          <a:p>
            <a:r>
              <a:rPr lang="en-US" b="1" dirty="0"/>
              <a:t>Some Approaches to NER (cont.)</a:t>
            </a:r>
          </a:p>
        </p:txBody>
      </p:sp>
      <p:sp>
        <p:nvSpPr>
          <p:cNvPr id="10" name="TextBox 9"/>
          <p:cNvSpPr txBox="1"/>
          <p:nvPr/>
        </p:nvSpPr>
        <p:spPr>
          <a:xfrm>
            <a:off x="385049" y="1467041"/>
            <a:ext cx="7225847" cy="369332"/>
          </a:xfrm>
          <a:prstGeom prst="rect">
            <a:avLst/>
          </a:prstGeom>
          <a:noFill/>
        </p:spPr>
        <p:txBody>
          <a:bodyPr wrap="square" rtlCol="0">
            <a:spAutoFit/>
          </a:bodyPr>
          <a:lstStyle/>
          <a:p>
            <a:endParaRPr lang="en-US" dirty="0"/>
          </a:p>
        </p:txBody>
      </p:sp>
      <p:grpSp>
        <p:nvGrpSpPr>
          <p:cNvPr id="5" name="Group 4"/>
          <p:cNvGrpSpPr/>
          <p:nvPr/>
        </p:nvGrpSpPr>
        <p:grpSpPr>
          <a:xfrm>
            <a:off x="5727079" y="1467041"/>
            <a:ext cx="2193925" cy="2673307"/>
            <a:chOff x="1317625" y="1866874"/>
            <a:chExt cx="2193925" cy="2673307"/>
          </a:xfrm>
        </p:grpSpPr>
        <p:sp>
          <p:nvSpPr>
            <p:cNvPr id="6" name="Oval 5"/>
            <p:cNvSpPr/>
            <p:nvPr/>
          </p:nvSpPr>
          <p:spPr>
            <a:xfrm>
              <a:off x="1339850" y="18668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1339850" y="23113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327150" y="2718032"/>
              <a:ext cx="190500" cy="2159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p:cNvSpPr/>
            <p:nvPr/>
          </p:nvSpPr>
          <p:spPr>
            <a:xfrm>
              <a:off x="1339850" y="3092398"/>
              <a:ext cx="190500" cy="2159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p:cNvSpPr/>
            <p:nvPr/>
          </p:nvSpPr>
          <p:spPr>
            <a:xfrm>
              <a:off x="1339850" y="3454348"/>
              <a:ext cx="190500" cy="215900"/>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p:cNvSpPr/>
            <p:nvPr/>
          </p:nvSpPr>
          <p:spPr>
            <a:xfrm>
              <a:off x="1317625" y="384781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1339850" y="4324281"/>
              <a:ext cx="190500" cy="2159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p:cNvSpPr/>
            <p:nvPr/>
          </p:nvSpPr>
          <p:spPr>
            <a:xfrm>
              <a:off x="1981200" y="2133425"/>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2016125" y="2552401"/>
              <a:ext cx="190500" cy="215900"/>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2016125" y="2971748"/>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p:cNvSpPr/>
            <p:nvPr/>
          </p:nvSpPr>
          <p:spPr>
            <a:xfrm>
              <a:off x="2000250" y="3396854"/>
              <a:ext cx="190500" cy="2159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2000250" y="3784116"/>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2527300" y="2177712"/>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527300" y="25653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520950" y="2984441"/>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2520950" y="3365396"/>
              <a:ext cx="190500" cy="2159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2540000" y="3771985"/>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3321050" y="270507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3321050" y="3086074"/>
              <a:ext cx="190500" cy="215900"/>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3321050" y="3466944"/>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p:cNvSpPr/>
            <p:nvPr/>
          </p:nvSpPr>
          <p:spPr>
            <a:xfrm>
              <a:off x="3321050" y="3847814"/>
              <a:ext cx="190500" cy="2159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2000250" y="4178670"/>
              <a:ext cx="1905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2540000" y="4108381"/>
              <a:ext cx="190500" cy="215900"/>
            </a:xfrm>
            <a:prstGeom prst="ellipse">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Connector 29"/>
            <p:cNvCxnSpPr>
              <a:stCxn id="6" idx="6"/>
            </p:cNvCxnSpPr>
            <p:nvPr/>
          </p:nvCxnSpPr>
          <p:spPr>
            <a:xfrm>
              <a:off x="1530350" y="1974824"/>
              <a:ext cx="450850" cy="26655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6" idx="6"/>
              <a:endCxn id="15" idx="3"/>
            </p:cNvCxnSpPr>
            <p:nvPr/>
          </p:nvCxnSpPr>
          <p:spPr>
            <a:xfrm>
              <a:off x="1530350" y="1974824"/>
              <a:ext cx="513673" cy="76185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7" idx="5"/>
              <a:endCxn id="16" idx="1"/>
            </p:cNvCxnSpPr>
            <p:nvPr/>
          </p:nvCxnSpPr>
          <p:spPr>
            <a:xfrm>
              <a:off x="1502452" y="2495656"/>
              <a:ext cx="541571" cy="507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7" idx="5"/>
              <a:endCxn id="14" idx="1"/>
            </p:cNvCxnSpPr>
            <p:nvPr/>
          </p:nvCxnSpPr>
          <p:spPr>
            <a:xfrm flipV="1">
              <a:off x="1502452" y="2165043"/>
              <a:ext cx="506646" cy="330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endCxn id="16" idx="2"/>
            </p:cNvCxnSpPr>
            <p:nvPr/>
          </p:nvCxnSpPr>
          <p:spPr>
            <a:xfrm>
              <a:off x="1416388" y="1880901"/>
              <a:ext cx="599737" cy="11987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6" idx="2"/>
              <a:endCxn id="17" idx="2"/>
            </p:cNvCxnSpPr>
            <p:nvPr/>
          </p:nvCxnSpPr>
          <p:spPr>
            <a:xfrm>
              <a:off x="1339850" y="1974824"/>
              <a:ext cx="660400" cy="1529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6" idx="2"/>
              <a:endCxn id="18" idx="3"/>
            </p:cNvCxnSpPr>
            <p:nvPr/>
          </p:nvCxnSpPr>
          <p:spPr>
            <a:xfrm>
              <a:off x="1339850" y="1974824"/>
              <a:ext cx="688298" cy="19935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6" idx="2"/>
            </p:cNvCxnSpPr>
            <p:nvPr/>
          </p:nvCxnSpPr>
          <p:spPr>
            <a:xfrm>
              <a:off x="1339850" y="1974824"/>
              <a:ext cx="755650" cy="243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7" idx="6"/>
              <a:endCxn id="15" idx="0"/>
            </p:cNvCxnSpPr>
            <p:nvPr/>
          </p:nvCxnSpPr>
          <p:spPr>
            <a:xfrm>
              <a:off x="1530350" y="2419324"/>
              <a:ext cx="581025" cy="133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7" idx="6"/>
              <a:endCxn id="16" idx="4"/>
            </p:cNvCxnSpPr>
            <p:nvPr/>
          </p:nvCxnSpPr>
          <p:spPr>
            <a:xfrm>
              <a:off x="1530350" y="2419324"/>
              <a:ext cx="581025" cy="7683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7" idx="6"/>
              <a:endCxn id="17" idx="0"/>
            </p:cNvCxnSpPr>
            <p:nvPr/>
          </p:nvCxnSpPr>
          <p:spPr>
            <a:xfrm>
              <a:off x="1530350" y="2419324"/>
              <a:ext cx="565150" cy="977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367176" y="2394493"/>
              <a:ext cx="823002" cy="1549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7" idx="6"/>
              <a:endCxn id="28" idx="1"/>
            </p:cNvCxnSpPr>
            <p:nvPr/>
          </p:nvCxnSpPr>
          <p:spPr>
            <a:xfrm>
              <a:off x="1530350" y="2419324"/>
              <a:ext cx="497798" cy="1790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8" idx="6"/>
              <a:endCxn id="14" idx="7"/>
            </p:cNvCxnSpPr>
            <p:nvPr/>
          </p:nvCxnSpPr>
          <p:spPr>
            <a:xfrm flipV="1">
              <a:off x="1517650" y="2165043"/>
              <a:ext cx="626152" cy="6609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8" idx="6"/>
              <a:endCxn id="15" idx="2"/>
            </p:cNvCxnSpPr>
            <p:nvPr/>
          </p:nvCxnSpPr>
          <p:spPr>
            <a:xfrm flipV="1">
              <a:off x="1517650" y="2660351"/>
              <a:ext cx="498475" cy="1656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8" idx="6"/>
              <a:endCxn id="16" idx="6"/>
            </p:cNvCxnSpPr>
            <p:nvPr/>
          </p:nvCxnSpPr>
          <p:spPr>
            <a:xfrm>
              <a:off x="1517650" y="2825982"/>
              <a:ext cx="688975" cy="25371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9" idx="6"/>
              <a:endCxn id="17" idx="0"/>
            </p:cNvCxnSpPr>
            <p:nvPr/>
          </p:nvCxnSpPr>
          <p:spPr>
            <a:xfrm>
              <a:off x="1530350" y="3200348"/>
              <a:ext cx="565150" cy="196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8" idx="4"/>
              <a:endCxn id="17" idx="0"/>
            </p:cNvCxnSpPr>
            <p:nvPr/>
          </p:nvCxnSpPr>
          <p:spPr>
            <a:xfrm>
              <a:off x="1422400" y="2933932"/>
              <a:ext cx="673100" cy="4629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8" idx="4"/>
              <a:endCxn id="18" idx="5"/>
            </p:cNvCxnSpPr>
            <p:nvPr/>
          </p:nvCxnSpPr>
          <p:spPr>
            <a:xfrm>
              <a:off x="1422400" y="2933932"/>
              <a:ext cx="740452" cy="1034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8" idx="6"/>
              <a:endCxn id="28" idx="5"/>
            </p:cNvCxnSpPr>
            <p:nvPr/>
          </p:nvCxnSpPr>
          <p:spPr>
            <a:xfrm>
              <a:off x="1517650" y="2825982"/>
              <a:ext cx="645202" cy="15369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9" idx="6"/>
              <a:endCxn id="14" idx="0"/>
            </p:cNvCxnSpPr>
            <p:nvPr/>
          </p:nvCxnSpPr>
          <p:spPr>
            <a:xfrm flipV="1">
              <a:off x="1530350" y="2133425"/>
              <a:ext cx="546100" cy="10669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9" idx="7"/>
              <a:endCxn id="15" idx="3"/>
            </p:cNvCxnSpPr>
            <p:nvPr/>
          </p:nvCxnSpPr>
          <p:spPr>
            <a:xfrm flipV="1">
              <a:off x="1502452" y="2736683"/>
              <a:ext cx="541571" cy="387333"/>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9" idx="4"/>
              <a:endCxn id="18" idx="1"/>
            </p:cNvCxnSpPr>
            <p:nvPr/>
          </p:nvCxnSpPr>
          <p:spPr>
            <a:xfrm>
              <a:off x="1435100" y="3308298"/>
              <a:ext cx="593048" cy="507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9" idx="4"/>
              <a:endCxn id="28" idx="5"/>
            </p:cNvCxnSpPr>
            <p:nvPr/>
          </p:nvCxnSpPr>
          <p:spPr>
            <a:xfrm>
              <a:off x="1435100" y="3308298"/>
              <a:ext cx="727752" cy="1054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1" idx="6"/>
              <a:endCxn id="14" idx="0"/>
            </p:cNvCxnSpPr>
            <p:nvPr/>
          </p:nvCxnSpPr>
          <p:spPr>
            <a:xfrm flipV="1">
              <a:off x="1530350" y="2133425"/>
              <a:ext cx="546100" cy="142887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12" idx="5"/>
              <a:endCxn id="15" idx="4"/>
            </p:cNvCxnSpPr>
            <p:nvPr/>
          </p:nvCxnSpPr>
          <p:spPr>
            <a:xfrm flipV="1">
              <a:off x="1480227" y="2768301"/>
              <a:ext cx="631148" cy="1263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endCxn id="16" idx="0"/>
            </p:cNvCxnSpPr>
            <p:nvPr/>
          </p:nvCxnSpPr>
          <p:spPr>
            <a:xfrm flipV="1">
              <a:off x="1526837" y="2971748"/>
              <a:ext cx="584538" cy="977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a:endCxn id="17" idx="2"/>
            </p:cNvCxnSpPr>
            <p:nvPr/>
          </p:nvCxnSpPr>
          <p:spPr>
            <a:xfrm flipV="1">
              <a:off x="1345523" y="3504804"/>
              <a:ext cx="654727" cy="4228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435100" y="3873228"/>
              <a:ext cx="749977" cy="3624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12" idx="6"/>
              <a:endCxn id="18" idx="7"/>
            </p:cNvCxnSpPr>
            <p:nvPr/>
          </p:nvCxnSpPr>
          <p:spPr>
            <a:xfrm flipV="1">
              <a:off x="1508125" y="3815734"/>
              <a:ext cx="654727" cy="140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13" idx="6"/>
              <a:endCxn id="14" idx="0"/>
            </p:cNvCxnSpPr>
            <p:nvPr/>
          </p:nvCxnSpPr>
          <p:spPr>
            <a:xfrm flipV="1">
              <a:off x="1530350" y="2133425"/>
              <a:ext cx="546100" cy="22988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3" idx="7"/>
              <a:endCxn id="15" idx="3"/>
            </p:cNvCxnSpPr>
            <p:nvPr/>
          </p:nvCxnSpPr>
          <p:spPr>
            <a:xfrm flipV="1">
              <a:off x="1502452" y="2736683"/>
              <a:ext cx="541571" cy="16192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13" idx="6"/>
              <a:endCxn id="16" idx="0"/>
            </p:cNvCxnSpPr>
            <p:nvPr/>
          </p:nvCxnSpPr>
          <p:spPr>
            <a:xfrm flipV="1">
              <a:off x="1530350" y="2971748"/>
              <a:ext cx="581025" cy="14604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13" idx="6"/>
              <a:endCxn id="17" idx="3"/>
            </p:cNvCxnSpPr>
            <p:nvPr/>
          </p:nvCxnSpPr>
          <p:spPr>
            <a:xfrm flipV="1">
              <a:off x="1530350" y="3581136"/>
              <a:ext cx="497798" cy="851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3" idx="6"/>
              <a:endCxn id="18" idx="2"/>
            </p:cNvCxnSpPr>
            <p:nvPr/>
          </p:nvCxnSpPr>
          <p:spPr>
            <a:xfrm flipV="1">
              <a:off x="1530350" y="3892066"/>
              <a:ext cx="469900" cy="5401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13" idx="5"/>
            </p:cNvCxnSpPr>
            <p:nvPr/>
          </p:nvCxnSpPr>
          <p:spPr>
            <a:xfrm flipV="1">
              <a:off x="1502452" y="4222989"/>
              <a:ext cx="535898" cy="285574"/>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14" idx="6"/>
              <a:endCxn id="19" idx="1"/>
            </p:cNvCxnSpPr>
            <p:nvPr/>
          </p:nvCxnSpPr>
          <p:spPr>
            <a:xfrm flipV="1">
              <a:off x="2171700" y="2209330"/>
              <a:ext cx="383498" cy="32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14" idx="7"/>
              <a:endCxn id="20" idx="2"/>
            </p:cNvCxnSpPr>
            <p:nvPr/>
          </p:nvCxnSpPr>
          <p:spPr>
            <a:xfrm>
              <a:off x="2143802" y="2165043"/>
              <a:ext cx="383498" cy="508281"/>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15" idx="6"/>
              <a:endCxn id="21" idx="3"/>
            </p:cNvCxnSpPr>
            <p:nvPr/>
          </p:nvCxnSpPr>
          <p:spPr>
            <a:xfrm>
              <a:off x="2206625" y="2660351"/>
              <a:ext cx="342223" cy="508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180315" y="2614569"/>
              <a:ext cx="348573" cy="89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a:endCxn id="19" idx="2"/>
            </p:cNvCxnSpPr>
            <p:nvPr/>
          </p:nvCxnSpPr>
          <p:spPr>
            <a:xfrm flipV="1">
              <a:off x="2219325" y="2285662"/>
              <a:ext cx="307975" cy="3717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14" idx="7"/>
            </p:cNvCxnSpPr>
            <p:nvPr/>
          </p:nvCxnSpPr>
          <p:spPr>
            <a:xfrm>
              <a:off x="2143802" y="2165043"/>
              <a:ext cx="485098" cy="1028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14" idx="6"/>
              <a:endCxn id="22" idx="2"/>
            </p:cNvCxnSpPr>
            <p:nvPr/>
          </p:nvCxnSpPr>
          <p:spPr>
            <a:xfrm>
              <a:off x="2171700" y="2241375"/>
              <a:ext cx="349250" cy="1231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14" idx="5"/>
            </p:cNvCxnSpPr>
            <p:nvPr/>
          </p:nvCxnSpPr>
          <p:spPr>
            <a:xfrm>
              <a:off x="2143802" y="2317707"/>
              <a:ext cx="472398" cy="1682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14" idx="0"/>
            </p:cNvCxnSpPr>
            <p:nvPr/>
          </p:nvCxnSpPr>
          <p:spPr>
            <a:xfrm>
              <a:off x="2076450" y="2133425"/>
              <a:ext cx="622300" cy="2000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15" idx="5"/>
            </p:cNvCxnSpPr>
            <p:nvPr/>
          </p:nvCxnSpPr>
          <p:spPr>
            <a:xfrm>
              <a:off x="2178727" y="2736683"/>
              <a:ext cx="383498" cy="690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16" idx="5"/>
              <a:endCxn id="19" idx="1"/>
            </p:cNvCxnSpPr>
            <p:nvPr/>
          </p:nvCxnSpPr>
          <p:spPr>
            <a:xfrm flipV="1">
              <a:off x="2178727" y="2209330"/>
              <a:ext cx="376471" cy="946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16" idx="5"/>
              <a:endCxn id="20" idx="2"/>
            </p:cNvCxnSpPr>
            <p:nvPr/>
          </p:nvCxnSpPr>
          <p:spPr>
            <a:xfrm flipV="1">
              <a:off x="2178727" y="2673324"/>
              <a:ext cx="348573" cy="482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6" idx="6"/>
              <a:endCxn id="21" idx="5"/>
            </p:cNvCxnSpPr>
            <p:nvPr/>
          </p:nvCxnSpPr>
          <p:spPr>
            <a:xfrm>
              <a:off x="2206625" y="3079698"/>
              <a:ext cx="476927" cy="890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16" idx="7"/>
              <a:endCxn id="22" idx="1"/>
            </p:cNvCxnSpPr>
            <p:nvPr/>
          </p:nvCxnSpPr>
          <p:spPr>
            <a:xfrm>
              <a:off x="2178727" y="3003366"/>
              <a:ext cx="370121" cy="393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2128499" y="2971631"/>
              <a:ext cx="428625" cy="908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16" idx="1"/>
              <a:endCxn id="29" idx="1"/>
            </p:cNvCxnSpPr>
            <p:nvPr/>
          </p:nvCxnSpPr>
          <p:spPr>
            <a:xfrm>
              <a:off x="2044023" y="3003366"/>
              <a:ext cx="523875" cy="1136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17" idx="7"/>
              <a:endCxn id="19" idx="7"/>
            </p:cNvCxnSpPr>
            <p:nvPr/>
          </p:nvCxnSpPr>
          <p:spPr>
            <a:xfrm flipV="1">
              <a:off x="2162852" y="2209330"/>
              <a:ext cx="527050" cy="1219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17" idx="6"/>
              <a:endCxn id="20" idx="7"/>
            </p:cNvCxnSpPr>
            <p:nvPr/>
          </p:nvCxnSpPr>
          <p:spPr>
            <a:xfrm flipV="1">
              <a:off x="2190750" y="2596992"/>
              <a:ext cx="499152" cy="907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17" idx="1"/>
              <a:endCxn id="21" idx="7"/>
            </p:cNvCxnSpPr>
            <p:nvPr/>
          </p:nvCxnSpPr>
          <p:spPr>
            <a:xfrm flipV="1">
              <a:off x="2028148" y="3016059"/>
              <a:ext cx="655404" cy="412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7" idx="7"/>
              <a:endCxn id="22" idx="2"/>
            </p:cNvCxnSpPr>
            <p:nvPr/>
          </p:nvCxnSpPr>
          <p:spPr>
            <a:xfrm>
              <a:off x="2162852" y="3428472"/>
              <a:ext cx="358098" cy="44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7" idx="7"/>
              <a:endCxn id="23" idx="6"/>
            </p:cNvCxnSpPr>
            <p:nvPr/>
          </p:nvCxnSpPr>
          <p:spPr>
            <a:xfrm>
              <a:off x="2162852" y="3428472"/>
              <a:ext cx="567648" cy="451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7" idx="6"/>
              <a:endCxn id="29" idx="0"/>
            </p:cNvCxnSpPr>
            <p:nvPr/>
          </p:nvCxnSpPr>
          <p:spPr>
            <a:xfrm>
              <a:off x="2190750" y="3504804"/>
              <a:ext cx="444500" cy="603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8" idx="7"/>
              <a:endCxn id="19" idx="0"/>
            </p:cNvCxnSpPr>
            <p:nvPr/>
          </p:nvCxnSpPr>
          <p:spPr>
            <a:xfrm flipV="1">
              <a:off x="2162852" y="2177712"/>
              <a:ext cx="459698" cy="1638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8" idx="1"/>
              <a:endCxn id="20" idx="5"/>
            </p:cNvCxnSpPr>
            <p:nvPr/>
          </p:nvCxnSpPr>
          <p:spPr>
            <a:xfrm flipV="1">
              <a:off x="2028148" y="2749656"/>
              <a:ext cx="661754" cy="1066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8" idx="3"/>
              <a:endCxn id="21" idx="7"/>
            </p:cNvCxnSpPr>
            <p:nvPr/>
          </p:nvCxnSpPr>
          <p:spPr>
            <a:xfrm flipV="1">
              <a:off x="2028148" y="3016059"/>
              <a:ext cx="655404" cy="952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8" idx="4"/>
              <a:endCxn id="22" idx="2"/>
            </p:cNvCxnSpPr>
            <p:nvPr/>
          </p:nvCxnSpPr>
          <p:spPr>
            <a:xfrm flipV="1">
              <a:off x="2095500" y="3473346"/>
              <a:ext cx="425450" cy="526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8" idx="6"/>
              <a:endCxn id="23" idx="2"/>
            </p:cNvCxnSpPr>
            <p:nvPr/>
          </p:nvCxnSpPr>
          <p:spPr>
            <a:xfrm flipV="1">
              <a:off x="2190750" y="3879935"/>
              <a:ext cx="349250" cy="12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8" idx="0"/>
              <a:endCxn id="29" idx="2"/>
            </p:cNvCxnSpPr>
            <p:nvPr/>
          </p:nvCxnSpPr>
          <p:spPr>
            <a:xfrm>
              <a:off x="2095500" y="3784116"/>
              <a:ext cx="444500" cy="432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28" idx="7"/>
              <a:endCxn id="19" idx="0"/>
            </p:cNvCxnSpPr>
            <p:nvPr/>
          </p:nvCxnSpPr>
          <p:spPr>
            <a:xfrm flipV="1">
              <a:off x="2162852" y="2177712"/>
              <a:ext cx="459698" cy="2032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28" idx="3"/>
              <a:endCxn id="20" idx="3"/>
            </p:cNvCxnSpPr>
            <p:nvPr/>
          </p:nvCxnSpPr>
          <p:spPr>
            <a:xfrm flipV="1">
              <a:off x="2028148" y="2749656"/>
              <a:ext cx="527050" cy="1613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28" idx="6"/>
              <a:endCxn id="21" idx="2"/>
            </p:cNvCxnSpPr>
            <p:nvPr/>
          </p:nvCxnSpPr>
          <p:spPr>
            <a:xfrm flipV="1">
              <a:off x="2190750" y="3092391"/>
              <a:ext cx="330200" cy="1194229"/>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28" idx="6"/>
              <a:endCxn id="22" idx="3"/>
            </p:cNvCxnSpPr>
            <p:nvPr/>
          </p:nvCxnSpPr>
          <p:spPr>
            <a:xfrm flipV="1">
              <a:off x="2190750" y="3549678"/>
              <a:ext cx="358098" cy="736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28" idx="2"/>
              <a:endCxn id="23" idx="3"/>
            </p:cNvCxnSpPr>
            <p:nvPr/>
          </p:nvCxnSpPr>
          <p:spPr>
            <a:xfrm flipV="1">
              <a:off x="2000250" y="3956267"/>
              <a:ext cx="567648" cy="330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28" idx="5"/>
              <a:endCxn id="29" idx="1"/>
            </p:cNvCxnSpPr>
            <p:nvPr/>
          </p:nvCxnSpPr>
          <p:spPr>
            <a:xfrm flipV="1">
              <a:off x="2162852" y="4139999"/>
              <a:ext cx="405046" cy="222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9" idx="6"/>
              <a:endCxn id="24" idx="3"/>
            </p:cNvCxnSpPr>
            <p:nvPr/>
          </p:nvCxnSpPr>
          <p:spPr>
            <a:xfrm>
              <a:off x="2717800" y="2285662"/>
              <a:ext cx="631148" cy="6036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9" idx="7"/>
              <a:endCxn id="25" idx="1"/>
            </p:cNvCxnSpPr>
            <p:nvPr/>
          </p:nvCxnSpPr>
          <p:spPr>
            <a:xfrm>
              <a:off x="2689902" y="2209330"/>
              <a:ext cx="659046" cy="9083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9" idx="6"/>
              <a:endCxn id="26" idx="5"/>
            </p:cNvCxnSpPr>
            <p:nvPr/>
          </p:nvCxnSpPr>
          <p:spPr>
            <a:xfrm>
              <a:off x="2717800" y="2285662"/>
              <a:ext cx="765852" cy="1365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19" idx="5"/>
              <a:endCxn id="27" idx="2"/>
            </p:cNvCxnSpPr>
            <p:nvPr/>
          </p:nvCxnSpPr>
          <p:spPr>
            <a:xfrm>
              <a:off x="2689902" y="2361994"/>
              <a:ext cx="631148" cy="15937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20" idx="6"/>
              <a:endCxn id="24" idx="7"/>
            </p:cNvCxnSpPr>
            <p:nvPr/>
          </p:nvCxnSpPr>
          <p:spPr>
            <a:xfrm>
              <a:off x="2717800" y="2673324"/>
              <a:ext cx="765852" cy="633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a:endCxn id="25" idx="1"/>
            </p:cNvCxnSpPr>
            <p:nvPr/>
          </p:nvCxnSpPr>
          <p:spPr>
            <a:xfrm>
              <a:off x="2642225" y="2616651"/>
              <a:ext cx="706723" cy="501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20" idx="4"/>
              <a:endCxn id="26" idx="2"/>
            </p:cNvCxnSpPr>
            <p:nvPr/>
          </p:nvCxnSpPr>
          <p:spPr>
            <a:xfrm>
              <a:off x="2622550" y="2781274"/>
              <a:ext cx="698500" cy="793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20" idx="2"/>
              <a:endCxn id="27" idx="0"/>
            </p:cNvCxnSpPr>
            <p:nvPr/>
          </p:nvCxnSpPr>
          <p:spPr>
            <a:xfrm>
              <a:off x="2527300" y="2673324"/>
              <a:ext cx="889000" cy="1174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21" idx="5"/>
              <a:endCxn id="24" idx="6"/>
            </p:cNvCxnSpPr>
            <p:nvPr/>
          </p:nvCxnSpPr>
          <p:spPr>
            <a:xfrm flipV="1">
              <a:off x="2683552" y="2813024"/>
              <a:ext cx="827998" cy="355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21" idx="4"/>
              <a:endCxn id="25" idx="2"/>
            </p:cNvCxnSpPr>
            <p:nvPr/>
          </p:nvCxnSpPr>
          <p:spPr>
            <a:xfrm flipV="1">
              <a:off x="2616200" y="3194024"/>
              <a:ext cx="704850" cy="6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21" idx="3"/>
              <a:endCxn id="26" idx="6"/>
            </p:cNvCxnSpPr>
            <p:nvPr/>
          </p:nvCxnSpPr>
          <p:spPr>
            <a:xfrm>
              <a:off x="2548848" y="3168723"/>
              <a:ext cx="962702" cy="4061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21" idx="6"/>
              <a:endCxn id="27" idx="7"/>
            </p:cNvCxnSpPr>
            <p:nvPr/>
          </p:nvCxnSpPr>
          <p:spPr>
            <a:xfrm>
              <a:off x="2711450" y="3092391"/>
              <a:ext cx="772202" cy="787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22" idx="7"/>
              <a:endCxn id="24" idx="3"/>
            </p:cNvCxnSpPr>
            <p:nvPr/>
          </p:nvCxnSpPr>
          <p:spPr>
            <a:xfrm flipV="1">
              <a:off x="2683552" y="2889356"/>
              <a:ext cx="665396" cy="507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22" idx="6"/>
              <a:endCxn id="25" idx="2"/>
            </p:cNvCxnSpPr>
            <p:nvPr/>
          </p:nvCxnSpPr>
          <p:spPr>
            <a:xfrm flipV="1">
              <a:off x="2711450" y="3194024"/>
              <a:ext cx="609600" cy="279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22" idx="5"/>
              <a:endCxn id="26" idx="6"/>
            </p:cNvCxnSpPr>
            <p:nvPr/>
          </p:nvCxnSpPr>
          <p:spPr>
            <a:xfrm>
              <a:off x="2683552" y="3549678"/>
              <a:ext cx="827998" cy="252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22" idx="6"/>
              <a:endCxn id="27" idx="7"/>
            </p:cNvCxnSpPr>
            <p:nvPr/>
          </p:nvCxnSpPr>
          <p:spPr>
            <a:xfrm>
              <a:off x="2711450" y="3473346"/>
              <a:ext cx="772202" cy="406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23" idx="3"/>
              <a:endCxn id="24" idx="7"/>
            </p:cNvCxnSpPr>
            <p:nvPr/>
          </p:nvCxnSpPr>
          <p:spPr>
            <a:xfrm flipV="1">
              <a:off x="2567898" y="2736692"/>
              <a:ext cx="915754" cy="1219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23" idx="6"/>
              <a:endCxn id="25" idx="3"/>
            </p:cNvCxnSpPr>
            <p:nvPr/>
          </p:nvCxnSpPr>
          <p:spPr>
            <a:xfrm flipV="1">
              <a:off x="2730500" y="3270356"/>
              <a:ext cx="618448" cy="6095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23" idx="7"/>
              <a:endCxn id="26" idx="6"/>
            </p:cNvCxnSpPr>
            <p:nvPr/>
          </p:nvCxnSpPr>
          <p:spPr>
            <a:xfrm flipV="1">
              <a:off x="2702602" y="3574894"/>
              <a:ext cx="808948" cy="2287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23" idx="5"/>
              <a:endCxn id="27" idx="2"/>
            </p:cNvCxnSpPr>
            <p:nvPr/>
          </p:nvCxnSpPr>
          <p:spPr>
            <a:xfrm flipV="1">
              <a:off x="2702602" y="3955764"/>
              <a:ext cx="618448" cy="5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p:cNvCxnSpPr>
              <a:stCxn id="29" idx="6"/>
              <a:endCxn id="24" idx="6"/>
            </p:cNvCxnSpPr>
            <p:nvPr/>
          </p:nvCxnSpPr>
          <p:spPr>
            <a:xfrm flipV="1">
              <a:off x="2730500" y="2813024"/>
              <a:ext cx="781050" cy="1403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p:cNvCxnSpPr>
              <a:stCxn id="29" idx="7"/>
              <a:endCxn id="25" idx="2"/>
            </p:cNvCxnSpPr>
            <p:nvPr/>
          </p:nvCxnSpPr>
          <p:spPr>
            <a:xfrm flipV="1">
              <a:off x="2702602" y="3194024"/>
              <a:ext cx="618448" cy="945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29" idx="7"/>
              <a:endCxn id="26" idx="7"/>
            </p:cNvCxnSpPr>
            <p:nvPr/>
          </p:nvCxnSpPr>
          <p:spPr>
            <a:xfrm flipV="1">
              <a:off x="2702602" y="3498562"/>
              <a:ext cx="781050" cy="64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29" idx="7"/>
              <a:endCxn id="27" idx="3"/>
            </p:cNvCxnSpPr>
            <p:nvPr/>
          </p:nvCxnSpPr>
          <p:spPr>
            <a:xfrm flipV="1">
              <a:off x="2702602" y="4032096"/>
              <a:ext cx="646346" cy="10790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265918" y="896635"/>
            <a:ext cx="4555174" cy="5078313"/>
          </a:xfrm>
          <a:prstGeom prst="rect">
            <a:avLst/>
          </a:prstGeom>
          <a:noFill/>
        </p:spPr>
        <p:txBody>
          <a:bodyPr wrap="square" rtlCol="0">
            <a:spAutoFit/>
          </a:bodyPr>
          <a:lstStyle/>
          <a:p>
            <a:pPr marL="457200" indent="-457200">
              <a:buFont typeface="Arial" panose="020B0604020202020204" pitchFamily="34" charset="0"/>
              <a:buChar char="•"/>
            </a:pPr>
            <a:r>
              <a:rPr lang="en-US" sz="2700" dirty="0"/>
              <a:t>These neural networks have many simple processing units connected to each other, according to various architectures.</a:t>
            </a:r>
          </a:p>
          <a:p>
            <a:endParaRPr lang="en-US" sz="2700" dirty="0"/>
          </a:p>
          <a:p>
            <a:pPr marL="457200" indent="-457200">
              <a:buFont typeface="Arial" panose="020B0604020202020204" pitchFamily="34" charset="0"/>
              <a:buChar char="•"/>
            </a:pPr>
            <a:r>
              <a:rPr lang="en-US" sz="2700" dirty="0"/>
              <a:t>The use of neural networks in machine learning is widely seen as an advancement in the field and has led to more accurate NER. </a:t>
            </a:r>
            <a:endParaRPr lang="en-US" sz="2700" b="1" dirty="0"/>
          </a:p>
        </p:txBody>
      </p:sp>
      <p:sp>
        <p:nvSpPr>
          <p:cNvPr id="124" name="Rectangle 123"/>
          <p:cNvSpPr/>
          <p:nvPr/>
        </p:nvSpPr>
        <p:spPr>
          <a:xfrm>
            <a:off x="6344083" y="1319552"/>
            <a:ext cx="1054656" cy="32541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Rectangle 125"/>
          <p:cNvSpPr/>
          <p:nvPr/>
        </p:nvSpPr>
        <p:spPr>
          <a:xfrm>
            <a:off x="7521582" y="1319552"/>
            <a:ext cx="507323" cy="326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ctangle 126"/>
          <p:cNvSpPr/>
          <p:nvPr/>
        </p:nvSpPr>
        <p:spPr>
          <a:xfrm>
            <a:off x="5695878" y="1306240"/>
            <a:ext cx="562096" cy="32541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TextBox 128"/>
          <p:cNvSpPr txBox="1"/>
          <p:nvPr/>
        </p:nvSpPr>
        <p:spPr>
          <a:xfrm>
            <a:off x="4793407" y="2527314"/>
            <a:ext cx="1041400" cy="430887"/>
          </a:xfrm>
          <a:prstGeom prst="rect">
            <a:avLst/>
          </a:prstGeom>
          <a:noFill/>
        </p:spPr>
        <p:txBody>
          <a:bodyPr wrap="square" rtlCol="0">
            <a:spAutoFit/>
          </a:bodyPr>
          <a:lstStyle/>
          <a:p>
            <a:r>
              <a:rPr lang="en-US" sz="2200" dirty="0"/>
              <a:t>Input</a:t>
            </a:r>
          </a:p>
        </p:txBody>
      </p:sp>
      <p:sp>
        <p:nvSpPr>
          <p:cNvPr id="130" name="TextBox 129"/>
          <p:cNvSpPr txBox="1"/>
          <p:nvPr/>
        </p:nvSpPr>
        <p:spPr>
          <a:xfrm>
            <a:off x="8046001" y="2508256"/>
            <a:ext cx="1030194" cy="430887"/>
          </a:xfrm>
          <a:prstGeom prst="rect">
            <a:avLst/>
          </a:prstGeom>
          <a:noFill/>
        </p:spPr>
        <p:txBody>
          <a:bodyPr wrap="square" rtlCol="0">
            <a:spAutoFit/>
          </a:bodyPr>
          <a:lstStyle/>
          <a:p>
            <a:r>
              <a:rPr lang="en-US" sz="2200" dirty="0"/>
              <a:t>Output</a:t>
            </a:r>
          </a:p>
        </p:txBody>
      </p:sp>
      <p:sp>
        <p:nvSpPr>
          <p:cNvPr id="131" name="TextBox 130"/>
          <p:cNvSpPr txBox="1"/>
          <p:nvPr/>
        </p:nvSpPr>
        <p:spPr>
          <a:xfrm>
            <a:off x="6431308" y="4643175"/>
            <a:ext cx="1173294" cy="769441"/>
          </a:xfrm>
          <a:prstGeom prst="rect">
            <a:avLst/>
          </a:prstGeom>
          <a:noFill/>
        </p:spPr>
        <p:txBody>
          <a:bodyPr wrap="square" rtlCol="0">
            <a:spAutoFit/>
          </a:bodyPr>
          <a:lstStyle/>
          <a:p>
            <a:r>
              <a:rPr lang="en-US" sz="2200" dirty="0"/>
              <a:t>Hidden </a:t>
            </a:r>
          </a:p>
          <a:p>
            <a:r>
              <a:rPr lang="en-US" sz="2200" dirty="0"/>
              <a:t>Layers</a:t>
            </a:r>
          </a:p>
        </p:txBody>
      </p:sp>
    </p:spTree>
    <p:extLst>
      <p:ext uri="{BB962C8B-B14F-4D97-AF65-F5344CB8AC3E}">
        <p14:creationId xmlns:p14="http://schemas.microsoft.com/office/powerpoint/2010/main" val="3607437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Challenges in NER</a:t>
            </a:r>
          </a:p>
        </p:txBody>
      </p:sp>
      <p:sp>
        <p:nvSpPr>
          <p:cNvPr id="5" name="TextBox 4"/>
          <p:cNvSpPr txBox="1"/>
          <p:nvPr/>
        </p:nvSpPr>
        <p:spPr>
          <a:xfrm>
            <a:off x="628650" y="1234404"/>
            <a:ext cx="7442200" cy="5693866"/>
          </a:xfrm>
          <a:prstGeom prst="rect">
            <a:avLst/>
          </a:prstGeom>
          <a:noFill/>
        </p:spPr>
        <p:txBody>
          <a:bodyPr wrap="square" rtlCol="0">
            <a:spAutoFit/>
          </a:bodyPr>
          <a:lstStyle/>
          <a:p>
            <a:pPr marL="285750" indent="-285750">
              <a:buFont typeface="Arial" panose="020B0604020202020204" pitchFamily="34" charset="0"/>
              <a:buChar char="•"/>
            </a:pPr>
            <a:r>
              <a:rPr lang="en-US" sz="2800" dirty="0"/>
              <a:t>There are an infinite number of named entities and language is constantly changing.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There may be many ways to represent the same named entity (e.g., Harry Potter, Harry James Potter, Mr. Potter, Mister Potter, Potter, Harry).</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Grammar rules (e.g., capitalizing proper nouns) are often ignored in less formal writing environments, such as social media.  </a:t>
            </a:r>
          </a:p>
          <a:p>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1283136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Challenges of NER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326737"/>
            <a:ext cx="7664450" cy="4293483"/>
          </a:xfrm>
          <a:prstGeom prst="rect">
            <a:avLst/>
          </a:prstGeom>
          <a:noFill/>
        </p:spPr>
        <p:txBody>
          <a:bodyPr wrap="square" rtlCol="0">
            <a:spAutoFit/>
          </a:bodyPr>
          <a:lstStyle/>
          <a:p>
            <a:pPr marL="457200" indent="-457200">
              <a:buFont typeface="Arial" panose="020B0604020202020204" pitchFamily="34" charset="0"/>
              <a:buChar char="•"/>
            </a:pPr>
            <a:r>
              <a:rPr lang="en-US" sz="2700" dirty="0"/>
              <a:t>NER systems often find it challenging to determine the correct beginning and end of a named entity. </a:t>
            </a:r>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r>
              <a:rPr lang="en-US" sz="2700" dirty="0"/>
              <a:t>For example, the country name, “</a:t>
            </a:r>
            <a:r>
              <a:rPr lang="en-US" sz="2800" dirty="0"/>
              <a:t>Republic of Trinidad and Tobago” might be tagged as two separate named entities, “Republic of Trinidad,” and “Tobago. “</a:t>
            </a:r>
            <a:endParaRPr lang="en-US" sz="2700" dirty="0"/>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700" dirty="0"/>
          </a:p>
          <a:p>
            <a:pPr marL="457200" indent="-457200">
              <a:buFont typeface="Arial" panose="020B0604020202020204" pitchFamily="34" charset="0"/>
              <a:buChar char="•"/>
            </a:pPr>
            <a:endParaRPr lang="en-US" sz="2600" dirty="0"/>
          </a:p>
        </p:txBody>
      </p:sp>
    </p:spTree>
    <p:extLst>
      <p:ext uri="{BB962C8B-B14F-4D97-AF65-F5344CB8AC3E}">
        <p14:creationId xmlns:p14="http://schemas.microsoft.com/office/powerpoint/2010/main" val="2474229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717550" y="-219882"/>
            <a:ext cx="7886700" cy="1325563"/>
          </a:xfrm>
        </p:spPr>
        <p:txBody>
          <a:bodyPr/>
          <a:lstStyle/>
          <a:p>
            <a:r>
              <a:rPr lang="en-US" b="1" dirty="0"/>
              <a:t>Challenges in NER (cont.)</a:t>
            </a:r>
          </a:p>
        </p:txBody>
      </p:sp>
      <p:sp>
        <p:nvSpPr>
          <p:cNvPr id="5" name="TextBox 4"/>
          <p:cNvSpPr txBox="1"/>
          <p:nvPr/>
        </p:nvSpPr>
        <p:spPr>
          <a:xfrm>
            <a:off x="374650" y="1105681"/>
            <a:ext cx="8140700" cy="5262979"/>
          </a:xfrm>
          <a:prstGeom prst="rect">
            <a:avLst/>
          </a:prstGeom>
          <a:noFill/>
        </p:spPr>
        <p:txBody>
          <a:bodyPr wrap="square" rtlCol="0">
            <a:spAutoFit/>
          </a:bodyPr>
          <a:lstStyle/>
          <a:p>
            <a:pPr marL="285750" indent="-285750">
              <a:buFont typeface="Arial" panose="020B0604020202020204" pitchFamily="34" charset="0"/>
              <a:buChar char="•"/>
            </a:pPr>
            <a:r>
              <a:rPr lang="en-US" sz="2800" dirty="0"/>
              <a:t>One of the biggest challenges to successful NER is word ambiguity.</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In English, the same word is often used to refer to multiple entities. “Washington” could be Washington, D.C., the state name, a person’s name, a team name, a brand name, a book name, shorthand for the U.S. government, etc. </a:t>
            </a:r>
            <a:br>
              <a:rPr lang="en-US" sz="2800" dirty="0"/>
            </a:br>
            <a:endParaRPr lang="en-US" sz="2800" dirty="0"/>
          </a:p>
          <a:p>
            <a:pPr marL="285750" indent="-285750">
              <a:buFont typeface="Arial" panose="020B0604020202020204" pitchFamily="34" charset="0"/>
              <a:buChar char="•"/>
            </a:pPr>
            <a:r>
              <a:rPr lang="en-US" sz="2800" dirty="0"/>
              <a:t>The best NER taggers use features from surrounding tokens to make predictions. </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2404232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Link to Assignment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147763"/>
            <a:ext cx="7664450" cy="5139869"/>
          </a:xfrm>
          <a:prstGeom prst="rect">
            <a:avLst/>
          </a:prstGeom>
          <a:noFill/>
        </p:spPr>
        <p:txBody>
          <a:bodyPr wrap="square" rtlCol="0">
            <a:spAutoFit/>
          </a:bodyPr>
          <a:lstStyle/>
          <a:p>
            <a:pPr marL="457200" indent="-457200">
              <a:buFont typeface="Arial" panose="020B0604020202020204" pitchFamily="34" charset="0"/>
              <a:buChar char="•"/>
            </a:pPr>
            <a:r>
              <a:rPr lang="en-US" sz="2800" dirty="0"/>
              <a:t>Click the Link to Platform button or use the following link to directly access the named-entity recognition activity: </a:t>
            </a:r>
          </a:p>
          <a:p>
            <a:endParaRPr lang="en-US" sz="2800" dirty="0"/>
          </a:p>
          <a:p>
            <a:r>
              <a:rPr lang="en-US" sz="2400" dirty="0">
                <a:hlinkClick r:id="rId3"/>
              </a:rPr>
              <a:t>https://wrds-www.wharton.upenn.edu/classroom/named-entity-recognition/</a:t>
            </a:r>
            <a:br>
              <a:rPr lang="en-US" sz="2800" dirty="0">
                <a:hlinkClick r:id="rId3"/>
              </a:rPr>
            </a:br>
            <a:endParaRPr lang="en-US" sz="2800" dirty="0"/>
          </a:p>
          <a:p>
            <a:pPr marL="457200" indent="-457200">
              <a:buFont typeface="Arial" panose="020B0604020202020204" pitchFamily="34" charset="0"/>
              <a:buChar char="•"/>
            </a:pPr>
            <a:r>
              <a:rPr lang="en-US" sz="2800" dirty="0"/>
              <a:t>The source text you will use is a 2005 news article published by Knowledge@Wharton. </a:t>
            </a:r>
            <a:br>
              <a:rPr lang="en-US" sz="2800" dirty="0"/>
            </a:br>
            <a:endParaRPr lang="en-US" sz="2800" dirty="0"/>
          </a:p>
          <a:p>
            <a:pPr marL="457200" indent="-457200">
              <a:buFont typeface="Arial" panose="020B0604020202020204" pitchFamily="34" charset="0"/>
              <a:buChar char="•"/>
            </a:pPr>
            <a:r>
              <a:rPr lang="en-US" sz="2800" dirty="0"/>
              <a:t>It contains examples of over 60 named entities.  </a:t>
            </a:r>
          </a:p>
          <a:p>
            <a:endParaRPr lang="en-US" sz="2800" dirty="0"/>
          </a:p>
        </p:txBody>
      </p:sp>
    </p:spTree>
    <p:extLst>
      <p:ext uri="{BB962C8B-B14F-4D97-AF65-F5344CB8AC3E}">
        <p14:creationId xmlns:p14="http://schemas.microsoft.com/office/powerpoint/2010/main" val="2751765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Assignment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1490774"/>
            <a:ext cx="8007350" cy="3970318"/>
          </a:xfrm>
          <a:prstGeom prst="rect">
            <a:avLst/>
          </a:prstGeom>
          <a:noFill/>
        </p:spPr>
        <p:txBody>
          <a:bodyPr wrap="square" rtlCol="0">
            <a:spAutoFit/>
          </a:bodyPr>
          <a:lstStyle/>
          <a:p>
            <a:r>
              <a:rPr lang="en-US" sz="2800" dirty="0"/>
              <a:t>The tool provides three different types of NER systems for you to compare and contrast:</a:t>
            </a:r>
          </a:p>
          <a:p>
            <a:endParaRPr lang="en-US" sz="2800" dirty="0"/>
          </a:p>
          <a:p>
            <a:pPr marL="514350" indent="-514350">
              <a:buFont typeface="+mj-lt"/>
              <a:buAutoNum type="arabicPeriod"/>
            </a:pPr>
            <a:r>
              <a:rPr lang="en-US" sz="2800" dirty="0"/>
              <a:t>A rule-based model created by a programmer using regular expressions</a:t>
            </a:r>
          </a:p>
          <a:p>
            <a:pPr marL="514350" indent="-514350">
              <a:buFont typeface="+mj-lt"/>
              <a:buAutoNum type="arabicPeriod"/>
            </a:pPr>
            <a:endParaRPr lang="en-US" sz="2800" dirty="0"/>
          </a:p>
          <a:p>
            <a:pPr marL="514350" indent="-514350">
              <a:buFont typeface="+mj-lt"/>
              <a:buAutoNum type="arabicPeriod"/>
            </a:pPr>
            <a:r>
              <a:rPr lang="en-US" sz="2800" dirty="0"/>
              <a:t>A corpus-trained machine learning model</a:t>
            </a:r>
            <a:br>
              <a:rPr lang="en-US" sz="2800" dirty="0"/>
            </a:br>
            <a:endParaRPr lang="en-US" sz="2800" dirty="0"/>
          </a:p>
          <a:p>
            <a:pPr marL="514350" indent="-514350">
              <a:buFont typeface="+mj-lt"/>
              <a:buAutoNum type="arabicPeriod"/>
            </a:pPr>
            <a:r>
              <a:rPr lang="en-US" sz="2800" dirty="0"/>
              <a:t>A neural network model </a:t>
            </a:r>
          </a:p>
        </p:txBody>
      </p:sp>
    </p:spTree>
    <p:extLst>
      <p:ext uri="{BB962C8B-B14F-4D97-AF65-F5344CB8AC3E}">
        <p14:creationId xmlns:p14="http://schemas.microsoft.com/office/powerpoint/2010/main" val="105198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Assignment (cont.)</a:t>
            </a:r>
          </a:p>
        </p:txBody>
      </p:sp>
      <p:sp>
        <p:nvSpPr>
          <p:cNvPr id="3" name="Content Placeholder 2"/>
          <p:cNvSpPr>
            <a:spLocks noGrp="1"/>
          </p:cNvSpPr>
          <p:nvPr>
            <p:ph idx="1"/>
          </p:nvPr>
        </p:nvSpPr>
        <p:spPr>
          <a:xfrm>
            <a:off x="628650" y="1490774"/>
            <a:ext cx="7886700" cy="3984625"/>
          </a:xfrm>
        </p:spPr>
        <p:txBody>
          <a:bodyPr>
            <a:noAutofit/>
          </a:bodyPr>
          <a:lstStyle/>
          <a:p>
            <a:pPr marL="0" indent="0">
              <a:buNone/>
            </a:pPr>
            <a:br>
              <a:rPr lang="en-US" dirty="0"/>
            </a:br>
            <a:endParaRPr lang="en-US" dirty="0"/>
          </a:p>
        </p:txBody>
      </p:sp>
      <p:sp>
        <p:nvSpPr>
          <p:cNvPr id="5" name="TextBox 4"/>
          <p:cNvSpPr txBox="1"/>
          <p:nvPr/>
        </p:nvSpPr>
        <p:spPr>
          <a:xfrm>
            <a:off x="628650" y="2108440"/>
            <a:ext cx="800735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As you select each named entity to see how well the systems perform, consider why some named entities might be especially challenging to identify.</a:t>
            </a:r>
          </a:p>
          <a:p>
            <a:endParaRPr lang="en-US" sz="2800" dirty="0"/>
          </a:p>
          <a:p>
            <a:endParaRPr lang="en-US" sz="2800" dirty="0"/>
          </a:p>
        </p:txBody>
      </p:sp>
    </p:spTree>
    <p:extLst>
      <p:ext uri="{BB962C8B-B14F-4D97-AF65-F5344CB8AC3E}">
        <p14:creationId xmlns:p14="http://schemas.microsoft.com/office/powerpoint/2010/main" val="251381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Conclusion</a:t>
            </a:r>
          </a:p>
        </p:txBody>
      </p:sp>
      <p:sp>
        <p:nvSpPr>
          <p:cNvPr id="3" name="Content Placeholder 2"/>
          <p:cNvSpPr>
            <a:spLocks noGrp="1"/>
          </p:cNvSpPr>
          <p:nvPr>
            <p:ph idx="1"/>
          </p:nvPr>
        </p:nvSpPr>
        <p:spPr>
          <a:xfrm>
            <a:off x="514350" y="1471919"/>
            <a:ext cx="7886700" cy="4788861"/>
          </a:xfrm>
        </p:spPr>
        <p:txBody>
          <a:bodyPr>
            <a:noAutofit/>
          </a:bodyPr>
          <a:lstStyle/>
          <a:p>
            <a:r>
              <a:rPr lang="en-US" dirty="0"/>
              <a:t>Named-entity recognition (NER) is a subtask of information extraction, whereby the named entities are identified in a text and classified according to predetermined categories, such as person, location, or organization. </a:t>
            </a:r>
            <a:br>
              <a:rPr lang="en-US" dirty="0"/>
            </a:br>
            <a:endParaRPr lang="en-US" dirty="0"/>
          </a:p>
          <a:p>
            <a:r>
              <a:rPr lang="en-US" dirty="0"/>
              <a:t>Some features used for determining classification in NER include wordshape, part of speech tagging, and consideration of neighboring words.</a:t>
            </a:r>
            <a:br>
              <a:rPr lang="en-US" dirty="0"/>
            </a:br>
            <a:endParaRPr lang="en-US" dirty="0"/>
          </a:p>
        </p:txBody>
      </p:sp>
    </p:spTree>
    <p:extLst>
      <p:ext uri="{BB962C8B-B14F-4D97-AF65-F5344CB8AC3E}">
        <p14:creationId xmlns:p14="http://schemas.microsoft.com/office/powerpoint/2010/main" val="3238632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628650" y="0"/>
            <a:ext cx="7886700" cy="1325563"/>
          </a:xfrm>
        </p:spPr>
        <p:txBody>
          <a:bodyPr/>
          <a:lstStyle/>
          <a:p>
            <a:r>
              <a:rPr lang="en-US" b="1" dirty="0"/>
              <a:t>Conclusion (cont.)</a:t>
            </a:r>
          </a:p>
        </p:txBody>
      </p:sp>
      <p:sp>
        <p:nvSpPr>
          <p:cNvPr id="3" name="Content Placeholder 2"/>
          <p:cNvSpPr>
            <a:spLocks noGrp="1"/>
          </p:cNvSpPr>
          <p:nvPr>
            <p:ph idx="1"/>
          </p:nvPr>
        </p:nvSpPr>
        <p:spPr>
          <a:xfrm>
            <a:off x="628650" y="989319"/>
            <a:ext cx="7886700" cy="4788861"/>
          </a:xfrm>
        </p:spPr>
        <p:txBody>
          <a:bodyPr>
            <a:noAutofit/>
          </a:bodyPr>
          <a:lstStyle/>
          <a:p>
            <a:pPr marL="0" indent="0">
              <a:buNone/>
            </a:pPr>
            <a:endParaRPr lang="en-US" dirty="0"/>
          </a:p>
          <a:p>
            <a:r>
              <a:rPr lang="en-US" dirty="0"/>
              <a:t>Approaches to NER include rule-based methods, gazetteers, machine learning models, and the use of artificial neural networks. </a:t>
            </a:r>
          </a:p>
          <a:p>
            <a:endParaRPr lang="en-US" dirty="0"/>
          </a:p>
          <a:p>
            <a:r>
              <a:rPr lang="en-US" dirty="0"/>
              <a:t>There are many challenges to NER, including the sheer number of named entities, prevalence of the same word used to refer to multiple named entities, and difficulty determining the proper start and end of a named entity. </a:t>
            </a:r>
          </a:p>
          <a:p>
            <a:endParaRPr lang="en-US" dirty="0"/>
          </a:p>
          <a:p>
            <a:pPr marL="0" indent="0">
              <a:buNone/>
            </a:pPr>
            <a:endParaRPr lang="en-US" dirty="0"/>
          </a:p>
        </p:txBody>
      </p:sp>
    </p:spTree>
    <p:extLst>
      <p:ext uri="{BB962C8B-B14F-4D97-AF65-F5344CB8AC3E}">
        <p14:creationId xmlns:p14="http://schemas.microsoft.com/office/powerpoint/2010/main" val="2895407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0"/>
            <a:ext cx="9144000" cy="1079793"/>
          </a:xfrm>
          <a:prstGeom prst="rect">
            <a:avLst/>
          </a:prstGeom>
          <a:solidFill>
            <a:schemeClr val="accent1">
              <a:lumMod val="40000"/>
              <a:lumOff val="60000"/>
            </a:schemeClr>
          </a:solidFill>
        </p:spPr>
        <p:txBody>
          <a:bodyPr wrap="square" rtlCol="0">
            <a:spAutoFit/>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9792"/>
            <a:ext cx="9144000" cy="5778207"/>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Notes</a:t>
            </a:r>
          </a:p>
        </p:txBody>
      </p:sp>
      <p:sp>
        <p:nvSpPr>
          <p:cNvPr id="3" name="Content Placeholder 2"/>
          <p:cNvSpPr>
            <a:spLocks noGrp="1"/>
          </p:cNvSpPr>
          <p:nvPr>
            <p:ph idx="1"/>
          </p:nvPr>
        </p:nvSpPr>
        <p:spPr>
          <a:xfrm>
            <a:off x="628650" y="1490774"/>
            <a:ext cx="4425950" cy="3984625"/>
          </a:xfrm>
        </p:spPr>
        <p:txBody>
          <a:bodyPr>
            <a:noAutofit/>
          </a:bodyPr>
          <a:lstStyle/>
          <a:p>
            <a:pPr marL="0" indent="0">
              <a:buNone/>
            </a:pPr>
            <a:br>
              <a:rPr lang="en-US" dirty="0"/>
            </a:br>
            <a:endParaRPr lang="en-US" dirty="0"/>
          </a:p>
        </p:txBody>
      </p:sp>
      <p:sp>
        <p:nvSpPr>
          <p:cNvPr id="5" name="TextBox 4"/>
          <p:cNvSpPr txBox="1"/>
          <p:nvPr/>
        </p:nvSpPr>
        <p:spPr>
          <a:xfrm>
            <a:off x="425450" y="1490773"/>
            <a:ext cx="8591550" cy="4401205"/>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corpus-trained machine learning example in the tool is the NER chunker available as a Python open-source library.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It uses a supervised machine learning algorithm known as a MaxEnt classifier. It was trained on the ACE corpus, comprised of annotated broadcast transcripts, newswire, and newspaper data from the first half of 1998.</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1169182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0"/>
            <a:ext cx="9144000" cy="1079793"/>
          </a:xfrm>
          <a:prstGeom prst="rect">
            <a:avLst/>
          </a:prstGeom>
          <a:solidFill>
            <a:schemeClr val="accent1">
              <a:lumMod val="40000"/>
              <a:lumOff val="60000"/>
            </a:schemeClr>
          </a:solidFill>
        </p:spPr>
        <p:txBody>
          <a:bodyPr wrap="square" rtlCol="0">
            <a:spAutoFit/>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9792"/>
            <a:ext cx="9144000" cy="5778207"/>
          </a:xfrm>
          <a:prstGeom prst="rect">
            <a:avLst/>
          </a:prstGeom>
        </p:spPr>
      </p:pic>
      <p:sp>
        <p:nvSpPr>
          <p:cNvPr id="2" name="Title 1"/>
          <p:cNvSpPr>
            <a:spLocks noGrp="1"/>
          </p:cNvSpPr>
          <p:nvPr>
            <p:ph type="title"/>
          </p:nvPr>
        </p:nvSpPr>
        <p:spPr>
          <a:xfrm>
            <a:off x="628650" y="-131470"/>
            <a:ext cx="7886700" cy="1325563"/>
          </a:xfrm>
        </p:spPr>
        <p:txBody>
          <a:bodyPr/>
          <a:lstStyle/>
          <a:p>
            <a:r>
              <a:rPr lang="en-US" b="1" dirty="0"/>
              <a:t>Notes</a:t>
            </a:r>
          </a:p>
        </p:txBody>
      </p:sp>
      <p:sp>
        <p:nvSpPr>
          <p:cNvPr id="3" name="Content Placeholder 2"/>
          <p:cNvSpPr>
            <a:spLocks noGrp="1"/>
          </p:cNvSpPr>
          <p:nvPr>
            <p:ph idx="1"/>
          </p:nvPr>
        </p:nvSpPr>
        <p:spPr>
          <a:xfrm>
            <a:off x="628650" y="1490774"/>
            <a:ext cx="4425950" cy="3984625"/>
          </a:xfrm>
        </p:spPr>
        <p:txBody>
          <a:bodyPr>
            <a:noAutofit/>
          </a:bodyPr>
          <a:lstStyle/>
          <a:p>
            <a:pPr marL="0" indent="0">
              <a:buNone/>
            </a:pPr>
            <a:br>
              <a:rPr lang="en-US" dirty="0"/>
            </a:br>
            <a:endParaRPr lang="en-US" dirty="0"/>
          </a:p>
        </p:txBody>
      </p:sp>
      <p:sp>
        <p:nvSpPr>
          <p:cNvPr id="8" name="Rectangle 7"/>
          <p:cNvSpPr/>
          <p:nvPr/>
        </p:nvSpPr>
        <p:spPr>
          <a:xfrm>
            <a:off x="425450" y="1490773"/>
            <a:ext cx="8089900" cy="4401205"/>
          </a:xfrm>
          <a:prstGeom prst="rect">
            <a:avLst/>
          </a:prstGeom>
        </p:spPr>
        <p:txBody>
          <a:bodyPr wrap="square">
            <a:spAutoFit/>
          </a:bodyPr>
          <a:lstStyle/>
          <a:p>
            <a:pPr marL="457200" indent="-457200">
              <a:buFont typeface="Arial" panose="020B0604020202020204" pitchFamily="34" charset="0"/>
              <a:buChar char="•"/>
            </a:pPr>
            <a:r>
              <a:rPr lang="en-US" sz="2800" dirty="0"/>
              <a:t>The neural network example is spaCy, another open-source library. It is a pre-trained named-entity recognizer.</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spaCy NER classifier uses a type of neural network known as a Convolutional Neural Network. </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GPE is the abbreviation for “geopolitical entity” and NORP is the abbreviation for “nationalities or religious or political groups.” </a:t>
            </a:r>
          </a:p>
        </p:txBody>
      </p:sp>
    </p:spTree>
    <p:extLst>
      <p:ext uri="{BB962C8B-B14F-4D97-AF65-F5344CB8AC3E}">
        <p14:creationId xmlns:p14="http://schemas.microsoft.com/office/powerpoint/2010/main" val="10674395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37006</TotalTime>
  <Words>1373</Words>
  <Application>Microsoft Office PowerPoint</Application>
  <PresentationFormat>On-screen Show (4:3)</PresentationFormat>
  <Paragraphs>183</Paragraphs>
  <Slides>28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Courier New</vt:lpstr>
      <vt:lpstr>Office Theme</vt:lpstr>
      <vt:lpstr> Named-Entity Recognition</vt:lpstr>
      <vt:lpstr>Learning Objectives</vt:lpstr>
      <vt:lpstr>Named-Entity Recognition </vt:lpstr>
      <vt:lpstr>Named-Entity Recognition (cont.) </vt:lpstr>
      <vt:lpstr>Named-Entity Recognition (cont.) </vt:lpstr>
      <vt:lpstr>Some Uses of NER</vt:lpstr>
      <vt:lpstr>Some Uses of NER (cont.)</vt:lpstr>
      <vt:lpstr>NER: Starting with Tokenization</vt:lpstr>
      <vt:lpstr>What is a Feature?</vt:lpstr>
      <vt:lpstr>Features Used in NER:  Wordshape </vt:lpstr>
      <vt:lpstr>Some Approaches to NER</vt:lpstr>
      <vt:lpstr>Some Approaches to NER (cont.)</vt:lpstr>
      <vt:lpstr>Some Approaches to NER (cont.)</vt:lpstr>
      <vt:lpstr>Some Approaches to NER (cont.)</vt:lpstr>
      <vt:lpstr>Some Approaches to NER (cont.)</vt:lpstr>
      <vt:lpstr>Some Approaches to NER (cont.)</vt:lpstr>
      <vt:lpstr>Some Approaches to NER (cont.)</vt:lpstr>
      <vt:lpstr>Some Approaches to NER (cont.)</vt:lpstr>
      <vt:lpstr>Challenges in NER</vt:lpstr>
      <vt:lpstr>Challenges of NER (cont.)</vt:lpstr>
      <vt:lpstr>Challenges in NER (cont.)</vt:lpstr>
      <vt:lpstr>Link to Assignment</vt:lpstr>
      <vt:lpstr>Assignment</vt:lpstr>
      <vt:lpstr>Assignment (cont.)</vt:lpstr>
      <vt:lpstr>Conclusion</vt:lpstr>
      <vt:lpstr>Conclusion (cont.)</vt:lpstr>
      <vt:lpstr>Notes</vt:lpstr>
      <vt:lpstr>Notes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Identifiers</dc:title>
  <dc:creator>Flores, Yadira</dc:creator>
  <cp:lastModifiedBy>Mary Obropta</cp:lastModifiedBy>
  <cp:revision>1004</cp:revision>
  <cp:lastPrinted>2016-09-06T15:45:13Z</cp:lastPrinted>
  <dcterms:created xsi:type="dcterms:W3CDTF">2015-09-17T18:26:36Z</dcterms:created>
  <dcterms:modified xsi:type="dcterms:W3CDTF">2019-04-26T17:47:45Z</dcterms:modified>
</cp:coreProperties>
</file>