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967" r:id="rId2"/>
    <p:sldId id="968" r:id="rId3"/>
  </p:sldIdLst>
  <p:sldSz cx="9144000" cy="6858000" type="screen4x3"/>
  <p:notesSz cx="7315200" cy="96012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4D5E8A-9F95-4984-ADA0-7D0FC3DEC305}">
          <p14:sldIdLst>
            <p14:sldId id="967"/>
            <p14:sldId id="9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3" pos="113" userDrawn="1">
          <p15:clr>
            <a:srgbClr val="A4A3A4"/>
          </p15:clr>
        </p15:guide>
        <p15:guide id="4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Fox" initials="B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78BF"/>
    <a:srgbClr val="01072B"/>
    <a:srgbClr val="F7B2A7"/>
    <a:srgbClr val="BFC8FD"/>
    <a:srgbClr val="000B24"/>
    <a:srgbClr val="D6DADC"/>
    <a:srgbClr val="000F30"/>
    <a:srgbClr val="000E2F"/>
    <a:srgbClr val="1B2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66" autoAdjust="0"/>
    <p:restoredTop sz="93690" autoAdjust="0"/>
  </p:normalViewPr>
  <p:slideViewPr>
    <p:cSldViewPr>
      <p:cViewPr varScale="1">
        <p:scale>
          <a:sx n="119" d="100"/>
          <a:sy n="119" d="100"/>
        </p:scale>
        <p:origin x="1280" y="176"/>
      </p:cViewPr>
      <p:guideLst>
        <p:guide orient="horz" pos="2750"/>
        <p:guide pos="113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756" y="5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1922B18C-0895-40C2-A98C-6A22ECA7D214}" type="datetimeFigureOut">
              <a:rPr lang="en-US" smtClean="0"/>
              <a:t>2/26/24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7BF0A9E8-20EE-4FFE-BF50-7F2EA0FC1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7CEB82EE-7859-43C3-BD1F-7B4F0DAB0F46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722313"/>
            <a:ext cx="4794250" cy="3595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5ED5DB85-51F6-4F8B-9C9B-239CB5AE9C4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119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1B2E67">
              <a:alpha val="7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11859" y="2141909"/>
            <a:ext cx="3981504" cy="984885"/>
          </a:xfrm>
          <a:prstGeom prst="rect">
            <a:avLst/>
          </a:prstGeom>
        </p:spPr>
        <p:txBody>
          <a:bodyPr lIns="0"/>
          <a:lstStyle>
            <a:lvl1pPr>
              <a:defRPr sz="3200" b="1" baseline="0">
                <a:solidFill>
                  <a:srgbClr val="0078BF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8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511859" y="3425346"/>
            <a:ext cx="3981504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" indent="0">
              <a:buFontTx/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5508104" y="2163553"/>
            <a:ext cx="0" cy="3605048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512515" y="5515894"/>
            <a:ext cx="3981450" cy="215444"/>
          </a:xfrm>
          <a:prstGeom prst="rect">
            <a:avLst/>
          </a:prstGeom>
        </p:spPr>
        <p:txBody>
          <a:bodyPr/>
          <a:lstStyle>
            <a:lvl1pPr marL="3600" indent="0">
              <a:buFontTx/>
              <a:buNone/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0" y="1"/>
            <a:ext cx="9144000" cy="1340767"/>
          </a:xfrm>
          <a:prstGeom prst="rect">
            <a:avLst/>
          </a:prstGeom>
          <a:solidFill>
            <a:srgbClr val="0078B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6597351"/>
            <a:ext cx="9144000" cy="262247"/>
          </a:xfrm>
          <a:prstGeom prst="rect">
            <a:avLst/>
          </a:prstGeom>
          <a:solidFill>
            <a:srgbClr val="D6DADC"/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83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90976"/>
            <a:ext cx="9144000" cy="267023"/>
          </a:xfrm>
          <a:prstGeom prst="rect">
            <a:avLst/>
          </a:prstGeom>
          <a:solidFill>
            <a:srgbClr val="D6DADC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34860" y="289804"/>
            <a:ext cx="7749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rgbClr val="0078B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</a:t>
            </a:r>
          </a:p>
        </p:txBody>
      </p:sp>
      <p:sp>
        <p:nvSpPr>
          <p:cNvPr id="8" name="Slide Number"/>
          <p:cNvSpPr txBox="1">
            <a:spLocks/>
          </p:cNvSpPr>
          <p:nvPr userDrawn="1"/>
        </p:nvSpPr>
        <p:spPr>
          <a:xfrm>
            <a:off x="8721120" y="6660138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SlideLogoSeparator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8608985" y="6633206"/>
            <a:ext cx="40076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algn="r" defTabSz="895350"/>
            <a:r>
              <a:rPr lang="en-US" sz="120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|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134860" y="66140"/>
            <a:ext cx="7749508" cy="215444"/>
          </a:xfrm>
          <a:prstGeom prst="rect">
            <a:avLst/>
          </a:prstGeom>
        </p:spPr>
        <p:txBody>
          <a:bodyPr lIns="0" tIns="0" rIns="0" bIns="0" anchor="ctr"/>
          <a:lstStyle>
            <a:lvl1pPr marL="3600" indent="0">
              <a:buFontTx/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TRACKER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7989173" y="66140"/>
            <a:ext cx="0" cy="105843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McK 1. On-page tracker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34860" y="6647543"/>
            <a:ext cx="268503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Brian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Fox | Bentley University | November 2023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292" name="Text Placeholder 12291"/>
          <p:cNvSpPr>
            <a:spLocks noGrp="1"/>
          </p:cNvSpPr>
          <p:nvPr>
            <p:ph type="body" sz="quarter" idx="14" hasCustomPrompt="1"/>
          </p:nvPr>
        </p:nvSpPr>
        <p:spPr>
          <a:xfrm>
            <a:off x="134860" y="1012401"/>
            <a:ext cx="7245452" cy="215444"/>
          </a:xfrm>
        </p:spPr>
        <p:txBody>
          <a:bodyPr tIns="0" rIns="0" bIns="0"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3" name="Text Placeholder 12291"/>
          <p:cNvSpPr>
            <a:spLocks noGrp="1"/>
          </p:cNvSpPr>
          <p:nvPr>
            <p:ph type="body" sz="quarter" idx="15" hasCustomPrompt="1"/>
          </p:nvPr>
        </p:nvSpPr>
        <p:spPr>
          <a:xfrm>
            <a:off x="134860" y="6359812"/>
            <a:ext cx="7245452" cy="153888"/>
          </a:xfrm>
        </p:spPr>
        <p:txBody>
          <a:bodyPr tIns="0" rIns="0" bIns="0"/>
          <a:lstStyle>
            <a:lvl1pPr>
              <a:defRPr sz="10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source</a:t>
            </a:r>
          </a:p>
        </p:txBody>
      </p:sp>
      <p:sp>
        <p:nvSpPr>
          <p:cNvPr id="15" name="McK 1. On-page tracker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227387" y="6647543"/>
            <a:ext cx="68929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 Seminar</a:t>
            </a:r>
          </a:p>
        </p:txBody>
      </p:sp>
      <p:sp>
        <p:nvSpPr>
          <p:cNvPr id="18" name="McK 1. On-page tracker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813840" y="6660138"/>
            <a:ext cx="171842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Discussion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Purposes Only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Picture 16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209" y="0"/>
            <a:ext cx="919651" cy="12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2E6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430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39432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/>
          <p:cNvSpPr>
            <a:spLocks noGrp="1"/>
          </p:cNvSpPr>
          <p:nvPr>
            <p:ph type="body" idx="1"/>
          </p:nvPr>
        </p:nvSpPr>
        <p:spPr>
          <a:xfrm>
            <a:off x="134860" y="908720"/>
            <a:ext cx="404279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62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itchFamily="2" charset="2"/>
        <a:buNone/>
        <a:tabLst/>
        <a:defRPr sz="1400" b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0" indent="-194400" algn="l" defTabSz="914400" rtl="0" eaLnBrk="1" latinLnBrk="0" hangingPunct="1">
        <a:spcBef>
          <a:spcPts val="0"/>
        </a:spcBef>
        <a:buFont typeface="Wingdings" pitchFamily="2" charset="2"/>
        <a:buChar char="§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457200" indent="-154800" algn="l" defTabSz="914400" rtl="0" eaLnBrk="1" latinLnBrk="0" hangingPunct="1"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6156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7488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»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F62E-1D6D-CD35-6CF7-A205AEEE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Desiderata for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28E1-1D21-FF48-2910-06E2C2F9347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HYPOTHESIS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3D938-A2B1-3D94-6401-5E40995D25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860" y="809327"/>
            <a:ext cx="7245452" cy="430887"/>
          </a:xfrm>
        </p:spPr>
        <p:txBody>
          <a:bodyPr/>
          <a:lstStyle/>
          <a:p>
            <a:pPr algn="just"/>
            <a:r>
              <a:rPr lang="en-US" sz="1400" dirty="0"/>
              <a:t>“A causal hypothesis is a proposition to be tested or a tentative statement of a relationship between two variables” – Neumann (2014: 182)</a:t>
            </a:r>
            <a:endParaRPr lang="es-E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29B84-C5AA-44EB-F163-25E23788E5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Source: Neuman (2014) with some added commentary.  See also Pearl (2001). 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3DB85A-4FB2-867D-854E-95751C82F4A5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9C3D05-9424-13B3-D3F4-C32085B5D66A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FE2A137-E531-6414-94F0-46071383A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5287"/>
              </p:ext>
            </p:extLst>
          </p:nvPr>
        </p:nvGraphicFramePr>
        <p:xfrm>
          <a:off x="156714" y="1451960"/>
          <a:ext cx="8785224" cy="36454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546793769"/>
                    </a:ext>
                  </a:extLst>
                </a:gridCol>
                <a:gridCol w="6913016">
                  <a:extLst>
                    <a:ext uri="{9D8B030D-6E8A-4147-A177-3AD203B41FA5}">
                      <a16:colId xmlns:a16="http://schemas.microsoft.com/office/drawing/2014/main" val="3686109307"/>
                    </a:ext>
                  </a:extLst>
                </a:gridCol>
              </a:tblGrid>
              <a:tr h="29604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Helvetica" pitchFamily="2" charset="0"/>
                        </a:rP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Helvetica" pitchFamily="2" charset="0"/>
                        </a:rPr>
                        <a:t>Why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Falsifiable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We are looking to update our beliefs regarding the truth of the hypothesis, due to the number of alternative explanations the law of the excluded middle is difficult to apply: easier to show the falseness of a hypothesis than its truth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164347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Predictive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Allows us to take action on our beliefs or forecast the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5220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Pertinent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We want our hypothesis to provide useful information to address our research question / concern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83789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If actually testing the hypothesis (and not just formulating as a proposition), you need to be able to measure the elements to perform statistical analyses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017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Helvetica" pitchFamily="2" charset="0"/>
                        </a:rPr>
                        <a:t>Relational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Helvetica" pitchFamily="2" charset="0"/>
                        </a:rPr>
                        <a:t>Relationships allow us to begin to ask questions about causality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Helvetica" pitchFamily="2" charset="0"/>
                        </a:rPr>
                        <a:t>(but note that hypotheses about the level of something can still be informative)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994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Causal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(This is hard for us to do, but the intent); there should be a temporal sequencing between the independent and dependent variable and this relationship should (at least) satisfy the “backdoor criterion”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55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F62E-1D6D-CD35-6CF7-A205AEEE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Desiderata for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28E1-1D21-FF48-2910-06E2C2F934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4860" y="66140"/>
            <a:ext cx="7749508" cy="215444"/>
          </a:xfrm>
        </p:spPr>
        <p:txBody>
          <a:bodyPr/>
          <a:lstStyle/>
          <a:p>
            <a:r>
              <a:rPr lang="en-US" dirty="0"/>
              <a:t>HYPOTHESIS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3D938-A2B1-3D94-6401-5E40995D25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860" y="809327"/>
            <a:ext cx="7245452" cy="430887"/>
          </a:xfrm>
        </p:spPr>
        <p:txBody>
          <a:bodyPr/>
          <a:lstStyle/>
          <a:p>
            <a:pPr algn="just"/>
            <a:r>
              <a:rPr lang="en-US" sz="1400" dirty="0"/>
              <a:t>“A causal hypothesis is a proposition to be tested or a tentative statement of a relationship between two variables” – Neuman (2014: 182)</a:t>
            </a:r>
            <a:endParaRPr lang="es-E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29B84-C5AA-44EB-F163-25E23788E5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Source: Neuman (2014) with some added commentary.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3DB85A-4FB2-867D-854E-95751C82F4A5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9C3D05-9424-13B3-D3F4-C32085B5D66A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FE2A137-E531-6414-94F0-46071383A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225280"/>
              </p:ext>
            </p:extLst>
          </p:nvPr>
        </p:nvGraphicFramePr>
        <p:xfrm>
          <a:off x="156714" y="1451960"/>
          <a:ext cx="8785224" cy="4706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546793769"/>
                    </a:ext>
                  </a:extLst>
                </a:gridCol>
                <a:gridCol w="6913016">
                  <a:extLst>
                    <a:ext uri="{9D8B030D-6E8A-4147-A177-3AD203B41FA5}">
                      <a16:colId xmlns:a16="http://schemas.microsoft.com/office/drawing/2014/main" val="3686109307"/>
                    </a:ext>
                  </a:extLst>
                </a:gridCol>
              </a:tblGrid>
              <a:tr h="29604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Helvetica" pitchFamily="2" charset="0"/>
                        </a:rPr>
                        <a:t>(Some) anti-criteria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Compound</a:t>
                      </a:r>
                    </a:p>
                    <a:p>
                      <a:r>
                        <a:rPr lang="en-US" sz="1400" dirty="0">
                          <a:latin typeface="Helvetica" pitchFamily="2" charset="0"/>
                        </a:rPr>
                        <a:t>“double-barreled”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Ambiguous predictions make it difficult to discern what information we have learned</a:t>
                      </a:r>
                    </a:p>
                    <a:p>
                      <a:r>
                        <a:rPr lang="en-US" sz="1400" dirty="0">
                          <a:latin typeface="Helvetica" pitchFamily="2" charset="0"/>
                        </a:rPr>
                        <a:t>(may sometimes be reformulated as an interaction)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164347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Tautological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Truth inherent through deduction; i.e. non-falsifiable</a:t>
                      </a:r>
                    </a:p>
                    <a:p>
                      <a:r>
                        <a:rPr lang="en-US" sz="1400" dirty="0">
                          <a:latin typeface="Helvetica" pitchFamily="2" charset="0"/>
                        </a:rPr>
                        <a:t>(Can help verify whether you have made false assumptions)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5220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Value-laden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“Should” questions do not help us uncover the underlying states of the world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83789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Teleological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“Just so” stories where we don’t specify the temporal order of goal formation and attainment (or not)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017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Helvetica" pitchFamily="2" charset="0"/>
                        </a:rPr>
                        <a:t>Ecological fallacy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Helvetica" pitchFamily="2" charset="0"/>
                        </a:rPr>
                        <a:t>We try to predict an individual outcome with aggregate-level behavior without considering individual level differences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994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Helvetica" pitchFamily="2" charset="0"/>
                        </a:rPr>
                        <a:t>Reductionist fallacy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We try to predict an aggregate outcome with individual behavior without appropriate consideration of aggregation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013362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Spuriousness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Failing to take into account a reasonable alternative explanation </a:t>
                      </a:r>
                      <a:br>
                        <a:rPr lang="en-US" sz="1400" dirty="0">
                          <a:latin typeface="Helvetica" pitchFamily="2" charset="0"/>
                        </a:rPr>
                      </a:br>
                      <a:r>
                        <a:rPr lang="en-US" sz="1400" dirty="0">
                          <a:latin typeface="Helvetica" pitchFamily="2" charset="0"/>
                        </a:rPr>
                        <a:t>(this can be done empirically through design or controls)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24029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489567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02834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613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2008"/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Tru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2830136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POWERPOINTVERSION" val="14.0"/>
  <p:tag name="CORRECTPOINTVALUE" val="1"/>
  <p:tag name="BUBBLESIZEVISIBLE" val="True"/>
  <p:tag name="REVIEWONLY" val="False"/>
  <p:tag name="GRIDROTATIONINTERVAL" val="2"/>
  <p:tag name="PRRESPONSE5" val="6"/>
  <p:tag name="DELIMITERS" val="3.1"/>
  <p:tag name="TASKPANEKEY" val="1ae76107-f3e0-4c9e-9a2f-35213e7a9b49"/>
  <p:tag name="TPFULLVERSION" val="4.5.1.2243"/>
  <p:tag name="INCLUDESESSION" val="True"/>
  <p:tag name="ISPRING_RESOURCE_PATHS_HASH_PRESENTER" val="36eeff7948365877e17741f6da38fc33960cf9d"/>
  <p:tag name="THINKCELLPRESENTATIONDONOTDELETE" val="&lt;?xml version=&quot;1.0&quot; encoding=&quot;UTF-16&quot; standalone=&quot;yes&quot;?&gt;&#10;&lt;root reqver=&quot;21047&quot;&gt;&lt;version val=&quot;2325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d-%1-%Y&lt;/m_strFormatTime&gt;&lt;/m_precDefaultDate&gt;&lt;m_precDefaultYear&gt;&lt;m_bNumberIsYear val=&quot;0&quot;/&gt;&lt;m_strFormatTime&gt;%Y&lt;/m_strFormatTime&gt;&lt;/m_precDefaultYear&gt;&lt;m_precDefaultQuarter&gt;&lt;m_bNumberIsYear val=&quot;0&quot;/&gt;&lt;m_strFormatTime&gt;Q%5&lt;/m_strFormatTime&gt;&lt;/m_precDefaultQuarter&gt;&lt;m_precDefaultMonth&gt;&lt;m_bNumberIsYear val=&quot;0&quot;/&gt;&lt;m_strFormatTime&gt;%#m&lt;/m_strFormatTime&gt;&lt;/m_precDefaultMonth&gt;&lt;m_precDefaultWeek&gt;&lt;m_bNumberIsYear val=&quot;0&quot;/&gt;&lt;m_strFormatTime&gt;%4&lt;/m_strFormatTime&gt;&lt;/m_precDefaultWeek&gt;&lt;m_precDefaultDay&gt;&lt;m_bNumberIsYear val=&quot;0&quot;/&gt;&lt;m_strFormatTime&gt;%d&lt;/m_strFormatTime&gt;&lt;/m_precDefaultDay&gt;&lt;m_mruColor&gt;&lt;m_vecMRU length=&quot;3&quot;&gt;&lt;elem m_fUsage=&quot;4.85364711931390060000E+000&quot;&gt;&lt;m_msothmcolidx val=&quot;0&quot;/&gt;&lt;m_rgb r=&quot;76&quot; g=&quot;a3&quot; b=&quot;32&quot;/&gt;&lt;m_ppcolschidx tagver0=&quot;23004&quot; tagname0=&quot;m_ppcolschidxUNRECOGNIZED&quot; val=&quot;0&quot;/&gt;&lt;m_nBrightness val=&quot;0&quot;/&gt;&lt;/elem&gt;&lt;elem m_fUsage=&quot;2.19618459900000000000E+000&quot;&gt;&lt;m_msothmcolidx val=&quot;0&quot;/&gt;&lt;m_rgb r=&quot;db&quot; g=&quot;e7&quot; b=&quot;b6&quot;/&gt;&lt;m_ppcolschidx tagver0=&quot;23004&quot; tagname0=&quot;m_ppcolschidxUNRECOGNIZED&quot; val=&quot;0&quot;/&gt;&lt;m_nBrightness val=&quot;0&quot;/&gt;&lt;/elem&gt;&lt;elem m_fUsage=&quot;1.28245011171944330000E+000&quot;&gt;&lt;m_msothmcolidx val=&quot;0&quot;/&gt;&lt;m_rgb r=&quot;49&quot; g=&quot;a2&quot; b=&quot;33&quot;/&gt;&lt;m_ppcolschidx tagver0=&quot;23004&quot; tagname0=&quot;m_ppcolschidxUNRECOGNIZED&quot; val=&quot;0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ISNEWSLIDENUMBER" val="True"/>
  <p:tag name="PREVIOUSNAME" val="C:\Users\Christopher Leifeld\Documents\09 - Dissertation\04 Diss\08 Conferences\EURAM\20160603_EURAM Presentation_v1.pptx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Blank Template (Microsoft)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 w="6350">
          <a:solidFill>
            <a:schemeClr val="accent6">
              <a:lumMod val="40000"/>
              <a:lumOff val="60000"/>
            </a:schemeClr>
          </a:solidFill>
        </a:ln>
      </a:spPr>
      <a:bodyPr lIns="36000" tIns="0" rIns="36000" bIns="0" rtlCol="0" anchor="ctr"/>
      <a:lstStyle>
        <a:defPPr algn="ctr">
          <a:defRPr sz="1400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400" dirty="0" smtClean="0">
            <a:latin typeface="Helvetica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24686</TotalTime>
  <Words>408</Words>
  <Application>Microsoft Macintosh PowerPoint</Application>
  <PresentationFormat>On-screen Show (4:3)</PresentationFormat>
  <Paragraphs>41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Helvetica</vt:lpstr>
      <vt:lpstr>Wingdings</vt:lpstr>
      <vt:lpstr>Blank Template (Microsoft)</vt:lpstr>
      <vt:lpstr>think-cell Slide</vt:lpstr>
      <vt:lpstr>Desiderata for hypotheses</vt:lpstr>
      <vt:lpstr>Desiderata for hypotheses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Leifeld</dc:creator>
  <cp:lastModifiedBy>Fox, Brian</cp:lastModifiedBy>
  <cp:revision>1766</cp:revision>
  <cp:lastPrinted>2017-04-19T21:34:28Z</cp:lastPrinted>
  <dcterms:created xsi:type="dcterms:W3CDTF">2015-01-27T14:28:57Z</dcterms:created>
  <dcterms:modified xsi:type="dcterms:W3CDTF">2024-02-26T21:14:59Z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2010EditCount">
    <vt:lpwstr>1</vt:lpwstr>
  </property>
  <property fmtid="{D5CDD505-2E9C-101B-9397-08002B2CF9AE}" pid="3" name="Office2003EditCount">
    <vt:lpwstr>0</vt:lpwstr>
  </property>
  <property fmtid="{D5CDD505-2E9C-101B-9397-08002B2CF9AE}" pid="4" name="LastEditedOfficeVersion">
    <vt:lpwstr>Office2010</vt:lpwstr>
  </property>
  <property fmtid="{D5CDD505-2E9C-101B-9397-08002B2CF9AE}" pid="5" name="Office2010WasSaved">
    <vt:lpwstr>1</vt:lpwstr>
  </property>
</Properties>
</file>