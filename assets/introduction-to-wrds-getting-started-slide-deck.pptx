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59" r:id="rId3"/>
    <p:sldId id="260" r:id="rId4"/>
    <p:sldId id="284" r:id="rId5"/>
    <p:sldId id="282" r:id="rId6"/>
    <p:sldId id="283" r:id="rId7"/>
    <p:sldId id="276" r:id="rId8"/>
    <p:sldId id="277" r:id="rId9"/>
    <p:sldId id="261" r:id="rId10"/>
    <p:sldId id="278" r:id="rId11"/>
    <p:sldId id="271" r:id="rId12"/>
    <p:sldId id="272" r:id="rId13"/>
    <p:sldId id="285" r:id="rId14"/>
    <p:sldId id="281" r:id="rId15"/>
    <p:sldId id="264" r:id="rId16"/>
    <p:sldId id="266" r:id="rId17"/>
    <p:sldId id="267" r:id="rId18"/>
    <p:sldId id="286" r:id="rId19"/>
    <p:sldId id="280" r:id="rId20"/>
    <p:sldId id="287" r:id="rId21"/>
    <p:sldId id="279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124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24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9AF1E-A6C7-9142-AEED-33959E949AB1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B6A19-3022-DA44-9F19-B6009253F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4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9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34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1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3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07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6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3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14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9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E147F-2E32-4170-A556-379330FADBA0}" type="datetimeFigureOut">
              <a:rPr lang="en-US" smtClean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7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rds-www.wharton.upenn.edu/pages/support/getting-started/3-ways-use-wrd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rds-www.wharton.upenn.edu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ack.com/team/U0HA9MRMH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rds-www.wharton.upenn.edu/contact-suppo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211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831796"/>
            <a:ext cx="6858000" cy="115751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  <a:cs typeface="Calibri"/>
              </a:rPr>
              <a:t>Getting Started </a:t>
            </a:r>
          </a:p>
        </p:txBody>
      </p:sp>
    </p:spTree>
    <p:extLst>
      <p:ext uri="{BB962C8B-B14F-4D97-AF65-F5344CB8AC3E}">
        <p14:creationId xmlns:p14="http://schemas.microsoft.com/office/powerpoint/2010/main" val="209007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211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37" y="652396"/>
            <a:ext cx="77851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Learning 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2087" y="2016740"/>
            <a:ext cx="7532622" cy="1350520"/>
          </a:xfrm>
        </p:spPr>
        <p:txBody>
          <a:bodyPr>
            <a:noAutofit/>
          </a:bodyPr>
          <a:lstStyle/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Become conversant in building and executing WRDS web queries.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4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211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812" y="533780"/>
            <a:ext cx="74549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What is WRDS?</a:t>
            </a:r>
          </a:p>
        </p:txBody>
      </p:sp>
      <p:sp>
        <p:nvSpPr>
          <p:cNvPr id="3" name="Subtitle 2"/>
          <p:cNvSpPr>
            <a:spLocks noGrp="1" noChangeAspect="1"/>
          </p:cNvSpPr>
          <p:nvPr>
            <p:ph type="subTitle" idx="1"/>
          </p:nvPr>
        </p:nvSpPr>
        <p:spPr>
          <a:xfrm>
            <a:off x="628262" y="1476286"/>
            <a:ext cx="7235578" cy="514350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WRDS stands for Wharton Research Data Services.  </a:t>
            </a:r>
            <a:br>
              <a:rPr lang="en-US" sz="2800" dirty="0">
                <a:latin typeface="Calibri"/>
                <a:cs typeface="Calibri"/>
              </a:rPr>
            </a:br>
            <a:endParaRPr lang="en-US" sz="2800" dirty="0">
              <a:latin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WRDS aggregates data into a standard format and then makes it available to subscribers.</a:t>
            </a:r>
          </a:p>
          <a:p>
            <a:pPr marL="257175" indent="-257175" algn="l">
              <a:buFont typeface="Arial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9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503" y="235802"/>
            <a:ext cx="74549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Financial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1600C-E000-4DC2-B922-83A3EF395B66}"/>
              </a:ext>
            </a:extLst>
          </p:cNvPr>
          <p:cNvSpPr txBox="1"/>
          <p:nvPr/>
        </p:nvSpPr>
        <p:spPr>
          <a:xfrm>
            <a:off x="465513" y="1182048"/>
            <a:ext cx="371533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WRDS is best known for financial data</a:t>
            </a: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example, stock prices </a:t>
            </a: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CRSP, or company fundamentals </a:t>
            </a: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dirty="0" err="1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Compustat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35013-9753-46A0-884D-D853DC5B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3" y="4590481"/>
            <a:ext cx="8527566" cy="7106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AD6EB5-4565-4A10-BF92-7C37D811D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857" y="946432"/>
            <a:ext cx="4497640" cy="32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79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211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503" y="235802"/>
            <a:ext cx="74549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Other Types of Data</a:t>
            </a:r>
          </a:p>
        </p:txBody>
      </p:sp>
      <p:sp>
        <p:nvSpPr>
          <p:cNvPr id="3" name="Subtitle 2"/>
          <p:cNvSpPr>
            <a:spLocks noGrp="1" noChangeAspect="1"/>
          </p:cNvSpPr>
          <p:nvPr>
            <p:ph type="subTitle" idx="1"/>
          </p:nvPr>
        </p:nvSpPr>
        <p:spPr>
          <a:xfrm>
            <a:off x="654953" y="2400849"/>
            <a:ext cx="6858000" cy="2513824"/>
          </a:xfrm>
        </p:spPr>
        <p:txBody>
          <a:bodyPr numCol="2">
            <a:noAutofit/>
          </a:bodyPr>
          <a:lstStyle/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Accounting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Banking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Economics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Healthcare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21252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21252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Insurance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</a:t>
            </a:r>
          </a:p>
          <a:p>
            <a:pPr marL="457200" indent="-457200" algn="l">
              <a:buSzPct val="6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Marketing </a:t>
            </a:r>
          </a:p>
          <a:p>
            <a:pPr marL="257175" indent="-257175" algn="l">
              <a:buFont typeface="Arial"/>
              <a:buChar char="•"/>
            </a:pP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1600C-E000-4DC2-B922-83A3EF395B66}"/>
              </a:ext>
            </a:extLst>
          </p:cNvPr>
          <p:cNvSpPr txBox="1"/>
          <p:nvPr/>
        </p:nvSpPr>
        <p:spPr>
          <a:xfrm>
            <a:off x="565264" y="1196587"/>
            <a:ext cx="7572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WRDS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also hosts data in a variety of other disciplines including:</a:t>
            </a:r>
          </a:p>
        </p:txBody>
      </p:sp>
    </p:spTree>
    <p:extLst>
      <p:ext uri="{BB962C8B-B14F-4D97-AF65-F5344CB8AC3E}">
        <p14:creationId xmlns:p14="http://schemas.microsoft.com/office/powerpoint/2010/main" val="246800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211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812" y="533780"/>
            <a:ext cx="74549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Getting Started</a:t>
            </a:r>
          </a:p>
        </p:txBody>
      </p:sp>
      <p:sp>
        <p:nvSpPr>
          <p:cNvPr id="3" name="Subtitle 2"/>
          <p:cNvSpPr>
            <a:spLocks noGrp="1" noChangeAspect="1"/>
          </p:cNvSpPr>
          <p:nvPr>
            <p:ph type="subTitle" idx="1"/>
          </p:nvPr>
        </p:nvSpPr>
        <p:spPr>
          <a:xfrm>
            <a:off x="686451" y="1483110"/>
            <a:ext cx="8050225" cy="514350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you need is a web browser and Internet access to query data from WRDS. </a:t>
            </a:r>
            <a:b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800" i="0" dirty="0">
              <a:solidFill>
                <a:srgbClr val="21252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 you decide which dataset to use, you can use </a:t>
            </a:r>
            <a:r>
              <a:rPr lang="en-US" sz="28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web-based query form to extract and output data in the format of your choice.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1252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assignment provides instructions on how to create a web-based query. See </a:t>
            </a: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Support</a:t>
            </a:r>
            <a:r>
              <a:rPr lang="en-US" sz="2800" i="0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additional ways to access WRDS data.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7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963" y="613064"/>
            <a:ext cx="68580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3036" y="1493858"/>
            <a:ext cx="7982969" cy="1880863"/>
          </a:xfrm>
        </p:spPr>
        <p:txBody>
          <a:bodyPr>
            <a:normAutofit fontScale="25000" lnSpcReduction="20000"/>
          </a:bodyPr>
          <a:lstStyle/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1200" dirty="0">
                <a:latin typeface="Calibri"/>
                <a:cs typeface="Calibri"/>
              </a:rPr>
              <a:t>Your assignment is to access WRDS and download monthly stock prices for IBM, Amazon, and Walmart for 2020. Stock price data is provided by CRSP. 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1200" dirty="0">
              <a:latin typeface="Calibri"/>
              <a:cs typeface="Calibri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sz="11200" dirty="0">
                <a:latin typeface="Calibri"/>
                <a:cs typeface="Calibri"/>
              </a:rPr>
              <a:t>This assignment has two parts:</a:t>
            </a: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11200" dirty="0">
              <a:latin typeface="Calibri"/>
              <a:cs typeface="Calibri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11200" dirty="0">
                <a:latin typeface="Calibri"/>
                <a:cs typeface="Calibri"/>
              </a:rPr>
              <a:t>Log in to the WRDS platform and locate the CRSP database.</a:t>
            </a:r>
            <a:br>
              <a:rPr lang="en-US" sz="11200" dirty="0">
                <a:latin typeface="Calibri"/>
                <a:cs typeface="Calibri"/>
              </a:rPr>
            </a:br>
            <a:endParaRPr lang="en-US" sz="11200" dirty="0">
              <a:latin typeface="Calibri"/>
              <a:cs typeface="Calibri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11200" dirty="0">
                <a:latin typeface="Calibri"/>
                <a:cs typeface="Calibri"/>
              </a:rPr>
              <a:t>Create a data query in CRSP and view the results.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0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462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4" y="471750"/>
            <a:ext cx="74549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Link to WRDS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46100" y="2638826"/>
            <a:ext cx="7454900" cy="96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3200" dirty="0">
                <a:latin typeface="Calibri"/>
                <a:cs typeface="Calibri"/>
                <a:hlinkClick r:id="rId3"/>
              </a:rPr>
              <a:t>https://wrds-www.wharton.upenn.edu</a:t>
            </a:r>
            <a:endParaRPr lang="en-US" sz="3200" dirty="0">
              <a:latin typeface="Calibri"/>
              <a:cs typeface="Calibri"/>
            </a:endParaRPr>
          </a:p>
          <a:p>
            <a:pPr algn="l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66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462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957" y="436563"/>
            <a:ext cx="7818067" cy="710630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Class Account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4E7B3-4645-4C23-B22F-193E516A9402}"/>
              </a:ext>
            </a:extLst>
          </p:cNvPr>
          <p:cNvSpPr txBox="1"/>
          <p:nvPr/>
        </p:nvSpPr>
        <p:spPr>
          <a:xfrm>
            <a:off x="802178" y="1687484"/>
            <a:ext cx="75396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If you are using a class account to access WRDS, please ask your instructor for the class login credentials. </a:t>
            </a:r>
            <a:br>
              <a:rPr lang="en-US" sz="2800" dirty="0">
                <a:latin typeface="Calibri"/>
                <a:cs typeface="Calibri"/>
              </a:rPr>
            </a:br>
            <a:endParaRPr lang="en-US" sz="2800" dirty="0">
              <a:latin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Do not share this information outside the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54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578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823" y="72096"/>
            <a:ext cx="7818067" cy="710630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WRDS Login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5D369-0919-44C3-833E-25717F969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53" y="770646"/>
            <a:ext cx="8113221" cy="3589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A8D784-62CD-4B4C-BDFC-1B65699F36DD}"/>
              </a:ext>
            </a:extLst>
          </p:cNvPr>
          <p:cNvSpPr txBox="1"/>
          <p:nvPr/>
        </p:nvSpPr>
        <p:spPr>
          <a:xfrm>
            <a:off x="190789" y="4348151"/>
            <a:ext cx="87624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Enter your username and password.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the Login button. </a:t>
            </a:r>
          </a:p>
        </p:txBody>
      </p:sp>
    </p:spTree>
    <p:extLst>
      <p:ext uri="{BB962C8B-B14F-4D97-AF65-F5344CB8AC3E}">
        <p14:creationId xmlns:p14="http://schemas.microsoft.com/office/powerpoint/2010/main" val="2915862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0" y="36248"/>
            <a:ext cx="8019557" cy="6521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WRDS Home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74F76-FF3F-49BC-8676-4CA69EA7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009" y="964744"/>
            <a:ext cx="5730997" cy="4523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08A353-373E-405C-84B9-3FFCEB55E545}"/>
              </a:ext>
            </a:extLst>
          </p:cNvPr>
          <p:cNvSpPr txBox="1"/>
          <p:nvPr/>
        </p:nvSpPr>
        <p:spPr>
          <a:xfrm>
            <a:off x="24228" y="1178251"/>
            <a:ext cx="29129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WRDS Home page displays your data subscriptions.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Scroll down the page to locate the CRSP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Click on CRSP.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E7DBE7-21BE-43E9-A0A7-B1435E877A47}"/>
              </a:ext>
            </a:extLst>
          </p:cNvPr>
          <p:cNvCxnSpPr>
            <a:cxnSpLocks/>
          </p:cNvCxnSpPr>
          <p:nvPr/>
        </p:nvCxnSpPr>
        <p:spPr>
          <a:xfrm>
            <a:off x="2605898" y="4655127"/>
            <a:ext cx="662624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8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785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125" y="332889"/>
            <a:ext cx="79248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CRSP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DF794-7F87-4C9D-82A3-F093792C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346" y="600635"/>
            <a:ext cx="5800725" cy="4894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7C9BF-0B8F-48F6-A778-BDC83897ABB8}"/>
              </a:ext>
            </a:extLst>
          </p:cNvPr>
          <p:cNvSpPr txBox="1"/>
          <p:nvPr/>
        </p:nvSpPr>
        <p:spPr>
          <a:xfrm>
            <a:off x="277125" y="2472006"/>
            <a:ext cx="3050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Click on Stock/Security Files.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95FB9C-D17E-44B5-84B4-F0D3060A7697}"/>
              </a:ext>
            </a:extLst>
          </p:cNvPr>
          <p:cNvCxnSpPr/>
          <p:nvPr/>
        </p:nvCxnSpPr>
        <p:spPr>
          <a:xfrm>
            <a:off x="1536387" y="3434542"/>
            <a:ext cx="1553017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4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785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125" y="332889"/>
            <a:ext cx="79248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CRSP Stock/Security Files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222" y="2417041"/>
            <a:ext cx="2199964" cy="3837468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Calibri"/>
                <a:cs typeface="Calibri"/>
              </a:rPr>
              <a:t>Click on Monthly Stock 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B7E79-5255-4510-8A0E-C7A73FBE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06" y="1435953"/>
            <a:ext cx="6196418" cy="384192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FC1133-C1E4-4B1B-B9C9-55C7FD117FCC}"/>
              </a:ext>
            </a:extLst>
          </p:cNvPr>
          <p:cNvCxnSpPr>
            <a:cxnSpLocks/>
          </p:cNvCxnSpPr>
          <p:nvPr/>
        </p:nvCxnSpPr>
        <p:spPr>
          <a:xfrm flipH="1">
            <a:off x="6462073" y="3050771"/>
            <a:ext cx="68995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58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125" y="149018"/>
            <a:ext cx="79248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CRSP Monthly Stock Data Query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24A69-B8D8-422D-9F6D-1014DC497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971" y="973087"/>
            <a:ext cx="5888770" cy="41050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95CE1-C05E-4B17-8681-25B81C08D581}"/>
              </a:ext>
            </a:extLst>
          </p:cNvPr>
          <p:cNvSpPr txBox="1"/>
          <p:nvPr/>
        </p:nvSpPr>
        <p:spPr>
          <a:xfrm>
            <a:off x="188258" y="3573840"/>
            <a:ext cx="26015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cs typeface="Calibri"/>
              </a:rPr>
              <a:t>Enter 2020-01 to 2020-12 in the Date Variable fields. </a:t>
            </a:r>
            <a:endParaRPr lang="en-US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18663E-82AA-4986-B2D0-5428823320FF}"/>
              </a:ext>
            </a:extLst>
          </p:cNvPr>
          <p:cNvCxnSpPr>
            <a:cxnSpLocks/>
          </p:cNvCxnSpPr>
          <p:nvPr/>
        </p:nvCxnSpPr>
        <p:spPr>
          <a:xfrm>
            <a:off x="2306795" y="4554389"/>
            <a:ext cx="693571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D7FC10-669B-4AFF-8156-8098B70F28BA}"/>
              </a:ext>
            </a:extLst>
          </p:cNvPr>
          <p:cNvSpPr txBox="1"/>
          <p:nvPr/>
        </p:nvSpPr>
        <p:spPr>
          <a:xfrm>
            <a:off x="188258" y="1096617"/>
            <a:ext cx="24635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 the query page, the first step is to select the date range for your data. </a:t>
            </a:r>
          </a:p>
        </p:txBody>
      </p:sp>
    </p:spTree>
    <p:extLst>
      <p:ext uri="{BB962C8B-B14F-4D97-AF65-F5344CB8AC3E}">
        <p14:creationId xmlns:p14="http://schemas.microsoft.com/office/powerpoint/2010/main" val="167533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16849" y="211362"/>
            <a:ext cx="7556501" cy="9406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Enter the Companies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88546-E3B4-4064-BADE-172CF3A8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77" y="1383560"/>
            <a:ext cx="6775396" cy="2493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D23ED2-F83C-4EC9-8EF9-CCF05720D2DB}"/>
              </a:ext>
            </a:extLst>
          </p:cNvPr>
          <p:cNvSpPr txBox="1"/>
          <p:nvPr/>
        </p:nvSpPr>
        <p:spPr>
          <a:xfrm>
            <a:off x="3931921" y="4486826"/>
            <a:ext cx="44306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cs typeface="Calibri"/>
              </a:rPr>
              <a:t>Enter the ticker symbols for the companies: IBM AMZN WMT.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C2439-D3C5-49FD-A5C8-87A4E2134832}"/>
              </a:ext>
            </a:extLst>
          </p:cNvPr>
          <p:cNvSpPr txBox="1"/>
          <p:nvPr/>
        </p:nvSpPr>
        <p:spPr>
          <a:xfrm>
            <a:off x="66502" y="1504604"/>
            <a:ext cx="1853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cs typeface="Calibri"/>
              </a:rPr>
              <a:t>Make sure Ticker is selected.</a:t>
            </a:r>
          </a:p>
          <a:p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680C05-9251-413B-AD67-A1E52B648171}"/>
              </a:ext>
            </a:extLst>
          </p:cNvPr>
          <p:cNvCxnSpPr>
            <a:cxnSpLocks/>
          </p:cNvCxnSpPr>
          <p:nvPr/>
        </p:nvCxnSpPr>
        <p:spPr>
          <a:xfrm>
            <a:off x="1745673" y="2302625"/>
            <a:ext cx="679804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CBE0C4-D828-464E-805F-AB2C30F78BBC}"/>
              </a:ext>
            </a:extLst>
          </p:cNvPr>
          <p:cNvCxnSpPr>
            <a:cxnSpLocks/>
          </p:cNvCxnSpPr>
          <p:nvPr/>
        </p:nvCxnSpPr>
        <p:spPr>
          <a:xfrm flipH="1" flipV="1">
            <a:off x="4286045" y="3971542"/>
            <a:ext cx="385710" cy="42064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6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80989" y="177228"/>
            <a:ext cx="7120557" cy="8734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Select the Query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6610" y="5041236"/>
            <a:ext cx="4568646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cs typeface="Calibri"/>
              </a:rPr>
              <a:t>For this assignment, select two variables: Ticker and Price.</a:t>
            </a:r>
          </a:p>
          <a:p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265" y="1378356"/>
            <a:ext cx="27195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the variables you want from the Query Variables list.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9CD423-BF88-4548-BA99-81619531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269" y="1187305"/>
            <a:ext cx="5594118" cy="374214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312871-194D-40A1-805F-10DD4BA7047A}"/>
              </a:ext>
            </a:extLst>
          </p:cNvPr>
          <p:cNvCxnSpPr/>
          <p:nvPr/>
        </p:nvCxnSpPr>
        <p:spPr>
          <a:xfrm>
            <a:off x="2211185" y="1496291"/>
            <a:ext cx="70658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1E0471-2F2B-4EA2-B80C-EE0C23B4D98C}"/>
              </a:ext>
            </a:extLst>
          </p:cNvPr>
          <p:cNvCxnSpPr/>
          <p:nvPr/>
        </p:nvCxnSpPr>
        <p:spPr>
          <a:xfrm flipV="1">
            <a:off x="6899564" y="3757353"/>
            <a:ext cx="0" cy="128388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937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54000" y="326073"/>
            <a:ext cx="8089900" cy="1654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Select the Query 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529" y="5059278"/>
            <a:ext cx="7060666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cs typeface="Calibri"/>
              </a:rPr>
              <a:t>For this assignment, select fixed-width text (*.txt), which will display the data in your browser.</a:t>
            </a:r>
          </a:p>
          <a:p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B9BE0-6CC1-45A4-AE1D-BF93B6D90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08687"/>
            <a:ext cx="6855012" cy="39337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BAAF8C-06E3-44CB-A32E-C2AB1F993142}"/>
              </a:ext>
            </a:extLst>
          </p:cNvPr>
          <p:cNvCxnSpPr>
            <a:cxnSpLocks/>
          </p:cNvCxnSpPr>
          <p:nvPr/>
        </p:nvCxnSpPr>
        <p:spPr>
          <a:xfrm flipH="1" flipV="1">
            <a:off x="576675" y="2604105"/>
            <a:ext cx="1458313" cy="251653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236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54000" y="326073"/>
            <a:ext cx="8089900" cy="1654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Run the 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856EC-68F4-4FB6-9213-CD5B93C2E377}"/>
              </a:ext>
            </a:extLst>
          </p:cNvPr>
          <p:cNvSpPr txBox="1"/>
          <p:nvPr/>
        </p:nvSpPr>
        <p:spPr>
          <a:xfrm>
            <a:off x="5799311" y="4093004"/>
            <a:ext cx="3370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Click the Submit Form button at the bottom of the page to run the query.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36BDDB-0325-4045-99DE-E8D0F96BF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58" y="1250988"/>
            <a:ext cx="5258195" cy="41999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9F961C-C6EE-4516-AD07-5EAFB19D9F20}"/>
              </a:ext>
            </a:extLst>
          </p:cNvPr>
          <p:cNvCxnSpPr>
            <a:cxnSpLocks/>
          </p:cNvCxnSpPr>
          <p:nvPr/>
        </p:nvCxnSpPr>
        <p:spPr>
          <a:xfrm flipH="1">
            <a:off x="1438103" y="5187142"/>
            <a:ext cx="456368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66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54000" y="458572"/>
            <a:ext cx="8089900" cy="1654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Query Summary</a:t>
            </a:r>
          </a:p>
          <a:p>
            <a:endParaRPr lang="en-US" b="1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FE5FF-0E91-4F4A-AA70-E38AB7CC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3" y="1285619"/>
            <a:ext cx="5616538" cy="3600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9279E9-7B3C-4DC4-8D7D-B427A3639D81}"/>
              </a:ext>
            </a:extLst>
          </p:cNvPr>
          <p:cNvSpPr txBox="1"/>
          <p:nvPr/>
        </p:nvSpPr>
        <p:spPr>
          <a:xfrm>
            <a:off x="254000" y="5047292"/>
            <a:ext cx="808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Click the Output Files link to access the results of your query.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F2526A-C428-4536-BCD6-E8C778E0A0FC}"/>
              </a:ext>
            </a:extLst>
          </p:cNvPr>
          <p:cNvCxnSpPr>
            <a:cxnSpLocks/>
          </p:cNvCxnSpPr>
          <p:nvPr/>
        </p:nvCxnSpPr>
        <p:spPr>
          <a:xfrm flipV="1">
            <a:off x="3351422" y="4677907"/>
            <a:ext cx="0" cy="41682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A15A8D-5FE6-4563-A283-20E07F5AF8D5}"/>
              </a:ext>
            </a:extLst>
          </p:cNvPr>
          <p:cNvSpPr txBox="1"/>
          <p:nvPr/>
        </p:nvSpPr>
        <p:spPr>
          <a:xfrm>
            <a:off x="6265718" y="153592"/>
            <a:ext cx="28202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summary page opens in a new tab, indicating the status of your query, and containing the link to your results.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00B050"/>
                </a:solidFill>
              </a:rPr>
              <a:t>Success</a:t>
            </a:r>
            <a:r>
              <a:rPr lang="en-US" sz="2400" dirty="0"/>
              <a:t>” means your data is ready. </a:t>
            </a:r>
          </a:p>
        </p:txBody>
      </p:sp>
    </p:spTree>
    <p:extLst>
      <p:ext uri="{BB962C8B-B14F-4D97-AF65-F5344CB8AC3E}">
        <p14:creationId xmlns:p14="http://schemas.microsoft.com/office/powerpoint/2010/main" val="307624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" y="458572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54000" y="458572"/>
            <a:ext cx="8089900" cy="1654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Query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08A321-C470-40AE-BE00-E7D7D03EE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450" y="257694"/>
            <a:ext cx="3431450" cy="55778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540C55-73F9-4928-8012-9F3A45A95320}"/>
              </a:ext>
            </a:extLst>
          </p:cNvPr>
          <p:cNvSpPr txBox="1"/>
          <p:nvPr/>
        </p:nvSpPr>
        <p:spPr>
          <a:xfrm>
            <a:off x="598516" y="1446415"/>
            <a:ext cx="39734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Calibri"/>
              </a:rPr>
              <a:t>The monthly stock prices for IBM, Amazon, and Walmart for 2020 are displayed.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816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67127" y="305215"/>
            <a:ext cx="8089900" cy="1654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cs typeface="Calibri"/>
              </a:rPr>
              <a:t>Note: Pop-Up Blocker Installed?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23BA46-C6D7-4CC7-8820-E513CA275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0" y="1434353"/>
            <a:ext cx="4932452" cy="4568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614FB8-DC77-4D76-9C29-98E9CCC484BA}"/>
              </a:ext>
            </a:extLst>
          </p:cNvPr>
          <p:cNvSpPr txBox="1"/>
          <p:nvPr/>
        </p:nvSpPr>
        <p:spPr>
          <a:xfrm>
            <a:off x="5590309" y="1187631"/>
            <a:ext cx="34125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you have a pop-up blocker on your browser, the query page will show a banner indicating the query was submitted.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Click the query number to proceed to the Summary screen, then click the link to access your results.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57D9BB-741B-480F-940E-5148CBB6211C}"/>
              </a:ext>
            </a:extLst>
          </p:cNvPr>
          <p:cNvCxnSpPr>
            <a:cxnSpLocks/>
          </p:cNvCxnSpPr>
          <p:nvPr/>
        </p:nvCxnSpPr>
        <p:spPr>
          <a:xfrm flipH="1" flipV="1">
            <a:off x="1402773" y="3331690"/>
            <a:ext cx="4509655" cy="10363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433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" y="486536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70" y="472888"/>
            <a:ext cx="7721600" cy="71063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alibri"/>
                <a:cs typeface="Calibri"/>
              </a:rPr>
              <a:t>Additional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370" y="1545663"/>
            <a:ext cx="6858000" cy="2134775"/>
          </a:xfrm>
        </p:spPr>
        <p:txBody>
          <a:bodyPr>
            <a:noAutofit/>
          </a:bodyPr>
          <a:lstStyle/>
          <a:p>
            <a:pPr algn="l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 algn="l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Calibri"/>
                <a:cs typeface="Calibri"/>
              </a:rPr>
              <a:t>For any questions, please contact:</a:t>
            </a:r>
            <a:br>
              <a:rPr lang="en-US" sz="2000" b="1" i="0" u="none" strike="noStrike" dirty="0">
                <a:solidFill>
                  <a:srgbClr val="1D1C1D"/>
                </a:solidFill>
                <a:effectLst/>
                <a:latin typeface="Slack-Lato"/>
                <a:hlinkClick r:id="rId3"/>
              </a:rPr>
            </a:br>
            <a:br>
              <a:rPr lang="en-US" sz="2000" dirty="0"/>
            </a:br>
            <a:r>
              <a:rPr lang="en-US" sz="2000" b="0" i="0" u="none" strike="noStrike" dirty="0">
                <a:solidFill>
                  <a:srgbClr val="1D1C1D"/>
                </a:solidFill>
                <a:effectLst/>
                <a:latin typeface="Slack-Lato"/>
                <a:hlinkClick r:id="rId4"/>
              </a:rPr>
              <a:t>https://wrds-www.wharton.upenn.edu/contact-support/</a:t>
            </a:r>
            <a:endParaRPr lang="en-US" sz="2000" b="0" i="0" dirty="0">
              <a:solidFill>
                <a:srgbClr val="1D1C1D"/>
              </a:solidFill>
              <a:effectLst/>
              <a:latin typeface="Slack-Lato"/>
            </a:endParaRPr>
          </a:p>
          <a:p>
            <a:endParaRPr lang="en-US" sz="2800" dirty="0">
              <a:latin typeface="Calibri"/>
              <a:cs typeface="Calibri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9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11708</TotalTime>
  <Words>591</Words>
  <Application>Microsoft Office PowerPoint</Application>
  <PresentationFormat>On-screen Show (4:3)</PresentationFormat>
  <Paragraphs>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Slack-Lato</vt:lpstr>
      <vt:lpstr>Office Theme</vt:lpstr>
      <vt:lpstr>Getting Started </vt:lpstr>
      <vt:lpstr>Learning Objectives</vt:lpstr>
      <vt:lpstr>What is WRDS?</vt:lpstr>
      <vt:lpstr>Financial Data</vt:lpstr>
      <vt:lpstr>Other Types of Data</vt:lpstr>
      <vt:lpstr>Getting Started</vt:lpstr>
      <vt:lpstr>Assignment</vt:lpstr>
      <vt:lpstr>Link to WRDS</vt:lpstr>
      <vt:lpstr>Class Account Information</vt:lpstr>
      <vt:lpstr>WRDS Login Page</vt:lpstr>
      <vt:lpstr>PowerPoint Presentation</vt:lpstr>
      <vt:lpstr>CRSP Page</vt:lpstr>
      <vt:lpstr>CRSP Stock/Security Files Page</vt:lpstr>
      <vt:lpstr>CRSP Monthly Stock Data 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Help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Rao, Mukund</dc:creator>
  <cp:lastModifiedBy>Allen (he/him), Tim</cp:lastModifiedBy>
  <cp:revision>181</cp:revision>
  <dcterms:created xsi:type="dcterms:W3CDTF">2015-01-08T16:51:09Z</dcterms:created>
  <dcterms:modified xsi:type="dcterms:W3CDTF">2021-08-27T18:15:34Z</dcterms:modified>
</cp:coreProperties>
</file>