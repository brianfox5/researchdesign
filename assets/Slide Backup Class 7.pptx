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3"/>
    <p:restoredTop sz="94643"/>
  </p:normalViewPr>
  <p:slideViewPr>
    <p:cSldViewPr snapToGrid="0">
      <p:cViewPr>
        <p:scale>
          <a:sx n="120" d="100"/>
          <a:sy n="120" d="100"/>
        </p:scale>
        <p:origin x="552" y="-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7B68-FC63-9D44-AFEE-2E24786DAF94}" type="datetimeFigureOut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269F-1DD9-D045-B56B-BEDB9704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20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7B68-FC63-9D44-AFEE-2E24786DAF94}" type="datetimeFigureOut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269F-1DD9-D045-B56B-BEDB9704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1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7B68-FC63-9D44-AFEE-2E24786DAF94}" type="datetimeFigureOut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269F-1DD9-D045-B56B-BEDB9704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48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7B68-FC63-9D44-AFEE-2E24786DAF94}" type="datetimeFigureOut">
              <a:rPr lang="en-US" smtClean="0"/>
              <a:t>3/18/24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269F-1DD9-D045-B56B-BEDB9704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33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5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7B68-FC63-9D44-AFEE-2E24786DAF94}" type="datetimeFigureOut">
              <a:rPr lang="en-US" smtClean="0"/>
              <a:t>3/18/24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269F-1DD9-D045-B56B-BEDB9704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28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7B68-FC63-9D44-AFEE-2E24786DAF94}" type="datetimeFigureOut">
              <a:rPr lang="en-US" smtClean="0"/>
              <a:t>3/18/24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269F-1DD9-D045-B56B-BEDB9704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36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7B68-FC63-9D44-AFEE-2E24786DAF94}" type="datetimeFigureOut">
              <a:rPr lang="en-US" smtClean="0"/>
              <a:t>3/18/24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269F-1DD9-D045-B56B-BEDB9704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35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8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7B68-FC63-9D44-AFEE-2E24786DAF94}" type="datetimeFigureOut">
              <a:rPr lang="en-US" smtClean="0"/>
              <a:t>3/18/24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269F-1DD9-D045-B56B-BEDB9704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6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8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7B68-FC63-9D44-AFEE-2E24786DAF94}" type="datetimeFigureOut">
              <a:rPr lang="en-US" smtClean="0"/>
              <a:t>3/18/24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269F-1DD9-D045-B56B-BEDB9704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7B68-FC63-9D44-AFEE-2E24786DAF94}" type="datetimeFigureOut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269F-1DD9-D045-B56B-BEDB9704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5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3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3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7B68-FC63-9D44-AFEE-2E24786DAF94}" type="datetimeFigureOut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269F-1DD9-D045-B56B-BEDB9704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4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5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17B68-FC63-9D44-AFEE-2E24786DAF94}" type="datetimeFigureOut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6D269F-1DD9-D045-B56B-BEDB97042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1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865BFA-1597-21D5-0AEE-041E17C89E8B}"/>
              </a:ext>
            </a:extLst>
          </p:cNvPr>
          <p:cNvSpPr txBox="1"/>
          <p:nvPr/>
        </p:nvSpPr>
        <p:spPr>
          <a:xfrm>
            <a:off x="-25704" y="1670612"/>
            <a:ext cx="15546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accent6"/>
                </a:solidFill>
              </a:rPr>
              <a:t>Open  “real world”</a:t>
            </a:r>
          </a:p>
          <a:p>
            <a:pPr algn="ctr"/>
            <a:r>
              <a:rPr lang="en-US" sz="1350" dirty="0">
                <a:solidFill>
                  <a:schemeClr val="accent6"/>
                </a:solidFill>
              </a:rPr>
              <a:t> problems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88464-B11E-E482-47C4-124E132C62BE}"/>
              </a:ext>
            </a:extLst>
          </p:cNvPr>
          <p:cNvSpPr txBox="1"/>
          <p:nvPr/>
        </p:nvSpPr>
        <p:spPr>
          <a:xfrm>
            <a:off x="4164531" y="2562682"/>
            <a:ext cx="136672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accent6"/>
                </a:solidFill>
              </a:rPr>
              <a:t>Extant literature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4D12FE-750B-506A-6BC9-990ACEF7BFA8}"/>
              </a:ext>
            </a:extLst>
          </p:cNvPr>
          <p:cNvSpPr txBox="1"/>
          <p:nvPr/>
        </p:nvSpPr>
        <p:spPr>
          <a:xfrm>
            <a:off x="1575312" y="1753730"/>
            <a:ext cx="169668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accent6"/>
                </a:solidFill>
              </a:rPr>
              <a:t>Personal experience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3B73E-9956-76BD-E55B-8793C23CB3D0}"/>
              </a:ext>
            </a:extLst>
          </p:cNvPr>
          <p:cNvSpPr txBox="1"/>
          <p:nvPr/>
        </p:nvSpPr>
        <p:spPr>
          <a:xfrm>
            <a:off x="1713620" y="2562682"/>
            <a:ext cx="142128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accent6"/>
                </a:solidFill>
              </a:rPr>
              <a:t>Your unique lens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6E51C1-BD05-FB76-105E-8EC7B86C3A70}"/>
              </a:ext>
            </a:extLst>
          </p:cNvPr>
          <p:cNvSpPr txBox="1"/>
          <p:nvPr/>
        </p:nvSpPr>
        <p:spPr>
          <a:xfrm>
            <a:off x="1631721" y="3700712"/>
            <a:ext cx="158229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Research question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5057DB-BB41-0671-6A23-FFF04B765CE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423654" y="2053812"/>
            <a:ext cx="610" cy="508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A22BC4-981A-4502-AF32-C4C8096A1507}"/>
              </a:ext>
            </a:extLst>
          </p:cNvPr>
          <p:cNvCxnSpPr>
            <a:cxnSpLocks/>
            <a:stCxn id="4" idx="2"/>
            <a:endCxn id="7" idx="1"/>
          </p:cNvCxnSpPr>
          <p:nvPr/>
        </p:nvCxnSpPr>
        <p:spPr>
          <a:xfrm>
            <a:off x="751625" y="2178443"/>
            <a:ext cx="961995" cy="534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8F5077-DEBC-22D2-D159-5D176A583A45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3134906" y="2712723"/>
            <a:ext cx="10296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8B8B2FF-399E-517F-55C1-6CD6AD4D699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2422867" y="2862764"/>
            <a:ext cx="1396" cy="837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9044036-1254-F58A-D818-8D68D2499DE8}"/>
              </a:ext>
            </a:extLst>
          </p:cNvPr>
          <p:cNvCxnSpPr>
            <a:cxnSpLocks/>
            <a:stCxn id="5" idx="2"/>
            <a:endCxn id="77" idx="0"/>
          </p:cNvCxnSpPr>
          <p:nvPr/>
        </p:nvCxnSpPr>
        <p:spPr>
          <a:xfrm flipH="1">
            <a:off x="4847721" y="2862764"/>
            <a:ext cx="171" cy="728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AD5E714-439F-6D9A-D838-2B58BC1C067C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422867" y="4000795"/>
            <a:ext cx="1785064" cy="759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6DA16A4-46F6-055E-A537-7D6E14C1F2E6}"/>
              </a:ext>
            </a:extLst>
          </p:cNvPr>
          <p:cNvSpPr txBox="1"/>
          <p:nvPr/>
        </p:nvSpPr>
        <p:spPr>
          <a:xfrm>
            <a:off x="4207932" y="4610146"/>
            <a:ext cx="128592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Model building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6A8DA5B-3546-2C65-5D95-07F0B5A424A8}"/>
              </a:ext>
            </a:extLst>
          </p:cNvPr>
          <p:cNvCxnSpPr>
            <a:cxnSpLocks/>
            <a:stCxn id="50" idx="3"/>
            <a:endCxn id="108" idx="1"/>
          </p:cNvCxnSpPr>
          <p:nvPr/>
        </p:nvCxnSpPr>
        <p:spPr>
          <a:xfrm>
            <a:off x="5493860" y="4760187"/>
            <a:ext cx="213465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800BA92-B674-7607-2016-748C36080090}"/>
              </a:ext>
            </a:extLst>
          </p:cNvPr>
          <p:cNvCxnSpPr>
            <a:cxnSpLocks/>
            <a:stCxn id="8" idx="3"/>
            <a:endCxn id="77" idx="1"/>
          </p:cNvCxnSpPr>
          <p:nvPr/>
        </p:nvCxnSpPr>
        <p:spPr>
          <a:xfrm flipV="1">
            <a:off x="3214014" y="3845460"/>
            <a:ext cx="918094" cy="5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9864832-17F4-06B9-009C-CA3B3664FA6D}"/>
              </a:ext>
            </a:extLst>
          </p:cNvPr>
          <p:cNvSpPr txBox="1"/>
          <p:nvPr/>
        </p:nvSpPr>
        <p:spPr>
          <a:xfrm>
            <a:off x="4132108" y="3591544"/>
            <a:ext cx="14312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Identify theories </a:t>
            </a:r>
          </a:p>
          <a:p>
            <a:r>
              <a:rPr lang="en-US" sz="1350" dirty="0"/>
              <a:t>and constructs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51084EC-2266-238A-F018-9CF8F0BB5073}"/>
              </a:ext>
            </a:extLst>
          </p:cNvPr>
          <p:cNvCxnSpPr>
            <a:cxnSpLocks/>
            <a:stCxn id="77" idx="2"/>
            <a:endCxn id="50" idx="0"/>
          </p:cNvCxnSpPr>
          <p:nvPr/>
        </p:nvCxnSpPr>
        <p:spPr>
          <a:xfrm>
            <a:off x="4847721" y="4099375"/>
            <a:ext cx="3176" cy="510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FD23C55-FA40-3743-C4CE-DB244E911ED8}"/>
              </a:ext>
            </a:extLst>
          </p:cNvPr>
          <p:cNvCxnSpPr>
            <a:cxnSpLocks/>
            <a:stCxn id="77" idx="3"/>
            <a:endCxn id="90" idx="1"/>
          </p:cNvCxnSpPr>
          <p:nvPr/>
        </p:nvCxnSpPr>
        <p:spPr>
          <a:xfrm>
            <a:off x="5563334" y="3845460"/>
            <a:ext cx="21741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C505399-A70B-D149-AED1-099D244D9266}"/>
              </a:ext>
            </a:extLst>
          </p:cNvPr>
          <p:cNvSpPr txBox="1"/>
          <p:nvPr/>
        </p:nvSpPr>
        <p:spPr>
          <a:xfrm>
            <a:off x="7737466" y="3695419"/>
            <a:ext cx="12262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Review article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00AED78-2A0E-EB37-D0F3-C60A8C8E6B71}"/>
              </a:ext>
            </a:extLst>
          </p:cNvPr>
          <p:cNvSpPr txBox="1"/>
          <p:nvPr/>
        </p:nvSpPr>
        <p:spPr>
          <a:xfrm>
            <a:off x="-9514" y="4471649"/>
            <a:ext cx="153824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“Stylized facts” of </a:t>
            </a:r>
          </a:p>
          <a:p>
            <a:pPr algn="ctr"/>
            <a:r>
              <a:rPr lang="en-US" sz="1350" dirty="0"/>
              <a:t>phenomenon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2435E44-AC42-FC0D-BF01-999B676B0F02}"/>
              </a:ext>
            </a:extLst>
          </p:cNvPr>
          <p:cNvCxnSpPr>
            <a:cxnSpLocks/>
            <a:stCxn id="4" idx="2"/>
            <a:endCxn id="94" idx="0"/>
          </p:cNvCxnSpPr>
          <p:nvPr/>
        </p:nvCxnSpPr>
        <p:spPr>
          <a:xfrm>
            <a:off x="751625" y="2178443"/>
            <a:ext cx="7983" cy="2293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D0F5A40-E1D9-6FEC-FF0B-067DCC50537E}"/>
              </a:ext>
            </a:extLst>
          </p:cNvPr>
          <p:cNvCxnSpPr>
            <a:cxnSpLocks/>
            <a:stCxn id="94" idx="3"/>
            <a:endCxn id="50" idx="1"/>
          </p:cNvCxnSpPr>
          <p:nvPr/>
        </p:nvCxnSpPr>
        <p:spPr>
          <a:xfrm>
            <a:off x="1528729" y="4725565"/>
            <a:ext cx="2679202" cy="34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F62B38C6-9B8E-2B20-BCDA-61CB5A607804}"/>
              </a:ext>
            </a:extLst>
          </p:cNvPr>
          <p:cNvSpPr txBox="1"/>
          <p:nvPr/>
        </p:nvSpPr>
        <p:spPr>
          <a:xfrm>
            <a:off x="7628516" y="4610146"/>
            <a:ext cx="14428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Qualitative study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E36AE33-DA49-FCD2-6F24-81E4A377CCF3}"/>
              </a:ext>
            </a:extLst>
          </p:cNvPr>
          <p:cNvSpPr txBox="1"/>
          <p:nvPr/>
        </p:nvSpPr>
        <p:spPr>
          <a:xfrm>
            <a:off x="6553466" y="4204907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Insufficient understanding of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basic constructs / context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EAE979C-A7CB-1B20-81A5-A33F9DA8EF25}"/>
              </a:ext>
            </a:extLst>
          </p:cNvPr>
          <p:cNvSpPr txBox="1"/>
          <p:nvPr/>
        </p:nvSpPr>
        <p:spPr>
          <a:xfrm>
            <a:off x="179380" y="1354931"/>
            <a:ext cx="1117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6"/>
                </a:solidFill>
              </a:rPr>
              <a:t>Hambrick’s (2007) </a:t>
            </a:r>
          </a:p>
          <a:p>
            <a:pPr algn="ctr"/>
            <a:r>
              <a:rPr lang="en-US" sz="900" dirty="0">
                <a:solidFill>
                  <a:schemeClr val="accent6"/>
                </a:solidFill>
              </a:rPr>
              <a:t>exhortation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D44A4CC-EED9-F5D5-DC3A-C40C0F659039}"/>
              </a:ext>
            </a:extLst>
          </p:cNvPr>
          <p:cNvSpPr txBox="1"/>
          <p:nvPr/>
        </p:nvSpPr>
        <p:spPr>
          <a:xfrm>
            <a:off x="5960842" y="3603751"/>
            <a:ext cx="15087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Lack of clarity / consensus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D42A86D-FABC-7535-8757-631B52A60A5A}"/>
              </a:ext>
            </a:extLst>
          </p:cNvPr>
          <p:cNvCxnSpPr>
            <a:cxnSpLocks/>
            <a:stCxn id="90" idx="2"/>
            <a:endCxn id="108" idx="0"/>
          </p:cNvCxnSpPr>
          <p:nvPr/>
        </p:nvCxnSpPr>
        <p:spPr>
          <a:xfrm flipH="1">
            <a:off x="8349964" y="3995502"/>
            <a:ext cx="618" cy="6146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600E5B2-79A5-378C-396F-990F88587E89}"/>
              </a:ext>
            </a:extLst>
          </p:cNvPr>
          <p:cNvCxnSpPr>
            <a:cxnSpLocks/>
            <a:stCxn id="50" idx="2"/>
            <a:endCxn id="128" idx="0"/>
          </p:cNvCxnSpPr>
          <p:nvPr/>
        </p:nvCxnSpPr>
        <p:spPr>
          <a:xfrm flipH="1">
            <a:off x="3907912" y="4910228"/>
            <a:ext cx="942985" cy="619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84FD6A4F-7F2D-454D-D0A6-462DBC999D52}"/>
              </a:ext>
            </a:extLst>
          </p:cNvPr>
          <p:cNvSpPr txBox="1"/>
          <p:nvPr/>
        </p:nvSpPr>
        <p:spPr>
          <a:xfrm>
            <a:off x="3059763" y="5530166"/>
            <a:ext cx="169629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Construct / variable </a:t>
            </a:r>
          </a:p>
          <a:p>
            <a:pPr algn="ctr"/>
            <a:r>
              <a:rPr lang="en-US" sz="1350" dirty="0"/>
              <a:t>alignment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610DF8E1-F6F7-48F3-10D7-3BFFA6B05CE6}"/>
              </a:ext>
            </a:extLst>
          </p:cNvPr>
          <p:cNvCxnSpPr>
            <a:cxnSpLocks/>
            <a:stCxn id="50" idx="2"/>
            <a:endCxn id="133" idx="0"/>
          </p:cNvCxnSpPr>
          <p:nvPr/>
        </p:nvCxnSpPr>
        <p:spPr>
          <a:xfrm>
            <a:off x="4850896" y="4910229"/>
            <a:ext cx="1268066" cy="609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FF36B802-4D5D-BC5A-EA54-C6DE12A4628C}"/>
              </a:ext>
            </a:extLst>
          </p:cNvPr>
          <p:cNvSpPr txBox="1"/>
          <p:nvPr/>
        </p:nvSpPr>
        <p:spPr>
          <a:xfrm>
            <a:off x="5180244" y="5519581"/>
            <a:ext cx="187743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Model and hypotheses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E958C69-6B51-5639-7504-247E4587BA24}"/>
              </a:ext>
            </a:extLst>
          </p:cNvPr>
          <p:cNvCxnSpPr>
            <a:cxnSpLocks/>
            <a:stCxn id="128" idx="2"/>
            <a:endCxn id="153" idx="0"/>
          </p:cNvCxnSpPr>
          <p:nvPr/>
        </p:nvCxnSpPr>
        <p:spPr>
          <a:xfrm>
            <a:off x="3907912" y="6037997"/>
            <a:ext cx="0" cy="282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05214490-948C-00CF-A4C0-45897655B944}"/>
              </a:ext>
            </a:extLst>
          </p:cNvPr>
          <p:cNvCxnSpPr>
            <a:cxnSpLocks/>
            <a:stCxn id="133" idx="2"/>
            <a:endCxn id="142" idx="0"/>
          </p:cNvCxnSpPr>
          <p:nvPr/>
        </p:nvCxnSpPr>
        <p:spPr>
          <a:xfrm>
            <a:off x="6118963" y="5819663"/>
            <a:ext cx="1018" cy="1301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E37ED317-38BA-065C-2A34-5CFD5232F97D}"/>
              </a:ext>
            </a:extLst>
          </p:cNvPr>
          <p:cNvSpPr txBox="1"/>
          <p:nvPr/>
        </p:nvSpPr>
        <p:spPr>
          <a:xfrm>
            <a:off x="4992909" y="7120725"/>
            <a:ext cx="225414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Model testing and inference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55D9D856-DED3-4000-958E-75B24527C527}"/>
              </a:ext>
            </a:extLst>
          </p:cNvPr>
          <p:cNvCxnSpPr>
            <a:cxnSpLocks/>
            <a:stCxn id="133" idx="3"/>
            <a:endCxn id="108" idx="2"/>
          </p:cNvCxnSpPr>
          <p:nvPr/>
        </p:nvCxnSpPr>
        <p:spPr>
          <a:xfrm flipV="1">
            <a:off x="7057680" y="4910228"/>
            <a:ext cx="1292284" cy="7593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90BE1DF0-10EE-6EF6-0762-0F6D984F920C}"/>
              </a:ext>
            </a:extLst>
          </p:cNvPr>
          <p:cNvSpPr txBox="1"/>
          <p:nvPr/>
        </p:nvSpPr>
        <p:spPr>
          <a:xfrm>
            <a:off x="7239805" y="5519581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Insufficient understanding of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mechanisms / boundaries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D637A2B-05E4-0D72-9927-4BBD1E3F2C4D}"/>
              </a:ext>
            </a:extLst>
          </p:cNvPr>
          <p:cNvSpPr txBox="1"/>
          <p:nvPr/>
        </p:nvSpPr>
        <p:spPr>
          <a:xfrm>
            <a:off x="3107949" y="6320267"/>
            <a:ext cx="159992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Data identification </a:t>
            </a:r>
          </a:p>
          <a:p>
            <a:pPr algn="ctr"/>
            <a:r>
              <a:rPr lang="en-US" sz="1350" dirty="0"/>
              <a:t>and collection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551EF6BB-DE74-F998-C64C-0811221102BC}"/>
              </a:ext>
            </a:extLst>
          </p:cNvPr>
          <p:cNvCxnSpPr>
            <a:cxnSpLocks/>
            <a:stCxn id="153" idx="2"/>
            <a:endCxn id="164" idx="0"/>
          </p:cNvCxnSpPr>
          <p:nvPr/>
        </p:nvCxnSpPr>
        <p:spPr>
          <a:xfrm flipH="1">
            <a:off x="3906860" y="6828098"/>
            <a:ext cx="1052" cy="298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8391E050-3EAC-085D-7055-CCA748C44B8C}"/>
              </a:ext>
            </a:extLst>
          </p:cNvPr>
          <p:cNvSpPr txBox="1"/>
          <p:nvPr/>
        </p:nvSpPr>
        <p:spPr>
          <a:xfrm>
            <a:off x="5686190" y="4946137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Manuscript </a:t>
            </a:r>
          </a:p>
          <a:p>
            <a:pPr algn="ctr"/>
            <a:r>
              <a:rPr lang="en-US" sz="900" dirty="0"/>
              <a:t>“front end”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2C8D5C0-DE46-4FBF-AFA4-08929D92A320}"/>
              </a:ext>
            </a:extLst>
          </p:cNvPr>
          <p:cNvSpPr txBox="1"/>
          <p:nvPr/>
        </p:nvSpPr>
        <p:spPr>
          <a:xfrm>
            <a:off x="3496581" y="4999750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Methods </a:t>
            </a:r>
          </a:p>
          <a:p>
            <a:pPr algn="ctr"/>
            <a:r>
              <a:rPr lang="en-US" sz="900" dirty="0"/>
              <a:t>section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419EC65-C830-22A8-19A7-EB7BC0848F2B}"/>
              </a:ext>
            </a:extLst>
          </p:cNvPr>
          <p:cNvSpPr txBox="1"/>
          <p:nvPr/>
        </p:nvSpPr>
        <p:spPr>
          <a:xfrm>
            <a:off x="3183713" y="7126559"/>
            <a:ext cx="144629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Variable creation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BAC5E340-45E2-D3E5-C207-C6A135C598A6}"/>
              </a:ext>
            </a:extLst>
          </p:cNvPr>
          <p:cNvCxnSpPr>
            <a:cxnSpLocks/>
            <a:stCxn id="164" idx="3"/>
            <a:endCxn id="142" idx="1"/>
          </p:cNvCxnSpPr>
          <p:nvPr/>
        </p:nvCxnSpPr>
        <p:spPr>
          <a:xfrm flipV="1">
            <a:off x="4630006" y="7270766"/>
            <a:ext cx="362903" cy="5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EBB50F34-A432-0C50-DB67-B2D2703A39F1}"/>
              </a:ext>
            </a:extLst>
          </p:cNvPr>
          <p:cNvSpPr txBox="1"/>
          <p:nvPr/>
        </p:nvSpPr>
        <p:spPr>
          <a:xfrm>
            <a:off x="6243795" y="6792662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Results </a:t>
            </a:r>
          </a:p>
          <a:p>
            <a:pPr algn="ctr"/>
            <a:r>
              <a:rPr lang="en-US" sz="900" dirty="0"/>
              <a:t>section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6D23AEC-9614-0D3B-AEA6-BC2B6D3ACC91}"/>
              </a:ext>
            </a:extLst>
          </p:cNvPr>
          <p:cNvSpPr txBox="1"/>
          <p:nvPr/>
        </p:nvSpPr>
        <p:spPr>
          <a:xfrm>
            <a:off x="5266933" y="7839808"/>
            <a:ext cx="17040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Complete empirical </a:t>
            </a:r>
          </a:p>
          <a:p>
            <a:pPr algn="ctr"/>
            <a:r>
              <a:rPr lang="en-US" sz="1350" dirty="0"/>
              <a:t>/ quantitative study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8AA3F1A-5B74-FD04-6ECF-32982A650EA3}"/>
              </a:ext>
            </a:extLst>
          </p:cNvPr>
          <p:cNvCxnSpPr>
            <a:cxnSpLocks/>
            <a:stCxn id="142" idx="2"/>
            <a:endCxn id="171" idx="0"/>
          </p:cNvCxnSpPr>
          <p:nvPr/>
        </p:nvCxnSpPr>
        <p:spPr>
          <a:xfrm flipH="1">
            <a:off x="6118962" y="7420807"/>
            <a:ext cx="1019" cy="419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6459407-563F-4AC2-06C4-4AF4C8D726B0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7057681" y="5669623"/>
            <a:ext cx="862255" cy="6506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17153DDB-91BA-F180-8972-2A4930E75A6D}"/>
              </a:ext>
            </a:extLst>
          </p:cNvPr>
          <p:cNvSpPr txBox="1"/>
          <p:nvPr/>
        </p:nvSpPr>
        <p:spPr>
          <a:xfrm>
            <a:off x="7465241" y="6339542"/>
            <a:ext cx="167327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rgbClr val="FF0000"/>
                </a:solidFill>
              </a:rPr>
              <a:t>Theory / conceptual</a:t>
            </a:r>
          </a:p>
          <a:p>
            <a:pPr algn="ctr"/>
            <a:r>
              <a:rPr lang="en-US" sz="1350" dirty="0">
                <a:solidFill>
                  <a:srgbClr val="FF0000"/>
                </a:solidFill>
              </a:rPr>
              <a:t>paper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0763B28-23F2-549B-5B23-FFD32B8EB851}"/>
              </a:ext>
            </a:extLst>
          </p:cNvPr>
          <p:cNvSpPr txBox="1"/>
          <p:nvPr/>
        </p:nvSpPr>
        <p:spPr>
          <a:xfrm>
            <a:off x="1592367" y="3494617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Class 1-3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333DD1B-F21A-5221-D207-0D228BD41932}"/>
              </a:ext>
            </a:extLst>
          </p:cNvPr>
          <p:cNvSpPr txBox="1"/>
          <p:nvPr/>
        </p:nvSpPr>
        <p:spPr>
          <a:xfrm>
            <a:off x="4838769" y="2960695"/>
            <a:ext cx="1643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Class 4 + 6</a:t>
            </a:r>
          </a:p>
          <a:p>
            <a:r>
              <a:rPr lang="en-US" sz="1200" dirty="0">
                <a:solidFill>
                  <a:srgbClr val="0070C0"/>
                </a:solidFill>
              </a:rPr>
              <a:t>Theories + Constructs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BA707E5-4521-A5CF-73C4-FA10B65FCC28}"/>
              </a:ext>
            </a:extLst>
          </p:cNvPr>
          <p:cNvSpPr txBox="1"/>
          <p:nvPr/>
        </p:nvSpPr>
        <p:spPr>
          <a:xfrm>
            <a:off x="1478832" y="4500271"/>
            <a:ext cx="1752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Class 4 + 6</a:t>
            </a:r>
          </a:p>
          <a:p>
            <a:r>
              <a:rPr lang="en-US" sz="1200" dirty="0">
                <a:solidFill>
                  <a:srgbClr val="0070C0"/>
                </a:solidFill>
              </a:rPr>
              <a:t>Phenomena + Variables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6AD0A89-D8A2-0607-A398-56E16BABA0E0}"/>
              </a:ext>
            </a:extLst>
          </p:cNvPr>
          <p:cNvSpPr txBox="1"/>
          <p:nvPr/>
        </p:nvSpPr>
        <p:spPr>
          <a:xfrm>
            <a:off x="6232016" y="5323784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Class 5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575F12A-D7EB-F7C3-407F-12411D0AC146}"/>
              </a:ext>
            </a:extLst>
          </p:cNvPr>
          <p:cNvSpPr txBox="1"/>
          <p:nvPr/>
        </p:nvSpPr>
        <p:spPr>
          <a:xfrm>
            <a:off x="3088622" y="5323783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Class 6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2F9914C-98FE-F78F-54EB-03D920125252}"/>
              </a:ext>
            </a:extLst>
          </p:cNvPr>
          <p:cNvSpPr txBox="1"/>
          <p:nvPr/>
        </p:nvSpPr>
        <p:spPr>
          <a:xfrm>
            <a:off x="3142959" y="6914590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Class 7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8A5CCF7-725E-53A2-AB50-2B6C7D327F25}"/>
              </a:ext>
            </a:extLst>
          </p:cNvPr>
          <p:cNvSpPr txBox="1"/>
          <p:nvPr/>
        </p:nvSpPr>
        <p:spPr>
          <a:xfrm>
            <a:off x="179380" y="6443416"/>
            <a:ext cx="14371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accent6"/>
                </a:solidFill>
              </a:rPr>
              <a:t>Empirical setting</a:t>
            </a:r>
          </a:p>
        </p:txBody>
      </p: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65A11508-875C-4C10-3A03-3666A90D44A9}"/>
              </a:ext>
            </a:extLst>
          </p:cNvPr>
          <p:cNvCxnSpPr>
            <a:cxnSpLocks/>
            <a:stCxn id="215" idx="3"/>
            <a:endCxn id="153" idx="1"/>
          </p:cNvCxnSpPr>
          <p:nvPr/>
        </p:nvCxnSpPr>
        <p:spPr>
          <a:xfrm flipV="1">
            <a:off x="1616568" y="6574183"/>
            <a:ext cx="1491381" cy="19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719C155B-7F10-4525-A285-C111C9D0CCDC}"/>
              </a:ext>
            </a:extLst>
          </p:cNvPr>
          <p:cNvSpPr txBox="1"/>
          <p:nvPr/>
        </p:nvSpPr>
        <p:spPr>
          <a:xfrm>
            <a:off x="146490" y="5762336"/>
            <a:ext cx="12262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Review article</a:t>
            </a:r>
          </a:p>
        </p:txBody>
      </p: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47BFD9B8-9C0D-19EC-2EF3-E28693284566}"/>
              </a:ext>
            </a:extLst>
          </p:cNvPr>
          <p:cNvCxnSpPr>
            <a:cxnSpLocks/>
            <a:stCxn id="94" idx="2"/>
            <a:endCxn id="221" idx="0"/>
          </p:cNvCxnSpPr>
          <p:nvPr/>
        </p:nvCxnSpPr>
        <p:spPr>
          <a:xfrm flipH="1">
            <a:off x="759607" y="4979480"/>
            <a:ext cx="1" cy="7828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C64FDDB1-8A1F-95AC-57C7-FD914F6515DE}"/>
              </a:ext>
            </a:extLst>
          </p:cNvPr>
          <p:cNvSpPr txBox="1"/>
          <p:nvPr/>
        </p:nvSpPr>
        <p:spPr>
          <a:xfrm>
            <a:off x="790455" y="5389072"/>
            <a:ext cx="15087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Lack of clarity / consensus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C4DE3C0C-4606-EB1C-5413-DF3BBC8ADC1A}"/>
              </a:ext>
            </a:extLst>
          </p:cNvPr>
          <p:cNvSpPr txBox="1"/>
          <p:nvPr/>
        </p:nvSpPr>
        <p:spPr>
          <a:xfrm>
            <a:off x="6189268" y="7428507"/>
            <a:ext cx="88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Class 8-13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28447192-B534-641C-DA7A-881312D7F78F}"/>
              </a:ext>
            </a:extLst>
          </p:cNvPr>
          <p:cNvSpPr txBox="1"/>
          <p:nvPr/>
        </p:nvSpPr>
        <p:spPr>
          <a:xfrm>
            <a:off x="4870264" y="4374439"/>
            <a:ext cx="88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Class 8-13</a:t>
            </a:r>
          </a:p>
        </p:txBody>
      </p:sp>
    </p:spTree>
    <p:extLst>
      <p:ext uri="{BB962C8B-B14F-4D97-AF65-F5344CB8AC3E}">
        <p14:creationId xmlns:p14="http://schemas.microsoft.com/office/powerpoint/2010/main" val="223674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24B8CE93-1A7E-8189-856B-6A71DF93F303}"/>
              </a:ext>
            </a:extLst>
          </p:cNvPr>
          <p:cNvSpPr/>
          <p:nvPr/>
        </p:nvSpPr>
        <p:spPr>
          <a:xfrm>
            <a:off x="590799" y="2000251"/>
            <a:ext cx="7166842" cy="513848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r>
              <a:rPr lang="en-US" sz="1350" dirty="0">
                <a:solidFill>
                  <a:schemeClr val="accent6"/>
                </a:solidFill>
              </a:rPr>
              <a:t>Observable reality relevant to DV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745DEE-3091-2A32-B187-E5622CCA16DA}"/>
              </a:ext>
            </a:extLst>
          </p:cNvPr>
          <p:cNvSpPr/>
          <p:nvPr/>
        </p:nvSpPr>
        <p:spPr>
          <a:xfrm>
            <a:off x="850231" y="721894"/>
            <a:ext cx="6537078" cy="502282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endParaRPr lang="en-US" sz="1350" dirty="0">
              <a:solidFill>
                <a:schemeClr val="tx1"/>
              </a:solidFill>
            </a:endParaRPr>
          </a:p>
          <a:p>
            <a:r>
              <a:rPr lang="en-US" sz="1350" dirty="0">
                <a:solidFill>
                  <a:srgbClr val="FFC000"/>
                </a:solidFill>
              </a:rPr>
              <a:t>Causal system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6B1C07-ADD4-B517-217E-86EB90E60637}"/>
              </a:ext>
            </a:extLst>
          </p:cNvPr>
          <p:cNvSpPr/>
          <p:nvPr/>
        </p:nvSpPr>
        <p:spPr>
          <a:xfrm>
            <a:off x="1407133" y="2178558"/>
            <a:ext cx="5650992" cy="2006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50" dirty="0">
                <a:solidFill>
                  <a:schemeClr val="tx1"/>
                </a:solidFill>
              </a:rPr>
              <a:t>Model of Interest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561F94-1979-943E-522F-22187483348B}"/>
              </a:ext>
            </a:extLst>
          </p:cNvPr>
          <p:cNvSpPr/>
          <p:nvPr/>
        </p:nvSpPr>
        <p:spPr>
          <a:xfrm>
            <a:off x="1850618" y="2665476"/>
            <a:ext cx="1618488" cy="387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IV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75F9C2-2899-61FD-1A34-737A4F4FB7B4}"/>
              </a:ext>
            </a:extLst>
          </p:cNvPr>
          <p:cNvSpPr/>
          <p:nvPr/>
        </p:nvSpPr>
        <p:spPr>
          <a:xfrm>
            <a:off x="5156173" y="2665476"/>
            <a:ext cx="1618488" cy="387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DV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881F0C-01B5-3969-E591-1D884653AD6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469106" y="2859165"/>
            <a:ext cx="16870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BDC3C61-275D-0A4C-2F25-985D3A507AAD}"/>
              </a:ext>
            </a:extLst>
          </p:cNvPr>
          <p:cNvSpPr/>
          <p:nvPr/>
        </p:nvSpPr>
        <p:spPr>
          <a:xfrm>
            <a:off x="1850618" y="3687318"/>
            <a:ext cx="1618488" cy="387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IV 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612A5E-E3E6-1508-0F1F-1C1085143373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469106" y="3065526"/>
            <a:ext cx="1687068" cy="815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D41E13E-B910-81C2-7893-F1E1271F1117}"/>
              </a:ext>
            </a:extLst>
          </p:cNvPr>
          <p:cNvSpPr/>
          <p:nvPr/>
        </p:nvSpPr>
        <p:spPr>
          <a:xfrm>
            <a:off x="3032025" y="5019456"/>
            <a:ext cx="1618488" cy="443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Confounding Variable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780E5F-DD14-69A7-D266-F05A3AE1B253}"/>
              </a:ext>
            </a:extLst>
          </p:cNvPr>
          <p:cNvCxnSpPr>
            <a:cxnSpLocks/>
            <a:stCxn id="17" idx="0"/>
            <a:endCxn id="12" idx="2"/>
          </p:cNvCxnSpPr>
          <p:nvPr/>
        </p:nvCxnSpPr>
        <p:spPr>
          <a:xfrm flipH="1" flipV="1">
            <a:off x="2659862" y="4074695"/>
            <a:ext cx="1181407" cy="944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C3221D-5312-A585-EEB2-653E37EE5BA6}"/>
              </a:ext>
            </a:extLst>
          </p:cNvPr>
          <p:cNvCxnSpPr>
            <a:cxnSpLocks/>
            <a:stCxn id="17" idx="0"/>
            <a:endCxn id="5" idx="2"/>
          </p:cNvCxnSpPr>
          <p:nvPr/>
        </p:nvCxnSpPr>
        <p:spPr>
          <a:xfrm flipV="1">
            <a:off x="3841269" y="3052853"/>
            <a:ext cx="2124148" cy="1966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2D5EBA5-C84D-179A-7CA3-EB73AACB351E}"/>
              </a:ext>
            </a:extLst>
          </p:cNvPr>
          <p:cNvSpPr/>
          <p:nvPr/>
        </p:nvSpPr>
        <p:spPr>
          <a:xfrm>
            <a:off x="3841269" y="6256643"/>
            <a:ext cx="1761463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Orthogonal</a:t>
            </a:r>
          </a:p>
          <a:p>
            <a:pPr algn="ctr"/>
            <a:r>
              <a:rPr lang="en-US" sz="1350" dirty="0"/>
              <a:t>Explanatory Factor 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6D7728-1079-707B-F755-FF235C4F4FBE}"/>
              </a:ext>
            </a:extLst>
          </p:cNvPr>
          <p:cNvCxnSpPr>
            <a:cxnSpLocks/>
            <a:stCxn id="27" idx="0"/>
            <a:endCxn id="5" idx="2"/>
          </p:cNvCxnSpPr>
          <p:nvPr/>
        </p:nvCxnSpPr>
        <p:spPr>
          <a:xfrm flipV="1">
            <a:off x="4722001" y="3052853"/>
            <a:ext cx="1243416" cy="3203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9103176-3433-7042-F9F8-D68067460A3A}"/>
              </a:ext>
            </a:extLst>
          </p:cNvPr>
          <p:cNvCxnSpPr>
            <a:cxnSpLocks/>
            <a:stCxn id="36" idx="2"/>
            <a:endCxn id="5" idx="3"/>
          </p:cNvCxnSpPr>
          <p:nvPr/>
        </p:nvCxnSpPr>
        <p:spPr>
          <a:xfrm flipH="1">
            <a:off x="6774661" y="2859165"/>
            <a:ext cx="11041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465207DF-B6BF-3052-98F0-141B0C198B4D}"/>
              </a:ext>
            </a:extLst>
          </p:cNvPr>
          <p:cNvSpPr/>
          <p:nvPr/>
        </p:nvSpPr>
        <p:spPr>
          <a:xfrm>
            <a:off x="7878804" y="2477405"/>
            <a:ext cx="763520" cy="7635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error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CDDE744D-BF04-77BF-C865-D5B87622BE3E}"/>
              </a:ext>
            </a:extLst>
          </p:cNvPr>
          <p:cNvCxnSpPr>
            <a:cxnSpLocks/>
            <a:stCxn id="4" idx="1"/>
            <a:endCxn id="12" idx="1"/>
          </p:cNvCxnSpPr>
          <p:nvPr/>
        </p:nvCxnSpPr>
        <p:spPr>
          <a:xfrm rot="10800000" flipV="1">
            <a:off x="1850618" y="2859165"/>
            <a:ext cx="12700" cy="1021842"/>
          </a:xfrm>
          <a:prstGeom prst="bent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9AC09826-9F1A-861C-D345-B8862E00B36B}"/>
              </a:ext>
            </a:extLst>
          </p:cNvPr>
          <p:cNvSpPr/>
          <p:nvPr/>
        </p:nvSpPr>
        <p:spPr>
          <a:xfrm>
            <a:off x="3590062" y="914401"/>
            <a:ext cx="1888236" cy="800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Unobservable confounder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0812453-03F8-BAB3-4D33-1E55443F72F0}"/>
              </a:ext>
            </a:extLst>
          </p:cNvPr>
          <p:cNvCxnSpPr>
            <a:cxnSpLocks/>
            <a:stCxn id="50" idx="4"/>
            <a:endCxn id="4" idx="0"/>
          </p:cNvCxnSpPr>
          <p:nvPr/>
        </p:nvCxnSpPr>
        <p:spPr>
          <a:xfrm flipH="1">
            <a:off x="2659862" y="1714501"/>
            <a:ext cx="1874318" cy="950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228FC14-AB8D-534D-28C7-8F23531AC049}"/>
              </a:ext>
            </a:extLst>
          </p:cNvPr>
          <p:cNvCxnSpPr>
            <a:cxnSpLocks/>
            <a:stCxn id="50" idx="4"/>
            <a:endCxn id="5" idx="0"/>
          </p:cNvCxnSpPr>
          <p:nvPr/>
        </p:nvCxnSpPr>
        <p:spPr>
          <a:xfrm>
            <a:off x="4534180" y="1714501"/>
            <a:ext cx="1431237" cy="950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757C43B4-9004-D5A5-6981-B345116C2CC7}"/>
              </a:ext>
            </a:extLst>
          </p:cNvPr>
          <p:cNvSpPr/>
          <p:nvPr/>
        </p:nvSpPr>
        <p:spPr>
          <a:xfrm>
            <a:off x="5795632" y="6256643"/>
            <a:ext cx="1761463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Orthogonal</a:t>
            </a:r>
          </a:p>
          <a:p>
            <a:pPr algn="ctr"/>
            <a:r>
              <a:rPr lang="en-US" sz="1350" dirty="0"/>
              <a:t>Explanatory Factor 2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0681044-59B9-51C8-4BAC-7766075289FA}"/>
              </a:ext>
            </a:extLst>
          </p:cNvPr>
          <p:cNvCxnSpPr>
            <a:cxnSpLocks/>
            <a:stCxn id="74" idx="0"/>
            <a:endCxn id="5" idx="2"/>
          </p:cNvCxnSpPr>
          <p:nvPr/>
        </p:nvCxnSpPr>
        <p:spPr>
          <a:xfrm flipH="1" flipV="1">
            <a:off x="5965417" y="3052853"/>
            <a:ext cx="710947" cy="3203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18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1562</TotalTime>
  <Words>153</Words>
  <Application>Microsoft Macintosh PowerPoint</Application>
  <PresentationFormat>Custom</PresentationFormat>
  <Paragraphs>108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Fox, Brian</dc:creator>
  <cp:lastModifiedBy>Fox, Brian</cp:lastModifiedBy>
  <cp:revision>5</cp:revision>
  <dcterms:created xsi:type="dcterms:W3CDTF">2024-03-18T16:15:17Z</dcterms:created>
  <dcterms:modified xsi:type="dcterms:W3CDTF">2024-03-19T18:18:10Z</dcterms:modified>
</cp:coreProperties>
</file>